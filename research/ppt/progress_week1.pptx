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delivered the full real-data pipeline on top of the dummy scaffold built in Week 1. Three major pieces of work were completed.</a:t>
            </a:r>
          </a:p>
          <a:p/>
          <a:p>
            <a:r>
              <a:t>First, World Bank WDI data: we hit the World Bank API directly to pull all seven macro indicators (GDP growth, inflation, fiscal balance, current account, remittances, unemployment, government debt) for all 22 countries across 2005–2023. The existing CSV already covered most ECA countries; we appended USA, Japan, and Mongolia which were missing.</a:t>
            </a:r>
          </a:p>
          <a:p/>
          <a:p>
            <a:r>
              <a:t>Second, IMF Article IV text acquisition: rather than downloading thousands of PDFs, we reverse-engineered the IMF website's Coveo search API. This let us query per country — roughly 30–100 hits each — instead of paginating through 7,335 total results. For each matched report, a Playwright browser clicks the IMF download button, intercepts the PDF bytes in memory, PyMuPDF extracts pages 1–6, and only the cleaned text is saved. No PDFs are stored on disk — this keeps the repo lightweight.</a:t>
            </a:r>
          </a:p>
          <a:p/>
          <a:p>
            <a:r>
              <a:t>Third, coverage: we achieved 240 real Article IV texts across 22 countries, a 57% fill rate. The gaps are genuine — Turkmenistan never publishes its reports publicly, Belarus and Ukraine have politically suspended consultations in recent years, and many Central Asian countries are on IMF programs where Article IV is folded into biennial program reviews rather than annual standalone reports. The pipeline's missingness mask handles these gaps explicitly, so missing text years simply default to the numerical-only pathway.</a:t>
            </a:r>
          </a:p>
          <a:p/>
          <a:p>
            <a:r>
              <a:t>Models are already implemented and were tested end-to-end on dummy data in Week 1. Week 3 begins BERT encoding of the real texts and launches the full experiment matrix.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walks through the four-step IMM-TSF pipeline as applied to our macro forecasting problem. Each step maps directly to a module in the codebase.</a:t>
            </a:r>
          </a:p>
          <a:p/>
          <a:p>
            <a:r>
              <a:t>Step 1 — Pre-alignment: for each (country, query year) pair we extract a 10-year lookback window of WDI data, producing a (10 × 7) value matrix. Missing observations are flagged in a binary mask rather than imputed, and calendar years are normalised to [0, 1] so the model sees relative time, not raw years.</a:t>
            </a:r>
          </a:p>
          <a:p/>
          <a:p>
            <a:r>
              <a:t>Step 2 — Text encoding: each Article IV staff report summary is passed through frozen BERT-base-uncased to produce a 768-dimensional embedding. Embeddings are precomputed once and stored as .npy files so training never re-runs the language model. For country-years with no report, the embedding is a zero vector and the missingness mask signals its absence.</a:t>
            </a:r>
          </a:p>
          <a:p/>
          <a:p>
            <a:r>
              <a:t>Step 3 — RecAvg TTF: the Temporally-Tagged Fusion module applies a Gaussian kernel (σ = 1.0 year) to weight past embeddings by their distance from the query year. This naturally handles the 3–8 month IMF publication lag — a 2022 Article IV report published in mid-2023 contributes less weight to a 2023 forecast query than a report published on time would.</a:t>
            </a:r>
          </a:p>
          <a:p/>
          <a:p>
            <a:r>
              <a:t>Step 4 — GR-Add MMF: the Gated Residual Multimodal Fusion layer combines the GRU hidden state (numerical stream) with the projected text vector. A sigmoid gate decides how much of the text delta to add. If text is missing the gate collapses and the model falls back to a pure GRU prediction.</a:t>
            </a:r>
          </a:p>
          <a:p/>
          <a:p>
            <a:r>
              <a:t>Evaluation uses a strict chronological split: train on 2005–2019, validate on 2020–2021, test on 2022–2023. Primary metric is MSE on the held-out test years for GDP growth and inflation. Secondary analysis stratifies the MSE gain by text missingness severity to test whether gappier countries benefit more from the multimodal signal when text is available.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594360"/>
          </a:xfrm>
          <a:prstGeom prst="rect">
            <a:avLst/>
          </a:prstGeom>
          <a:noFill/>
        </p:spPr>
        <p:txBody>
          <a:bodyPr wrap="square">
            <a:spAutoFit/>
          </a:bodyPr>
          <a:lstStyle/>
          <a:p>
            <a:pPr algn="l"/>
            <a:r>
              <a:rPr sz="2800" b="1">
                <a:solidFill>
                  <a:srgbClr val="FFFFFF"/>
                </a:solidFill>
              </a:rPr>
              <a:t>Week 2 Progress: Real Data Pipeline Complete</a:t>
            </a:r>
          </a:p>
        </p:txBody>
      </p:sp>
      <p:sp>
        <p:nvSpPr>
          <p:cNvPr id="4" name="TextBox 3"/>
          <p:cNvSpPr txBox="1"/>
          <p:nvPr/>
        </p:nvSpPr>
        <p:spPr>
          <a:xfrm>
            <a:off x="365760" y="685800"/>
            <a:ext cx="11430000" cy="347472"/>
          </a:xfrm>
          <a:prstGeom prst="rect">
            <a:avLst/>
          </a:prstGeom>
          <a:noFill/>
        </p:spPr>
        <p:txBody>
          <a:bodyPr wrap="square">
            <a:spAutoFit/>
          </a:bodyPr>
          <a:lstStyle/>
          <a:p>
            <a:pPr algn="l"/>
            <a:r>
              <a:rPr sz="1400" b="0">
                <a:solidFill>
                  <a:srgbClr val="A0B8D8"/>
                </a:solidFill>
              </a:rPr>
              <a:t>Macro Forecasting with IMF Text  ·  STAT 8240  ·  April 2025</a:t>
            </a:r>
          </a:p>
        </p:txBody>
      </p:sp>
      <p:sp>
        <p:nvSpPr>
          <p:cNvPr id="5" name="Rectangle 4"/>
          <p:cNvSpPr/>
          <p:nvPr/>
        </p:nvSpPr>
        <p:spPr>
          <a:xfrm>
            <a:off x="320040" y="1280160"/>
            <a:ext cx="5303520"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3192" y="1307592"/>
            <a:ext cx="5212080" cy="256032"/>
          </a:xfrm>
          <a:prstGeom prst="rect">
            <a:avLst/>
          </a:prstGeom>
          <a:noFill/>
        </p:spPr>
        <p:txBody>
          <a:bodyPr wrap="square">
            <a:spAutoFit/>
          </a:bodyPr>
          <a:lstStyle/>
          <a:p>
            <a:pPr algn="l"/>
            <a:r>
              <a:rPr sz="1100" b="1">
                <a:solidFill>
                  <a:srgbClr val="FFFFFF"/>
                </a:solidFill>
              </a:rPr>
              <a:t>PIPELINE STEPS COMPLETED</a:t>
            </a:r>
          </a:p>
        </p:txBody>
      </p:sp>
      <p:sp>
        <p:nvSpPr>
          <p:cNvPr id="7" name="Rectangle 6"/>
          <p:cNvSpPr/>
          <p:nvPr/>
        </p:nvSpPr>
        <p:spPr>
          <a:xfrm>
            <a:off x="320040" y="1709928"/>
            <a:ext cx="73152" cy="7315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664208"/>
            <a:ext cx="5029200" cy="256032"/>
          </a:xfrm>
          <a:prstGeom prst="rect">
            <a:avLst/>
          </a:prstGeom>
          <a:noFill/>
        </p:spPr>
        <p:txBody>
          <a:bodyPr wrap="square">
            <a:spAutoFit/>
          </a:bodyPr>
          <a:lstStyle/>
          <a:p>
            <a:pPr algn="l"/>
            <a:r>
              <a:rPr sz="1200" b="1">
                <a:solidFill>
                  <a:srgbClr val="1B2A4A"/>
                </a:solidFill>
              </a:rPr>
              <a:t>PDF Extraction</a:t>
            </a:r>
          </a:p>
        </p:txBody>
      </p:sp>
      <p:sp>
        <p:nvSpPr>
          <p:cNvPr id="9" name="TextBox 8"/>
          <p:cNvSpPr txBox="1"/>
          <p:nvPr/>
        </p:nvSpPr>
        <p:spPr>
          <a:xfrm>
            <a:off x="457200" y="1911096"/>
            <a:ext cx="5029200" cy="594360"/>
          </a:xfrm>
          <a:prstGeom prst="rect">
            <a:avLst/>
          </a:prstGeom>
          <a:noFill/>
        </p:spPr>
        <p:txBody>
          <a:bodyPr wrap="square">
            <a:spAutoFit/>
          </a:bodyPr>
          <a:lstStyle/>
          <a:p>
            <a:pPr algn="l"/>
            <a:r>
              <a:rPr sz="1100" b="0">
                <a:solidFill>
                  <a:srgbClr val="333333"/>
                </a:solidFill>
              </a:rPr>
              <a:t>PyMuPDF extracts pages 1–6 (Executive Summary + Staff Appraisal) directly from in-memory PDF bytes — no files written to disk. Coveo API used to locate reports per country; Playwright browser automates the IMF download button.</a:t>
            </a:r>
          </a:p>
        </p:txBody>
      </p:sp>
      <p:sp>
        <p:nvSpPr>
          <p:cNvPr id="10" name="Rectangle 9"/>
          <p:cNvSpPr/>
          <p:nvPr/>
        </p:nvSpPr>
        <p:spPr>
          <a:xfrm>
            <a:off x="320040" y="2642616"/>
            <a:ext cx="73152" cy="7315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596896"/>
            <a:ext cx="5029200" cy="256032"/>
          </a:xfrm>
          <a:prstGeom prst="rect">
            <a:avLst/>
          </a:prstGeom>
          <a:noFill/>
        </p:spPr>
        <p:txBody>
          <a:bodyPr wrap="square">
            <a:spAutoFit/>
          </a:bodyPr>
          <a:lstStyle/>
          <a:p>
            <a:pPr algn="l"/>
            <a:r>
              <a:rPr sz="1200" b="1">
                <a:solidFill>
                  <a:srgbClr val="1B2A4A"/>
                </a:solidFill>
              </a:rPr>
              <a:t>Real Data Acquisition</a:t>
            </a:r>
          </a:p>
        </p:txBody>
      </p:sp>
      <p:sp>
        <p:nvSpPr>
          <p:cNvPr id="12" name="TextBox 11"/>
          <p:cNvSpPr txBox="1"/>
          <p:nvPr/>
        </p:nvSpPr>
        <p:spPr>
          <a:xfrm>
            <a:off x="457200" y="2843784"/>
            <a:ext cx="5029200" cy="594360"/>
          </a:xfrm>
          <a:prstGeom prst="rect">
            <a:avLst/>
          </a:prstGeom>
          <a:noFill/>
        </p:spPr>
        <p:txBody>
          <a:bodyPr wrap="square">
            <a:spAutoFit/>
          </a:bodyPr>
          <a:lstStyle/>
          <a:p>
            <a:pPr algn="l"/>
            <a:r>
              <a:rPr sz="1100" b="0">
                <a:solidFill>
                  <a:srgbClr val="333333"/>
                </a:solidFill>
              </a:rPr>
              <a:t>World Bank WDI API: 7 indicators × 22 countries × 2005–2023. IMF Article IV reports: Coveo search API → 240 real staff report texts extracted (57% coverage). PDFs streamed in memory — zero disk storage for raw PDFs.</a:t>
            </a:r>
          </a:p>
        </p:txBody>
      </p:sp>
      <p:sp>
        <p:nvSpPr>
          <p:cNvPr id="13" name="Rectangle 12"/>
          <p:cNvSpPr/>
          <p:nvPr/>
        </p:nvSpPr>
        <p:spPr>
          <a:xfrm>
            <a:off x="320040" y="3575304"/>
            <a:ext cx="73152" cy="7315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529584"/>
            <a:ext cx="5029200" cy="256032"/>
          </a:xfrm>
          <a:prstGeom prst="rect">
            <a:avLst/>
          </a:prstGeom>
          <a:noFill/>
        </p:spPr>
        <p:txBody>
          <a:bodyPr wrap="square">
            <a:spAutoFit/>
          </a:bodyPr>
          <a:lstStyle/>
          <a:p>
            <a:pPr algn="l"/>
            <a:r>
              <a:rPr sz="1200" b="1">
                <a:solidFill>
                  <a:srgbClr val="1B2A4A"/>
                </a:solidFill>
              </a:rPr>
              <a:t>Text Encoding</a:t>
            </a:r>
          </a:p>
        </p:txBody>
      </p:sp>
      <p:sp>
        <p:nvSpPr>
          <p:cNvPr id="15" name="TextBox 14"/>
          <p:cNvSpPr txBox="1"/>
          <p:nvPr/>
        </p:nvSpPr>
        <p:spPr>
          <a:xfrm>
            <a:off x="457200" y="3776472"/>
            <a:ext cx="5029200" cy="594360"/>
          </a:xfrm>
          <a:prstGeom prst="rect">
            <a:avLst/>
          </a:prstGeom>
          <a:noFill/>
        </p:spPr>
        <p:txBody>
          <a:bodyPr wrap="square">
            <a:spAutoFit/>
          </a:bodyPr>
          <a:lstStyle/>
          <a:p>
            <a:pPr algn="l"/>
            <a:r>
              <a:rPr sz="1100" b="0">
                <a:solidFill>
                  <a:srgbClr val="333333"/>
                </a:solidFill>
              </a:rPr>
              <a:t>768-dim embeddings saved as .npy files. Dummy mode (deterministic random) runs without any model download; BERT mode (frozen bert-base-uncased) is ready for real summaries.</a:t>
            </a:r>
          </a:p>
        </p:txBody>
      </p:sp>
      <p:sp>
        <p:nvSpPr>
          <p:cNvPr id="16" name="Rectangle 15"/>
          <p:cNvSpPr/>
          <p:nvPr/>
        </p:nvSpPr>
        <p:spPr>
          <a:xfrm>
            <a:off x="320040" y="4507992"/>
            <a:ext cx="73152" cy="7315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462272"/>
            <a:ext cx="5029200" cy="256032"/>
          </a:xfrm>
          <a:prstGeom prst="rect">
            <a:avLst/>
          </a:prstGeom>
          <a:noFill/>
        </p:spPr>
        <p:txBody>
          <a:bodyPr wrap="square">
            <a:spAutoFit/>
          </a:bodyPr>
          <a:lstStyle/>
          <a:p>
            <a:pPr algn="l"/>
            <a:r>
              <a:rPr sz="1200" b="1">
                <a:solidFill>
                  <a:srgbClr val="1B2A4A"/>
                </a:solidFill>
              </a:rPr>
              <a:t>Pre-alignment</a:t>
            </a:r>
          </a:p>
        </p:txBody>
      </p:sp>
      <p:sp>
        <p:nvSpPr>
          <p:cNvPr id="18" name="TextBox 17"/>
          <p:cNvSpPr txBox="1"/>
          <p:nvPr/>
        </p:nvSpPr>
        <p:spPr>
          <a:xfrm>
            <a:off x="457200" y="4709160"/>
            <a:ext cx="5029200" cy="594360"/>
          </a:xfrm>
          <a:prstGeom prst="rect">
            <a:avLst/>
          </a:prstGeom>
          <a:noFill/>
        </p:spPr>
        <p:txBody>
          <a:bodyPr wrap="square">
            <a:spAutoFit/>
          </a:bodyPr>
          <a:lstStyle/>
          <a:p>
            <a:pPr algn="l"/>
            <a:r>
              <a:rPr sz="1100" b="0">
                <a:solidFill>
                  <a:srgbClr val="333333"/>
                </a:solidFill>
              </a:rPr>
              <a:t>TIME-IMM canonical pre-alignment: each (country, query_year) sample → value matrix (10 × 7), binary missingness mask, normalised timestamps, and a Gaussian-weighted text context vector.</a:t>
            </a:r>
          </a:p>
        </p:txBody>
      </p:sp>
      <p:sp>
        <p:nvSpPr>
          <p:cNvPr id="19" name="Rectangle 18"/>
          <p:cNvSpPr/>
          <p:nvPr/>
        </p:nvSpPr>
        <p:spPr>
          <a:xfrm>
            <a:off x="6263640" y="1280160"/>
            <a:ext cx="5394960"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1307592"/>
            <a:ext cx="5303520" cy="256032"/>
          </a:xfrm>
          <a:prstGeom prst="rect">
            <a:avLst/>
          </a:prstGeom>
          <a:noFill/>
        </p:spPr>
        <p:txBody>
          <a:bodyPr wrap="square">
            <a:spAutoFit/>
          </a:bodyPr>
          <a:lstStyle/>
          <a:p>
            <a:pPr algn="l"/>
            <a:r>
              <a:rPr sz="1100" b="1">
                <a:solidFill>
                  <a:srgbClr val="FFFFFF"/>
                </a:solidFill>
              </a:rPr>
              <a:t>DATA AT A GLANCE</a:t>
            </a:r>
          </a:p>
        </p:txBody>
      </p:sp>
      <p:sp>
        <p:nvSpPr>
          <p:cNvPr id="21" name="Rectangle 20"/>
          <p:cNvSpPr/>
          <p:nvPr/>
        </p:nvSpPr>
        <p:spPr>
          <a:xfrm>
            <a:off x="6263640" y="1664208"/>
            <a:ext cx="987552" cy="80467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755648"/>
            <a:ext cx="987552" cy="411480"/>
          </a:xfrm>
          <a:prstGeom prst="rect">
            <a:avLst/>
          </a:prstGeom>
          <a:noFill/>
        </p:spPr>
        <p:txBody>
          <a:bodyPr wrap="square">
            <a:spAutoFit/>
          </a:bodyPr>
          <a:lstStyle/>
          <a:p>
            <a:pPr algn="ctr"/>
            <a:r>
              <a:rPr sz="2800" b="1">
                <a:solidFill>
                  <a:srgbClr val="FFFFFF"/>
                </a:solidFill>
              </a:rPr>
              <a:t>22</a:t>
            </a:r>
          </a:p>
        </p:txBody>
      </p:sp>
      <p:sp>
        <p:nvSpPr>
          <p:cNvPr id="23" name="TextBox 22"/>
          <p:cNvSpPr txBox="1"/>
          <p:nvPr/>
        </p:nvSpPr>
        <p:spPr>
          <a:xfrm>
            <a:off x="6263640" y="2139696"/>
            <a:ext cx="987552" cy="292608"/>
          </a:xfrm>
          <a:prstGeom prst="rect">
            <a:avLst/>
          </a:prstGeom>
          <a:noFill/>
        </p:spPr>
        <p:txBody>
          <a:bodyPr wrap="square">
            <a:spAutoFit/>
          </a:bodyPr>
          <a:lstStyle/>
          <a:p>
            <a:pPr algn="ctr"/>
            <a:r>
              <a:rPr sz="900" b="0">
                <a:solidFill>
                  <a:srgbClr val="FFFFFF"/>
                </a:solidFill>
              </a:rPr>
              <a:t>countries</a:t>
            </a:r>
          </a:p>
        </p:txBody>
      </p:sp>
      <p:sp>
        <p:nvSpPr>
          <p:cNvPr id="24" name="Rectangle 23"/>
          <p:cNvSpPr/>
          <p:nvPr/>
        </p:nvSpPr>
        <p:spPr>
          <a:xfrm>
            <a:off x="7360920" y="1664208"/>
            <a:ext cx="987552" cy="8046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60920" y="1755648"/>
            <a:ext cx="987552" cy="411480"/>
          </a:xfrm>
          <a:prstGeom prst="rect">
            <a:avLst/>
          </a:prstGeom>
          <a:noFill/>
        </p:spPr>
        <p:txBody>
          <a:bodyPr wrap="square">
            <a:spAutoFit/>
          </a:bodyPr>
          <a:lstStyle/>
          <a:p>
            <a:pPr algn="ctr"/>
            <a:r>
              <a:rPr sz="2800" b="1">
                <a:solidFill>
                  <a:srgbClr val="FFFFFF"/>
                </a:solidFill>
              </a:rPr>
              <a:t>19</a:t>
            </a:r>
          </a:p>
        </p:txBody>
      </p:sp>
      <p:sp>
        <p:nvSpPr>
          <p:cNvPr id="26" name="TextBox 25"/>
          <p:cNvSpPr txBox="1"/>
          <p:nvPr/>
        </p:nvSpPr>
        <p:spPr>
          <a:xfrm>
            <a:off x="7360920" y="2139696"/>
            <a:ext cx="987552" cy="292608"/>
          </a:xfrm>
          <a:prstGeom prst="rect">
            <a:avLst/>
          </a:prstGeom>
          <a:noFill/>
        </p:spPr>
        <p:txBody>
          <a:bodyPr wrap="square">
            <a:spAutoFit/>
          </a:bodyPr>
          <a:lstStyle/>
          <a:p>
            <a:pPr algn="ctr"/>
            <a:r>
              <a:rPr sz="900" b="0">
                <a:solidFill>
                  <a:srgbClr val="FFFFFF"/>
                </a:solidFill>
              </a:rPr>
              <a:t>years (2005–2023)</a:t>
            </a:r>
          </a:p>
        </p:txBody>
      </p:sp>
      <p:sp>
        <p:nvSpPr>
          <p:cNvPr id="27" name="Rectangle 26"/>
          <p:cNvSpPr/>
          <p:nvPr/>
        </p:nvSpPr>
        <p:spPr>
          <a:xfrm>
            <a:off x="8458200" y="1664208"/>
            <a:ext cx="987552" cy="804672"/>
          </a:xfrm>
          <a:prstGeom prst="rect">
            <a:avLst/>
          </a:prstGeom>
          <a:solidFill>
            <a:srgbClr val="C89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58200" y="1755648"/>
            <a:ext cx="987552" cy="411480"/>
          </a:xfrm>
          <a:prstGeom prst="rect">
            <a:avLst/>
          </a:prstGeom>
          <a:noFill/>
        </p:spPr>
        <p:txBody>
          <a:bodyPr wrap="square">
            <a:spAutoFit/>
          </a:bodyPr>
          <a:lstStyle/>
          <a:p>
            <a:pPr algn="ctr"/>
            <a:r>
              <a:rPr sz="2800" b="1">
                <a:solidFill>
                  <a:srgbClr val="FFFFFF"/>
                </a:solidFill>
              </a:rPr>
              <a:t>7</a:t>
            </a:r>
          </a:p>
        </p:txBody>
      </p:sp>
      <p:sp>
        <p:nvSpPr>
          <p:cNvPr id="29" name="TextBox 28"/>
          <p:cNvSpPr txBox="1"/>
          <p:nvPr/>
        </p:nvSpPr>
        <p:spPr>
          <a:xfrm>
            <a:off x="8458200" y="2139696"/>
            <a:ext cx="987552" cy="292608"/>
          </a:xfrm>
          <a:prstGeom prst="rect">
            <a:avLst/>
          </a:prstGeom>
          <a:noFill/>
        </p:spPr>
        <p:txBody>
          <a:bodyPr wrap="square">
            <a:spAutoFit/>
          </a:bodyPr>
          <a:lstStyle/>
          <a:p>
            <a:pPr algn="ctr"/>
            <a:r>
              <a:rPr sz="900" b="0">
                <a:solidFill>
                  <a:srgbClr val="FFFFFF"/>
                </a:solidFill>
              </a:rPr>
              <a:t>WDI indicators</a:t>
            </a:r>
          </a:p>
        </p:txBody>
      </p:sp>
      <p:sp>
        <p:nvSpPr>
          <p:cNvPr id="30" name="Rectangle 29"/>
          <p:cNvSpPr/>
          <p:nvPr/>
        </p:nvSpPr>
        <p:spPr>
          <a:xfrm>
            <a:off x="6263640" y="2578608"/>
            <a:ext cx="987552" cy="804672"/>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2670048"/>
            <a:ext cx="987552" cy="411480"/>
          </a:xfrm>
          <a:prstGeom prst="rect">
            <a:avLst/>
          </a:prstGeom>
          <a:noFill/>
        </p:spPr>
        <p:txBody>
          <a:bodyPr wrap="square">
            <a:spAutoFit/>
          </a:bodyPr>
          <a:lstStyle/>
          <a:p>
            <a:pPr algn="ctr"/>
            <a:r>
              <a:rPr sz="2800" b="1">
                <a:solidFill>
                  <a:srgbClr val="FFFFFF"/>
                </a:solidFill>
              </a:rPr>
              <a:t>240</a:t>
            </a:r>
          </a:p>
        </p:txBody>
      </p:sp>
      <p:sp>
        <p:nvSpPr>
          <p:cNvPr id="32" name="TextBox 31"/>
          <p:cNvSpPr txBox="1"/>
          <p:nvPr/>
        </p:nvSpPr>
        <p:spPr>
          <a:xfrm>
            <a:off x="6263640" y="3054096"/>
            <a:ext cx="987552" cy="292608"/>
          </a:xfrm>
          <a:prstGeom prst="rect">
            <a:avLst/>
          </a:prstGeom>
          <a:noFill/>
        </p:spPr>
        <p:txBody>
          <a:bodyPr wrap="square">
            <a:spAutoFit/>
          </a:bodyPr>
          <a:lstStyle/>
          <a:p>
            <a:pPr algn="ctr"/>
            <a:r>
              <a:rPr sz="900" b="0">
                <a:solidFill>
                  <a:srgbClr val="FFFFFF"/>
                </a:solidFill>
              </a:rPr>
              <a:t>real Article IV texts</a:t>
            </a:r>
          </a:p>
        </p:txBody>
      </p:sp>
      <p:sp>
        <p:nvSpPr>
          <p:cNvPr id="33" name="Rectangle 32"/>
          <p:cNvSpPr/>
          <p:nvPr/>
        </p:nvSpPr>
        <p:spPr>
          <a:xfrm>
            <a:off x="7360920" y="2578608"/>
            <a:ext cx="987552" cy="80467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60920" y="2670048"/>
            <a:ext cx="987552" cy="411480"/>
          </a:xfrm>
          <a:prstGeom prst="rect">
            <a:avLst/>
          </a:prstGeom>
          <a:noFill/>
        </p:spPr>
        <p:txBody>
          <a:bodyPr wrap="square">
            <a:spAutoFit/>
          </a:bodyPr>
          <a:lstStyle/>
          <a:p>
            <a:pPr algn="ctr"/>
            <a:r>
              <a:rPr sz="2800" b="1">
                <a:solidFill>
                  <a:srgbClr val="FFFFFF"/>
                </a:solidFill>
              </a:rPr>
              <a:t>57%</a:t>
            </a:r>
          </a:p>
        </p:txBody>
      </p:sp>
      <p:sp>
        <p:nvSpPr>
          <p:cNvPr id="35" name="TextBox 34"/>
          <p:cNvSpPr txBox="1"/>
          <p:nvPr/>
        </p:nvSpPr>
        <p:spPr>
          <a:xfrm>
            <a:off x="7360920" y="3054096"/>
            <a:ext cx="987552" cy="292608"/>
          </a:xfrm>
          <a:prstGeom prst="rect">
            <a:avLst/>
          </a:prstGeom>
          <a:noFill/>
        </p:spPr>
        <p:txBody>
          <a:bodyPr wrap="square">
            <a:spAutoFit/>
          </a:bodyPr>
          <a:lstStyle/>
          <a:p>
            <a:pPr algn="ctr"/>
            <a:r>
              <a:rPr sz="900" b="0">
                <a:solidFill>
                  <a:srgbClr val="FFFFFF"/>
                </a:solidFill>
              </a:rPr>
              <a:t>text coverage (22 countries)</a:t>
            </a:r>
          </a:p>
        </p:txBody>
      </p:sp>
      <p:sp>
        <p:nvSpPr>
          <p:cNvPr id="36" name="Rectangle 35"/>
          <p:cNvSpPr/>
          <p:nvPr/>
        </p:nvSpPr>
        <p:spPr>
          <a:xfrm>
            <a:off x="6263640" y="3946213"/>
            <a:ext cx="5394960"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36792" y="3973645"/>
            <a:ext cx="5303520" cy="256032"/>
          </a:xfrm>
          <a:prstGeom prst="rect">
            <a:avLst/>
          </a:prstGeom>
          <a:noFill/>
        </p:spPr>
        <p:txBody>
          <a:bodyPr wrap="square">
            <a:spAutoFit/>
          </a:bodyPr>
          <a:lstStyle/>
          <a:p>
            <a:pPr algn="l"/>
            <a:r>
              <a:rPr sz="1100" b="1">
                <a:solidFill>
                  <a:srgbClr val="FFFFFF"/>
                </a:solidFill>
              </a:rPr>
              <a:t>MODELS IMPLEMENTED</a:t>
            </a:r>
          </a:p>
        </p:txBody>
      </p:sp>
      <p:sp>
        <p:nvSpPr>
          <p:cNvPr id="38" name="TextBox 37"/>
          <p:cNvSpPr txBox="1"/>
          <p:nvPr/>
        </p:nvSpPr>
        <p:spPr>
          <a:xfrm>
            <a:off x="6263640" y="4284541"/>
            <a:ext cx="5394960" cy="914400"/>
          </a:xfrm>
          <a:prstGeom prst="rect">
            <a:avLst/>
          </a:prstGeom>
          <a:noFill/>
        </p:spPr>
        <p:txBody>
          <a:bodyPr wrap="square">
            <a:spAutoFit/>
          </a:bodyPr>
          <a:lstStyle/>
          <a:p>
            <a:pPr>
              <a:spcBef>
                <a:spcPts val="300"/>
              </a:spcBef>
            </a:pPr>
            <a:r>
              <a:rPr sz="1200">
                <a:solidFill>
                  <a:srgbClr val="333333"/>
                </a:solidFill>
              </a:rPr>
              <a:t>  ✓  DLinear  —  trend decomposition + linear (unimodal baseline)</a:t>
            </a:r>
          </a:p>
          <a:p>
            <a:pPr>
              <a:spcBef>
                <a:spcPts val="300"/>
              </a:spcBef>
            </a:pPr>
            <a:r>
              <a:rPr sz="1200">
                <a:solidFill>
                  <a:srgbClr val="333333"/>
                </a:solidFill>
              </a:rPr>
              <a:t>  ✓  NumericalGRU  —  GRU over imputed series (unimodal ablation)</a:t>
            </a:r>
          </a:p>
          <a:p>
            <a:pPr>
              <a:spcBef>
                <a:spcPts val="300"/>
              </a:spcBef>
            </a:pPr>
            <a:r>
              <a:rPr sz="1200">
                <a:solidFill>
                  <a:srgbClr val="333333"/>
                </a:solidFill>
              </a:rPr>
              <a:t>  ✓  GR-Add MMF  —  GRU encoder + RecAvg TTF + gated residual (full multimodal)</a:t>
            </a:r>
          </a:p>
        </p:txBody>
      </p:sp>
      <p:sp>
        <p:nvSpPr>
          <p:cNvPr id="39" name="TextBox 38"/>
          <p:cNvSpPr txBox="1"/>
          <p:nvPr/>
        </p:nvSpPr>
        <p:spPr>
          <a:xfrm>
            <a:off x="320040" y="6492240"/>
            <a:ext cx="11521440" cy="274320"/>
          </a:xfrm>
          <a:prstGeom prst="rect">
            <a:avLst/>
          </a:prstGeom>
          <a:noFill/>
        </p:spPr>
        <p:txBody>
          <a:bodyPr wrap="square">
            <a:spAutoFit/>
          </a:bodyPr>
          <a:lstStyle/>
          <a:p>
            <a:pPr algn="ctr"/>
            <a:r>
              <a:rPr sz="1000" b="0">
                <a:solidFill>
                  <a:srgbClr val="808080"/>
                </a:solidFill>
              </a:rPr>
              <a:t>Next: run BERT encoding on real Article IV texts  ·  full 100-epoch experiment matrix  ·  ablation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594360"/>
          </a:xfrm>
          <a:prstGeom prst="rect">
            <a:avLst/>
          </a:prstGeom>
          <a:noFill/>
        </p:spPr>
        <p:txBody>
          <a:bodyPr wrap="square">
            <a:spAutoFit/>
          </a:bodyPr>
          <a:lstStyle/>
          <a:p>
            <a:pPr algn="l"/>
            <a:r>
              <a:rPr sz="2800" b="1">
                <a:solidFill>
                  <a:srgbClr val="FFFFFF"/>
                </a:solidFill>
              </a:rPr>
              <a:t>IMM-TSF Pipeline Architecture</a:t>
            </a:r>
          </a:p>
        </p:txBody>
      </p:sp>
      <p:sp>
        <p:nvSpPr>
          <p:cNvPr id="4" name="TextBox 3"/>
          <p:cNvSpPr txBox="1"/>
          <p:nvPr/>
        </p:nvSpPr>
        <p:spPr>
          <a:xfrm>
            <a:off x="365760" y="685800"/>
            <a:ext cx="11430000" cy="347472"/>
          </a:xfrm>
          <a:prstGeom prst="rect">
            <a:avLst/>
          </a:prstGeom>
          <a:noFill/>
        </p:spPr>
        <p:txBody>
          <a:bodyPr wrap="square">
            <a:spAutoFit/>
          </a:bodyPr>
          <a:lstStyle/>
          <a:p>
            <a:pPr algn="l"/>
            <a:r>
              <a:rPr sz="1400" b="0">
                <a:solidFill>
                  <a:srgbClr val="A0B8D8"/>
                </a:solidFill>
              </a:rPr>
              <a:t>RecAvg TTF  +  GR-Add MMF  ·  Applied to Development Macroeconomics</a:t>
            </a:r>
          </a:p>
        </p:txBody>
      </p:sp>
      <p:sp>
        <p:nvSpPr>
          <p:cNvPr id="5" name="Rectangle 4"/>
          <p:cNvSpPr/>
          <p:nvPr/>
        </p:nvSpPr>
        <p:spPr>
          <a:xfrm>
            <a:off x="320040" y="1417320"/>
            <a:ext cx="24688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463040"/>
            <a:ext cx="2286000" cy="438912"/>
          </a:xfrm>
          <a:prstGeom prst="rect">
            <a:avLst/>
          </a:prstGeom>
          <a:noFill/>
        </p:spPr>
        <p:txBody>
          <a:bodyPr wrap="square">
            <a:spAutoFit/>
          </a:bodyPr>
          <a:lstStyle/>
          <a:p>
            <a:pPr algn="l"/>
            <a:r>
              <a:rPr sz="1300" b="1">
                <a:solidFill>
                  <a:srgbClr val="FFFFFF"/>
                </a:solidFill>
              </a:rPr>
              <a:t>Step 1
Pre-alignment</a:t>
            </a:r>
          </a:p>
        </p:txBody>
      </p:sp>
      <p:sp>
        <p:nvSpPr>
          <p:cNvPr id="7" name="Rectangle 6"/>
          <p:cNvSpPr/>
          <p:nvPr/>
        </p:nvSpPr>
        <p:spPr>
          <a:xfrm>
            <a:off x="320040" y="1920240"/>
            <a:ext cx="2468880" cy="1691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011680"/>
            <a:ext cx="2194560" cy="1508760"/>
          </a:xfrm>
          <a:prstGeom prst="rect">
            <a:avLst/>
          </a:prstGeom>
          <a:noFill/>
        </p:spPr>
        <p:txBody>
          <a:bodyPr wrap="square">
            <a:spAutoFit/>
          </a:bodyPr>
          <a:lstStyle/>
          <a:p>
            <a:pPr algn="l"/>
            <a:r>
              <a:rPr sz="1200" b="0">
                <a:solidFill>
                  <a:srgbClr val="333333"/>
                </a:solidFill>
              </a:rPr>
              <a:t>Mixed-frequency WDI panel
→ (T=10, D=7) tensor
+ missingness mask
+ normalised timestamps</a:t>
            </a:r>
          </a:p>
        </p:txBody>
      </p:sp>
      <p:sp>
        <p:nvSpPr>
          <p:cNvPr id="10" name="Rectangle 9"/>
          <p:cNvSpPr/>
          <p:nvPr/>
        </p:nvSpPr>
        <p:spPr>
          <a:xfrm>
            <a:off x="3017520" y="1417320"/>
            <a:ext cx="2468880" cy="502920"/>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08960" y="1463040"/>
            <a:ext cx="2286000" cy="438912"/>
          </a:xfrm>
          <a:prstGeom prst="rect">
            <a:avLst/>
          </a:prstGeom>
          <a:noFill/>
        </p:spPr>
        <p:txBody>
          <a:bodyPr wrap="square">
            <a:spAutoFit/>
          </a:bodyPr>
          <a:lstStyle/>
          <a:p>
            <a:pPr algn="l"/>
            <a:r>
              <a:rPr sz="1300" b="1">
                <a:solidFill>
                  <a:srgbClr val="FFFFFF"/>
                </a:solidFill>
              </a:rPr>
              <a:t>Step 2
Text Encoding</a:t>
            </a:r>
          </a:p>
        </p:txBody>
      </p:sp>
      <p:sp>
        <p:nvSpPr>
          <p:cNvPr id="12" name="Rectangle 11"/>
          <p:cNvSpPr/>
          <p:nvPr/>
        </p:nvSpPr>
        <p:spPr>
          <a:xfrm>
            <a:off x="3017520" y="1920240"/>
            <a:ext cx="2468880" cy="1691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54680" y="2011680"/>
            <a:ext cx="2194560" cy="1508760"/>
          </a:xfrm>
          <a:prstGeom prst="rect">
            <a:avLst/>
          </a:prstGeom>
          <a:noFill/>
        </p:spPr>
        <p:txBody>
          <a:bodyPr wrap="square">
            <a:spAutoFit/>
          </a:bodyPr>
          <a:lstStyle/>
          <a:p>
            <a:pPr algn="l"/>
            <a:r>
              <a:rPr sz="1200" b="0">
                <a:solidFill>
                  <a:srgbClr val="333333"/>
                </a:solidFill>
              </a:rPr>
              <a:t>Article IV summary
→ frozen BERT-base
→ 768-dim embedding
(precomputed once)</a:t>
            </a:r>
          </a:p>
        </p:txBody>
      </p:sp>
      <p:sp>
        <p:nvSpPr>
          <p:cNvPr id="15" name="Rectangle 14"/>
          <p:cNvSpPr/>
          <p:nvPr/>
        </p:nvSpPr>
        <p:spPr>
          <a:xfrm>
            <a:off x="5715000" y="1417320"/>
            <a:ext cx="2468880" cy="502920"/>
          </a:xfrm>
          <a:prstGeom prst="rect">
            <a:avLst/>
          </a:prstGeom>
          <a:solidFill>
            <a:srgbClr val="C89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06440" y="1463040"/>
            <a:ext cx="2286000" cy="438912"/>
          </a:xfrm>
          <a:prstGeom prst="rect">
            <a:avLst/>
          </a:prstGeom>
          <a:noFill/>
        </p:spPr>
        <p:txBody>
          <a:bodyPr wrap="square">
            <a:spAutoFit/>
          </a:bodyPr>
          <a:lstStyle/>
          <a:p>
            <a:pPr algn="l"/>
            <a:r>
              <a:rPr sz="1300" b="1">
                <a:solidFill>
                  <a:srgbClr val="FFFFFF"/>
                </a:solidFill>
              </a:rPr>
              <a:t>Step 3
RecAvg TTF</a:t>
            </a:r>
          </a:p>
        </p:txBody>
      </p:sp>
      <p:sp>
        <p:nvSpPr>
          <p:cNvPr id="17" name="Rectangle 16"/>
          <p:cNvSpPr/>
          <p:nvPr/>
        </p:nvSpPr>
        <p:spPr>
          <a:xfrm>
            <a:off x="5715000" y="1920240"/>
            <a:ext cx="2468880" cy="1691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852160" y="2011680"/>
            <a:ext cx="2194560" cy="1508760"/>
          </a:xfrm>
          <a:prstGeom prst="rect">
            <a:avLst/>
          </a:prstGeom>
          <a:noFill/>
        </p:spPr>
        <p:txBody>
          <a:bodyPr wrap="square">
            <a:spAutoFit/>
          </a:bodyPr>
          <a:lstStyle/>
          <a:p>
            <a:pPr algn="l"/>
            <a:r>
              <a:rPr sz="1200" b="0">
                <a:solidFill>
                  <a:srgbClr val="333333"/>
                </a:solidFill>
              </a:rPr>
              <a:t>Gaussian-weighted avg
of past embeddings
σ = 1.0 (year units)
Handles pub. lag</a:t>
            </a:r>
          </a:p>
        </p:txBody>
      </p:sp>
      <p:sp>
        <p:nvSpPr>
          <p:cNvPr id="20" name="Rectangle 19"/>
          <p:cNvSpPr/>
          <p:nvPr/>
        </p:nvSpPr>
        <p:spPr>
          <a:xfrm>
            <a:off x="8412480" y="1417320"/>
            <a:ext cx="2468880"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20" y="1463040"/>
            <a:ext cx="2286000" cy="438912"/>
          </a:xfrm>
          <a:prstGeom prst="rect">
            <a:avLst/>
          </a:prstGeom>
          <a:noFill/>
        </p:spPr>
        <p:txBody>
          <a:bodyPr wrap="square">
            <a:spAutoFit/>
          </a:bodyPr>
          <a:lstStyle/>
          <a:p>
            <a:pPr algn="l"/>
            <a:r>
              <a:rPr sz="1300" b="1">
                <a:solidFill>
                  <a:srgbClr val="FFFFFF"/>
                </a:solidFill>
              </a:rPr>
              <a:t>Step 4
GR-Add MMF</a:t>
            </a:r>
          </a:p>
        </p:txBody>
      </p:sp>
      <p:sp>
        <p:nvSpPr>
          <p:cNvPr id="22" name="Rectangle 21"/>
          <p:cNvSpPr/>
          <p:nvPr/>
        </p:nvSpPr>
        <p:spPr>
          <a:xfrm>
            <a:off x="8412480" y="1920240"/>
            <a:ext cx="2468880" cy="169164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011680"/>
            <a:ext cx="2194560" cy="1508760"/>
          </a:xfrm>
          <a:prstGeom prst="rect">
            <a:avLst/>
          </a:prstGeom>
          <a:noFill/>
        </p:spPr>
        <p:txBody>
          <a:bodyPr wrap="square">
            <a:spAutoFit/>
          </a:bodyPr>
          <a:lstStyle/>
          <a:p>
            <a:pPr algn="l"/>
            <a:r>
              <a:rPr sz="1200" b="0">
                <a:solidFill>
                  <a:srgbClr val="333333"/>
                </a:solidFill>
              </a:rPr>
              <a:t>GRU hidden + text proj
→ gate (sigmoid)
→ delta (tanh)
→ base + gate × delta</a:t>
            </a:r>
          </a:p>
        </p:txBody>
      </p:sp>
      <p:sp>
        <p:nvSpPr>
          <p:cNvPr id="24" name="Rectangle 23"/>
          <p:cNvSpPr/>
          <p:nvPr/>
        </p:nvSpPr>
        <p:spPr>
          <a:xfrm>
            <a:off x="320040" y="3931920"/>
            <a:ext cx="11667744" cy="29260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959352"/>
            <a:ext cx="11430000" cy="261610"/>
          </a:xfrm>
          <a:prstGeom prst="rect">
            <a:avLst/>
          </a:prstGeom>
          <a:noFill/>
        </p:spPr>
        <p:txBody>
          <a:bodyPr wrap="square">
            <a:spAutoFit/>
          </a:bodyPr>
          <a:lstStyle/>
          <a:p>
            <a:pPr algn="l"/>
            <a:r>
              <a:rPr sz="1100" b="1" dirty="0">
                <a:solidFill>
                  <a:srgbClr val="FFFFFF"/>
                </a:solidFill>
              </a:rPr>
              <a:t>EVALUATION DESIGN</a:t>
            </a:r>
          </a:p>
        </p:txBody>
      </p:sp>
      <p:sp>
        <p:nvSpPr>
          <p:cNvPr id="26" name="Rectangle 25"/>
          <p:cNvSpPr/>
          <p:nvPr/>
        </p:nvSpPr>
        <p:spPr>
          <a:xfrm>
            <a:off x="320040" y="4279392"/>
            <a:ext cx="2834640" cy="292608"/>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93192" y="4306824"/>
            <a:ext cx="2743200" cy="237744"/>
          </a:xfrm>
          <a:prstGeom prst="rect">
            <a:avLst/>
          </a:prstGeom>
          <a:noFill/>
        </p:spPr>
        <p:txBody>
          <a:bodyPr wrap="square">
            <a:spAutoFit/>
          </a:bodyPr>
          <a:lstStyle/>
          <a:p>
            <a:pPr algn="l"/>
            <a:r>
              <a:rPr sz="1000" b="1">
                <a:solidFill>
                  <a:srgbClr val="FFFFFF"/>
                </a:solidFill>
              </a:rPr>
              <a:t>Forecast Targets</a:t>
            </a:r>
          </a:p>
        </p:txBody>
      </p:sp>
      <p:sp>
        <p:nvSpPr>
          <p:cNvPr id="28" name="TextBox 27"/>
          <p:cNvSpPr txBox="1"/>
          <p:nvPr/>
        </p:nvSpPr>
        <p:spPr>
          <a:xfrm>
            <a:off x="393192" y="4608576"/>
            <a:ext cx="2743200" cy="502920"/>
          </a:xfrm>
          <a:prstGeom prst="rect">
            <a:avLst/>
          </a:prstGeom>
          <a:noFill/>
        </p:spPr>
        <p:txBody>
          <a:bodyPr wrap="square">
            <a:spAutoFit/>
          </a:bodyPr>
          <a:lstStyle/>
          <a:p>
            <a:pPr algn="l"/>
            <a:r>
              <a:rPr sz="1100" b="0">
                <a:solidFill>
                  <a:srgbClr val="333333"/>
                </a:solidFill>
              </a:rPr>
              <a:t>Next-year GDP growth rate
Next-year inflation rate</a:t>
            </a:r>
          </a:p>
        </p:txBody>
      </p:sp>
      <p:sp>
        <p:nvSpPr>
          <p:cNvPr id="29" name="Rectangle 28"/>
          <p:cNvSpPr/>
          <p:nvPr/>
        </p:nvSpPr>
        <p:spPr>
          <a:xfrm>
            <a:off x="3264408" y="4279392"/>
            <a:ext cx="2834640" cy="292608"/>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37560" y="4306824"/>
            <a:ext cx="2743200" cy="237744"/>
          </a:xfrm>
          <a:prstGeom prst="rect">
            <a:avLst/>
          </a:prstGeom>
          <a:noFill/>
        </p:spPr>
        <p:txBody>
          <a:bodyPr wrap="square">
            <a:spAutoFit/>
          </a:bodyPr>
          <a:lstStyle/>
          <a:p>
            <a:pPr algn="l"/>
            <a:r>
              <a:rPr sz="1000" b="1">
                <a:solidFill>
                  <a:srgbClr val="FFFFFF"/>
                </a:solidFill>
              </a:rPr>
              <a:t>Data Split</a:t>
            </a:r>
          </a:p>
        </p:txBody>
      </p:sp>
      <p:sp>
        <p:nvSpPr>
          <p:cNvPr id="31" name="TextBox 30"/>
          <p:cNvSpPr txBox="1"/>
          <p:nvPr/>
        </p:nvSpPr>
        <p:spPr>
          <a:xfrm>
            <a:off x="3337560" y="4608576"/>
            <a:ext cx="2743200" cy="502920"/>
          </a:xfrm>
          <a:prstGeom prst="rect">
            <a:avLst/>
          </a:prstGeom>
          <a:noFill/>
        </p:spPr>
        <p:txBody>
          <a:bodyPr wrap="square">
            <a:spAutoFit/>
          </a:bodyPr>
          <a:lstStyle/>
          <a:p>
            <a:pPr algn="l"/>
            <a:r>
              <a:rPr sz="1100" b="0">
                <a:solidFill>
                  <a:srgbClr val="333333"/>
                </a:solidFill>
              </a:rPr>
              <a:t>Train 2005–2019  ·  Val 2020–2021
Test 2022–2023  (chronological)</a:t>
            </a:r>
          </a:p>
        </p:txBody>
      </p:sp>
      <p:sp>
        <p:nvSpPr>
          <p:cNvPr id="32" name="Rectangle 31"/>
          <p:cNvSpPr/>
          <p:nvPr/>
        </p:nvSpPr>
        <p:spPr>
          <a:xfrm>
            <a:off x="6208776" y="4279392"/>
            <a:ext cx="2834640" cy="292608"/>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4306824"/>
            <a:ext cx="2743200" cy="237744"/>
          </a:xfrm>
          <a:prstGeom prst="rect">
            <a:avLst/>
          </a:prstGeom>
          <a:noFill/>
        </p:spPr>
        <p:txBody>
          <a:bodyPr wrap="square">
            <a:spAutoFit/>
          </a:bodyPr>
          <a:lstStyle/>
          <a:p>
            <a:pPr algn="l"/>
            <a:r>
              <a:rPr sz="1000" b="1">
                <a:solidFill>
                  <a:srgbClr val="FFFFFF"/>
                </a:solidFill>
              </a:rPr>
              <a:t>Primary Metric</a:t>
            </a:r>
          </a:p>
        </p:txBody>
      </p:sp>
      <p:sp>
        <p:nvSpPr>
          <p:cNvPr id="34" name="TextBox 33"/>
          <p:cNvSpPr txBox="1"/>
          <p:nvPr/>
        </p:nvSpPr>
        <p:spPr>
          <a:xfrm>
            <a:off x="6281928" y="4608576"/>
            <a:ext cx="2743200" cy="502920"/>
          </a:xfrm>
          <a:prstGeom prst="rect">
            <a:avLst/>
          </a:prstGeom>
          <a:noFill/>
        </p:spPr>
        <p:txBody>
          <a:bodyPr wrap="square">
            <a:spAutoFit/>
          </a:bodyPr>
          <a:lstStyle/>
          <a:p>
            <a:pPr algn="l"/>
            <a:r>
              <a:rPr sz="1100" b="0">
                <a:solidFill>
                  <a:srgbClr val="333333"/>
                </a:solidFill>
              </a:rPr>
              <a:t>MSE on 2022–2023 holdout
per target + overall</a:t>
            </a:r>
          </a:p>
        </p:txBody>
      </p:sp>
      <p:sp>
        <p:nvSpPr>
          <p:cNvPr id="35" name="Rectangle 34"/>
          <p:cNvSpPr/>
          <p:nvPr/>
        </p:nvSpPr>
        <p:spPr>
          <a:xfrm>
            <a:off x="9153144" y="4279392"/>
            <a:ext cx="2834640" cy="292608"/>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226296" y="4306824"/>
            <a:ext cx="2743200" cy="237744"/>
          </a:xfrm>
          <a:prstGeom prst="rect">
            <a:avLst/>
          </a:prstGeom>
          <a:noFill/>
        </p:spPr>
        <p:txBody>
          <a:bodyPr wrap="square">
            <a:spAutoFit/>
          </a:bodyPr>
          <a:lstStyle/>
          <a:p>
            <a:pPr algn="l"/>
            <a:r>
              <a:rPr sz="1000" b="1">
                <a:solidFill>
                  <a:srgbClr val="FFFFFF"/>
                </a:solidFill>
              </a:rPr>
              <a:t>Secondary Analysis</a:t>
            </a:r>
          </a:p>
        </p:txBody>
      </p:sp>
      <p:sp>
        <p:nvSpPr>
          <p:cNvPr id="37" name="TextBox 36"/>
          <p:cNvSpPr txBox="1"/>
          <p:nvPr/>
        </p:nvSpPr>
        <p:spPr>
          <a:xfrm>
            <a:off x="9226296" y="4608576"/>
            <a:ext cx="2743200" cy="502920"/>
          </a:xfrm>
          <a:prstGeom prst="rect">
            <a:avLst/>
          </a:prstGeom>
          <a:noFill/>
        </p:spPr>
        <p:txBody>
          <a:bodyPr wrap="square">
            <a:spAutoFit/>
          </a:bodyPr>
          <a:lstStyle/>
          <a:p>
            <a:pPr algn="l"/>
            <a:r>
              <a:rPr sz="1100" b="0">
                <a:solidFill>
                  <a:srgbClr val="333333"/>
                </a:solidFill>
              </a:rPr>
              <a:t>Stratify MSE gain by missingness
Do gappy countries benefit more?</a:t>
            </a:r>
          </a:p>
        </p:txBody>
      </p:sp>
      <p:sp>
        <p:nvSpPr>
          <p:cNvPr id="38" name="TextBox 37"/>
          <p:cNvSpPr txBox="1"/>
          <p:nvPr/>
        </p:nvSpPr>
        <p:spPr>
          <a:xfrm>
            <a:off x="320040" y="6492240"/>
            <a:ext cx="11521440" cy="274320"/>
          </a:xfrm>
          <a:prstGeom prst="rect">
            <a:avLst/>
          </a:prstGeom>
          <a:noFill/>
        </p:spPr>
        <p:txBody>
          <a:bodyPr wrap="square">
            <a:spAutoFit/>
          </a:bodyPr>
          <a:lstStyle/>
          <a:p>
            <a:pPr algn="ctr"/>
            <a:r>
              <a:rPr sz="1000" b="0">
                <a:solidFill>
                  <a:srgbClr val="808080"/>
                </a:solidFill>
              </a:rPr>
              <a:t>STAT 8240 Data Mining II  ·  Kennesaw State University  ·  Track B Application of IMM-TSF  ·  April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444</Words>
  <Application>Microsoft Macintosh PowerPoint</Application>
  <PresentationFormat>Custom</PresentationFormat>
  <Paragraphs>47</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Timur Abdygulov</cp:lastModifiedBy>
  <cp:revision>2</cp:revision>
  <dcterms:created xsi:type="dcterms:W3CDTF">2013-01-27T09:14:16Z</dcterms:created>
  <dcterms:modified xsi:type="dcterms:W3CDTF">2026-04-07T13:29:10Z</dcterms:modified>
  <cp:category/>
</cp:coreProperties>
</file>