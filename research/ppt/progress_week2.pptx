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0643"/>
  </p:normalViewPr>
  <p:slideViewPr>
    <p:cSldViewPr snapToGrid="0" snapToObjects="1">
      <p:cViewPr varScale="1">
        <p:scale>
          <a:sx n="84" d="100"/>
          <a:sy n="84" d="100"/>
        </p:scale>
        <p:origin x="1832"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60746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presentation covers the final results of our macro forecasting project. We applied the IMM-TSF framework to 22 countries using two data streams: World Bank WDI numerical indicators and IMF Article IV staff report texts. The key finding is that GR-Add MMF with full-context OpenAI embeddings achieves a 97.6% MSE reduction vs a persistence baseline and outperforms all numerical-only models.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pulled WDI data for all 22 countries via the World Bank API. Missing values in the WDI panel are genuine non-reporting, not data errors — for example, Turkmenistan and Tajikistan rarely report government debt to the World Bank. We preserve these gaps using a binary missingness mask rather than imputing, so the model knows explicitly which values are absent.</a:t>
            </a:r>
          </a:p>
          <a:p>
            <a:endParaRPr/>
          </a:p>
          <a:p>
            <a:r>
              <a:t>For Article IV texts, 240 real staff reports were extracted from IMF PDFs using a Coveo API query per country, with Playwright browser automation to download each PDF in memory. PyMuPDF extracts pages 1-6 — no PDFs are saved to disk.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models are compared:</a:t>
            </a:r>
          </a:p>
          <a:p>
            <a:endParaRPr/>
          </a:p>
          <a:p>
            <a:r>
              <a:t>DLinear decomposes the 10-year WDI series into trend and seasonal components and applies a linear layer to each. It is the simplest possible baseline.</a:t>
            </a:r>
          </a:p>
          <a:p>
            <a:endParaRPr/>
          </a:p>
          <a:p>
            <a:r>
              <a:t>NumericalGRU adds temporal dynamics via a GRU encoder. It receives the value matrix and the missingness mask concatenated, so it can learn to down-weight missing time steps.</a:t>
            </a:r>
          </a:p>
          <a:p>
            <a:endParaRPr/>
          </a:p>
          <a:p>
            <a:r>
              <a:t>GR-Add MMF is the full multimodal model. The RecAvg TTF module aggregates past Article IV embeddings using a Gaussian kernel (paper eq. 6: exp(-((t-tau)/sigma)^2)), weighting by distance from the query year with sigma=1.0. A separate fusion GRU then ingests z=[y_ts; e] — the concatenation of the base numerical forecast and the text context vector — following paper eq. 12-13. The linear correction delta = W_delta * H is gated by G = sigmoid(W_g * z), blending base and text-corrected forecasts per eq. 16: y_out = G*y_ts + (1-G)*(y_ts+delta). When text is absent (e=0), delta and G become functions of y_ts alone.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explains why we moved from BERT to OpenAI embeddings.</a:t>
            </a:r>
          </a:p>
          <a:p>
            <a:endParaRPr dirty="0"/>
          </a:p>
          <a:p>
            <a:r>
              <a:rPr dirty="0"/>
              <a:t>BERT-base-uncased has a hard 512-token limit. Article IV staff reports, even after extracting only pages 1-6, are typically 2,000-5,000 tokens long. BERT sees roughly the first 380 words — usually the cover page and introduction — and never reaches the Staff Appraisal section, which contains the IMF's explicit forward-looking economic assessment.</a:t>
            </a:r>
          </a:p>
          <a:p>
            <a:endParaRPr dirty="0"/>
          </a:p>
          <a:p>
            <a:r>
              <a:rPr dirty="0"/>
              <a:t>OpenAI's text-embedding-3-small handles up to 8,191 tokens, covering the full extracted text. We request 768 dimensions via the API to keep the model architecture unchanged. The cost for all 240 texts was approximately $0.01.</a:t>
            </a:r>
          </a:p>
          <a:p>
            <a:endParaRPr dirty="0"/>
          </a:p>
          <a:p>
            <a:r>
              <a:rPr dirty="0"/>
              <a:t>Additionally, we fetched real IMF publication dates from the </a:t>
            </a:r>
            <a:r>
              <a:rPr dirty="0" err="1"/>
              <a:t>Coveo</a:t>
            </a:r>
            <a:r>
              <a:rPr dirty="0"/>
              <a:t> search API (239/240 found), replacing our earlier estimated dates. More accurate publication timestamps improve the Gaussian kernel weighting in </a:t>
            </a:r>
            <a:r>
              <a:rPr dirty="0" err="1"/>
              <a:t>RecAvg</a:t>
            </a:r>
            <a:r>
              <a:rPr dirty="0"/>
              <a:t> TTF.</a:t>
            </a:r>
          </a:p>
          <a:p>
            <a:endParaRPr dirty="0"/>
          </a:p>
          <a:p>
            <a:r>
              <a:rPr dirty="0"/>
              <a:t>Both changes together improved GR-Add MMF from 2.872 to 2.584 overall MSE.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Primary metric is MSE on the 2022-2023 held-out test set.</a:t>
            </a:r>
          </a:p>
          <a:p>
            <a:endParaRPr/>
          </a:p>
          <a:p>
            <a:r>
              <a:t>With BERT: All three models are very close. GR-Add edges out NumericalGRU (2.872 vs 2.907), but the gap is small — the truncated embeddings provide only marginal signal.</a:t>
            </a:r>
          </a:p>
          <a:p>
            <a:endParaRPr/>
          </a:p>
          <a:p>
            <a:r>
              <a:t>With OpenAI + real pub dates: GR-Add clearly leads (2.584). The main advantage comes from inflation forecasting (3.684 vs 4.228 for NumericalGRU). This makes economic sense — Article IV reports explicitly discuss price pressures, exchange rate trajectories, and monetary policy outlook that a purely numerical series would only capture with a lag.</a:t>
            </a:r>
          </a:p>
          <a:p>
            <a:endParaRPr/>
          </a:p>
          <a:p>
            <a:r>
              <a:t>NumericalGRU outperforms DLinear on GDP (1.466 vs 1.568) but not inflation (4.228 vs 4.667), suggesting GRU's temporal modeling helps for growth but not for the more volatile inflation series.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persistence baseline is the standard benchmark in macroeconomic forecasting. It says: 'my forecast for GDP growth in 2022 is whatever GDP growth was in 2021.' This is surprisingly hard to beat over short horizons.</a:t>
            </a:r>
          </a:p>
          <a:p>
            <a:endParaRPr/>
          </a:p>
          <a:p>
            <a:r>
              <a:t>Persistence MSE = 105.44 reflects the high year-to-year volatility in our dataset, especially for countries like Ukraine (-3.8 to -28.8%), Moldova (-8.3 to -4.6%), and Turkey (inflation from 19% to 72%).</a:t>
            </a:r>
          </a:p>
          <a:p>
            <a:endParaRPr/>
          </a:p>
          <a:p>
            <a:r>
              <a:t>All three models beat persistence by roughly 97-98%, which shows the numerical WDI data alone is highly informative. The gain from adding text (GR-Add over NumericalGRU) is an additional 6.9% reduction in inflation MSE on top of that.</a:t>
            </a:r>
          </a:p>
          <a:p>
            <a:endParaRPr/>
          </a:p>
          <a:p>
            <a:r>
              <a:t>Note: true WEO vintage forecasts (Oct 2021 WEO for 2022, Oct 2022 WEO for 2023) were not accessible via public API — IMF DataMapper only serves current revised estimates. We use the persistence baseline as the primary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distinct definitions of 'gappy' give opposite answers.</a:t>
            </a:r>
          </a:p>
          <a:p>
            <a:endParaRPr dirty="0"/>
          </a:p>
          <a:p>
            <a:r>
              <a:rPr dirty="0"/>
              <a:t>Definition 1 — WDI numerical missingness (from </a:t>
            </a:r>
            <a:r>
              <a:rPr dirty="0" err="1"/>
              <a:t>evaluate.py</a:t>
            </a:r>
            <a:r>
              <a:rPr dirty="0"/>
              <a:t>):</a:t>
            </a:r>
          </a:p>
          <a:p>
            <a:r>
              <a:rPr dirty="0"/>
              <a:t>Samples are split at the median WDI mask fill rate. HIGH-miss samples (sparse WDI data) show a +9.4% GR-Add improvement over </a:t>
            </a:r>
            <a:r>
              <a:rPr dirty="0" err="1"/>
              <a:t>DLinear</a:t>
            </a:r>
            <a:r>
              <a:rPr dirty="0"/>
              <a:t>, while LOW-miss samples (complete WDI data) show a -0.8% change. The hypothesis is confirmed: when numerical indicators are missing, text from Article IV reports compensates and improves accuracy.</a:t>
            </a:r>
          </a:p>
          <a:p>
            <a:endParaRPr dirty="0"/>
          </a:p>
          <a:p>
            <a:r>
              <a:rPr dirty="0"/>
              <a:t>Definition 2 — Article IV text coverage (from </a:t>
            </a:r>
            <a:r>
              <a:rPr dirty="0" err="1"/>
              <a:t>stratified_analysis.py</a:t>
            </a:r>
            <a:r>
              <a:rPr dirty="0"/>
              <a:t>):</a:t>
            </a:r>
          </a:p>
          <a:p>
            <a:r>
              <a:rPr dirty="0"/>
              <a:t>Median text missingness is 36.8%. Only 3/6 HIGH-miss countries benefit from GR-Add (UZB +38.8%, UKR +6.5%, SRB +7.3%) vs 4/6 LOW-miss (JPN +86.3%, KAZ +45.5%). The hypothesis is NOT confirmed for text coverage gaps. The biggest gains are in anchor economies with rich text, not in data-sparse countries.</a:t>
            </a:r>
          </a:p>
          <a:p>
            <a:endParaRPr dirty="0"/>
          </a:p>
          <a:p>
            <a:r>
              <a:rPr dirty="0"/>
              <a:t>Key insight: the two definitions are independent. A country can have good WDI coverage but few Article IV reports (e.g. TKM), or vice versa. The WDI gap is the more direct test of the hypothesis — and it confirms that text fills the numerical data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Summary of key findings:</a:t>
            </a:r>
          </a:p>
          <a:p>
            <a:endParaRPr dirty="0"/>
          </a:p>
          <a:p>
            <a:r>
              <a:rPr dirty="0"/>
              <a:t>1. GR-Add MMF with OpenAI text-embedding-3-small and real publication dates achieves the best test MSE at 2.678. The advantage is concentrated in inflation forecasting (3.909 vs 4.198 for </a:t>
            </a:r>
            <a:r>
              <a:rPr dirty="0" err="1"/>
              <a:t>NumericalGRU</a:t>
            </a:r>
            <a:r>
              <a:rPr dirty="0"/>
              <a:t>, a 6.9% reduction), which aligns with the content of Article IV reports — they explicitly discuss price pressures, monetary policy, and exchange rate dynamics.</a:t>
            </a:r>
          </a:p>
          <a:p>
            <a:endParaRPr dirty="0"/>
          </a:p>
          <a:p>
            <a:r>
              <a:rPr dirty="0"/>
              <a:t>2. All models dramatically outperform the persistence baseline (105.44). The bulk of the gain comes from the numerical WDI panel. Text adds an incremental but meaningful improvement on top (6.9% in inflation MSE).</a:t>
            </a:r>
          </a:p>
          <a:p>
            <a:endParaRPr dirty="0"/>
          </a:p>
          <a:p>
            <a:r>
              <a:rPr dirty="0"/>
              <a:t>3. The answer depends on how you define 'gappy'. When stratifying by WDI numerical missingness (</a:t>
            </a:r>
            <a:r>
              <a:rPr dirty="0" err="1"/>
              <a:t>evaluate.py</a:t>
            </a:r>
            <a:r>
              <a:rPr dirty="0"/>
              <a:t>), HIGH-miss samples show +9.4% GR-Add improvement over </a:t>
            </a:r>
            <a:r>
              <a:rPr dirty="0" err="1"/>
              <a:t>DLinear</a:t>
            </a:r>
            <a:r>
              <a:rPr dirty="0"/>
              <a:t> while LOW-miss samples show -0.8% — the hypothesis is confirmed. When stratifying by Article IV text coverage (</a:t>
            </a:r>
            <a:r>
              <a:rPr dirty="0" err="1"/>
              <a:t>stratified_analysis.py</a:t>
            </a:r>
            <a:r>
              <a:rPr dirty="0"/>
              <a:t>), results are mixed (4/6 LOW-miss positive vs 3/6 HIGH-miss positive). Text compensates for missing WDI indicators but does not compensate for missing reports — these are two different mechanisms.</a:t>
            </a:r>
          </a:p>
          <a:p>
            <a:endParaRPr dirty="0"/>
          </a:p>
          <a:p>
            <a:r>
              <a:rPr dirty="0"/>
              <a:t>4. The dataset is small. With only 2 test observations per country, conclusions must be interpreted carefully. The empirical patterns are consistent across experiments but require a larger dataset to be statistically conclusive.</a:t>
            </a:r>
            <a:endParaRPr lang="en-US" dirty="0"/>
          </a:p>
          <a:p>
            <a:endParaRPr lang="en-US" dirty="0"/>
          </a:p>
          <a:p>
            <a:endParaRPr lang="en-US" dirty="0"/>
          </a:p>
          <a:p>
            <a:r>
              <a:rPr lang="en-US" dirty="0"/>
              <a:t>Point 4 --  It depends on the comparison point.                                                                                                                                          </a:t>
            </a:r>
          </a:p>
          <a:p>
            <a:r>
              <a:rPr lang="en-US" dirty="0"/>
              <a:t>                                                                                                                                                                               </a:t>
            </a:r>
          </a:p>
          <a:p>
            <a:r>
              <a:rPr lang="en-US" dirty="0"/>
              <a:t>  By machine learning standards — yes, small. 102 training samples is tiny for neural networks. The architecture choices reflect this: </a:t>
            </a:r>
            <a:r>
              <a:rPr lang="en-US" dirty="0" err="1"/>
              <a:t>RecAvg</a:t>
            </a:r>
            <a:r>
              <a:rPr lang="en-US" dirty="0"/>
              <a:t> TTF has zero learnable parameters</a:t>
            </a:r>
          </a:p>
          <a:p>
            <a:r>
              <a:rPr lang="en-US" dirty="0"/>
              <a:t>   specifically to avoid overfitting on text, and the GRU hidden dimension is capped at 64. </a:t>
            </a:r>
            <a:r>
              <a:rPr lang="en-US" dirty="0" err="1"/>
              <a:t>NumericalGRU's</a:t>
            </a:r>
            <a:r>
              <a:rPr lang="en-US" dirty="0"/>
              <a:t> </a:t>
            </a:r>
            <a:r>
              <a:rPr lang="en-US" dirty="0" err="1"/>
              <a:t>generalisation</a:t>
            </a:r>
            <a:r>
              <a:rPr lang="en-US" dirty="0"/>
              <a:t> gap (better </a:t>
            </a:r>
            <a:r>
              <a:rPr lang="en-US" dirty="0" err="1"/>
              <a:t>val</a:t>
            </a:r>
            <a:r>
              <a:rPr lang="en-US" dirty="0"/>
              <a:t>, worse test than </a:t>
            </a:r>
            <a:r>
              <a:rPr lang="en-US" dirty="0" err="1"/>
              <a:t>DLinear</a:t>
            </a:r>
            <a:r>
              <a:rPr lang="en-US" dirty="0"/>
              <a:t>) is a direct</a:t>
            </a:r>
          </a:p>
          <a:p>
            <a:r>
              <a:rPr lang="en-US" dirty="0"/>
              <a:t>   symptom of the small sample.                                                                                                                                                </a:t>
            </a:r>
          </a:p>
          <a:p>
            <a:r>
              <a:rPr lang="en-US" dirty="0"/>
              <a:t>                                                                                                                                                                               </a:t>
            </a:r>
          </a:p>
          <a:p>
            <a:r>
              <a:rPr lang="en-US" dirty="0"/>
              <a:t>  By macroeconomic panel forecasting standards — not particularly. IMF working papers and World Bank studies routinely use panels of 15–30 countries over 10–20 years. 22      </a:t>
            </a:r>
          </a:p>
          <a:p>
            <a:r>
              <a:rPr lang="en-US" dirty="0"/>
              <a:t>  countries × 19 years is a standard-sized panel in that literature. The models also aren't being asked to learn from scratch — WDI indicators are well-structured, low-noise  </a:t>
            </a:r>
          </a:p>
          <a:p>
            <a:r>
              <a:rPr lang="en-US" dirty="0"/>
              <a:t>  inputs.                                                                                                                                                                      </a:t>
            </a:r>
          </a:p>
          <a:p>
            <a:r>
              <a:rPr lang="en-US" dirty="0"/>
              <a:t>                                                            </a:t>
            </a:r>
          </a:p>
          <a:p>
            <a:r>
              <a:rPr lang="en-US" dirty="0"/>
              <a:t>  The real constraint is the test set. 40 test samples, 2 per country, is the actual problem. With 2 observations per country you can't make statistically confident           </a:t>
            </a:r>
          </a:p>
          <a:p>
            <a:r>
              <a:rPr lang="en-US" dirty="0"/>
              <a:t>  per-country claims — one unusual year (e.g. TUR 2022 with 80% inflation) dominates that country's MSE entirely. The overall test metrics are directionally meaningful but the</a:t>
            </a:r>
          </a:p>
          <a:p>
            <a:r>
              <a:rPr lang="en-US" dirty="0"/>
              <a:t>   variance is high.                                                                                                                                                           </a:t>
            </a:r>
          </a:p>
          <a:p>
            <a:r>
              <a:rPr lang="en-US" dirty="0"/>
              <a:t>                                                            </a:t>
            </a:r>
          </a:p>
          <a:p>
            <a:r>
              <a:rPr lang="en-US" dirty="0"/>
              <a:t>  So the more precise framing for the slides — which is already in Finding #4 — is: not that the dataset is small in absolute terms, but that 2 test years per country limits  </a:t>
            </a:r>
          </a:p>
          <a:p>
            <a:r>
              <a:rPr lang="en-US" dirty="0"/>
              <a:t>  statistical conclusiveness. That's a more specific and defensible statement than just calling it "small."</a:t>
            </a:r>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46304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10972800" cy="731520"/>
          </a:xfrm>
          <a:prstGeom prst="rect">
            <a:avLst/>
          </a:prstGeom>
          <a:noFill/>
        </p:spPr>
        <p:txBody>
          <a:bodyPr wrap="square">
            <a:spAutoFit/>
          </a:bodyPr>
          <a:lstStyle/>
          <a:p>
            <a:pPr algn="l"/>
            <a:r>
              <a:rPr sz="3200" b="1" i="0">
                <a:solidFill>
                  <a:srgbClr val="FFFFFF"/>
                </a:solidFill>
              </a:rPr>
              <a:t>Macro Forecasting with IMF Text</a:t>
            </a:r>
          </a:p>
        </p:txBody>
      </p:sp>
      <p:sp>
        <p:nvSpPr>
          <p:cNvPr id="5" name="TextBox 4"/>
          <p:cNvSpPr txBox="1"/>
          <p:nvPr/>
        </p:nvSpPr>
        <p:spPr>
          <a:xfrm>
            <a:off x="457200" y="868680"/>
            <a:ext cx="10972800" cy="411480"/>
          </a:xfrm>
          <a:prstGeom prst="rect">
            <a:avLst/>
          </a:prstGeom>
          <a:noFill/>
        </p:spPr>
        <p:txBody>
          <a:bodyPr wrap="square">
            <a:spAutoFit/>
          </a:bodyPr>
          <a:lstStyle/>
          <a:p>
            <a:pPr algn="l"/>
            <a:r>
              <a:rPr sz="1100" b="0" i="0">
                <a:solidFill>
                  <a:srgbClr val="BBCCDD"/>
                </a:solidFill>
              </a:rPr>
              <a:t>Final Report  ·  STAT 8240 Data Mining II  ·  Kennesaw State University  ·  April 2025</a:t>
            </a:r>
          </a:p>
        </p:txBody>
      </p:sp>
      <p:sp>
        <p:nvSpPr>
          <p:cNvPr id="6" name="Rectangle 5"/>
          <p:cNvSpPr/>
          <p:nvPr/>
        </p:nvSpPr>
        <p:spPr>
          <a:xfrm>
            <a:off x="457200" y="1737360"/>
            <a:ext cx="11274552" cy="64008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828800"/>
            <a:ext cx="10972800" cy="502920"/>
          </a:xfrm>
          <a:prstGeom prst="rect">
            <a:avLst/>
          </a:prstGeom>
          <a:noFill/>
        </p:spPr>
        <p:txBody>
          <a:bodyPr wrap="square">
            <a:spAutoFit/>
          </a:bodyPr>
          <a:lstStyle/>
          <a:p>
            <a:pPr algn="l"/>
            <a:r>
              <a:rPr sz="1300" b="0" i="1">
                <a:solidFill>
                  <a:srgbClr val="FFFFFF"/>
                </a:solidFill>
              </a:rPr>
              <a:t>Does IMF Article IV staff report text improve macroeconomic forecasts over numerical-only baselines?</a:t>
            </a:r>
          </a:p>
        </p:txBody>
      </p:sp>
      <p:sp>
        <p:nvSpPr>
          <p:cNvPr id="8" name="Rectangle 7"/>
          <p:cNvSpPr/>
          <p:nvPr/>
        </p:nvSpPr>
        <p:spPr>
          <a:xfrm>
            <a:off x="91440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2880360"/>
            <a:ext cx="2926080" cy="914400"/>
          </a:xfrm>
          <a:prstGeom prst="rect">
            <a:avLst/>
          </a:prstGeom>
          <a:noFill/>
        </p:spPr>
        <p:txBody>
          <a:bodyPr wrap="square">
            <a:spAutoFit/>
          </a:bodyPr>
          <a:lstStyle/>
          <a:p>
            <a:pPr algn="ctr"/>
            <a:r>
              <a:rPr sz="4000" b="1" i="0">
                <a:solidFill>
                  <a:srgbClr val="2D4A7A"/>
                </a:solidFill>
              </a:rPr>
              <a:t>22</a:t>
            </a:r>
          </a:p>
        </p:txBody>
      </p:sp>
      <p:sp>
        <p:nvSpPr>
          <p:cNvPr id="10" name="TextBox 9"/>
          <p:cNvSpPr txBox="1"/>
          <p:nvPr/>
        </p:nvSpPr>
        <p:spPr>
          <a:xfrm>
            <a:off x="1051560" y="3749039"/>
            <a:ext cx="2926080" cy="411480"/>
          </a:xfrm>
          <a:prstGeom prst="rect">
            <a:avLst/>
          </a:prstGeom>
          <a:noFill/>
        </p:spPr>
        <p:txBody>
          <a:bodyPr wrap="square">
            <a:spAutoFit/>
          </a:bodyPr>
          <a:lstStyle/>
          <a:p>
            <a:pPr algn="ctr"/>
            <a:r>
              <a:rPr sz="1300" b="1" i="0">
                <a:solidFill>
                  <a:srgbClr val="1A1A2E"/>
                </a:solidFill>
              </a:rPr>
              <a:t>countries</a:t>
            </a:r>
          </a:p>
        </p:txBody>
      </p:sp>
      <p:sp>
        <p:nvSpPr>
          <p:cNvPr id="11" name="TextBox 10"/>
          <p:cNvSpPr txBox="1"/>
          <p:nvPr/>
        </p:nvSpPr>
        <p:spPr>
          <a:xfrm>
            <a:off x="1051560" y="4160520"/>
            <a:ext cx="2926080" cy="548640"/>
          </a:xfrm>
          <a:prstGeom prst="rect">
            <a:avLst/>
          </a:prstGeom>
          <a:noFill/>
        </p:spPr>
        <p:txBody>
          <a:bodyPr wrap="square">
            <a:spAutoFit/>
          </a:bodyPr>
          <a:lstStyle/>
          <a:p>
            <a:pPr algn="ctr"/>
            <a:r>
              <a:rPr sz="1000" b="0" i="0">
                <a:solidFill>
                  <a:srgbClr val="222A3A"/>
                </a:solidFill>
              </a:rPr>
              <a:t>Central Asia + ECA + anchors</a:t>
            </a:r>
          </a:p>
        </p:txBody>
      </p:sp>
      <p:sp>
        <p:nvSpPr>
          <p:cNvPr id="12" name="Rectangle 11"/>
          <p:cNvSpPr/>
          <p:nvPr/>
        </p:nvSpPr>
        <p:spPr>
          <a:xfrm>
            <a:off x="438912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26280" y="2880360"/>
            <a:ext cx="2926080" cy="914400"/>
          </a:xfrm>
          <a:prstGeom prst="rect">
            <a:avLst/>
          </a:prstGeom>
          <a:noFill/>
        </p:spPr>
        <p:txBody>
          <a:bodyPr wrap="square">
            <a:spAutoFit/>
          </a:bodyPr>
          <a:lstStyle/>
          <a:p>
            <a:pPr algn="ctr"/>
            <a:r>
              <a:rPr sz="4000" b="1" i="0">
                <a:solidFill>
                  <a:srgbClr val="2D4A7A"/>
                </a:solidFill>
              </a:rPr>
              <a:t>240</a:t>
            </a:r>
          </a:p>
        </p:txBody>
      </p:sp>
      <p:sp>
        <p:nvSpPr>
          <p:cNvPr id="14" name="TextBox 13"/>
          <p:cNvSpPr txBox="1"/>
          <p:nvPr/>
        </p:nvSpPr>
        <p:spPr>
          <a:xfrm>
            <a:off x="4526280" y="3749039"/>
            <a:ext cx="2926080" cy="411480"/>
          </a:xfrm>
          <a:prstGeom prst="rect">
            <a:avLst/>
          </a:prstGeom>
          <a:noFill/>
        </p:spPr>
        <p:txBody>
          <a:bodyPr wrap="square">
            <a:spAutoFit/>
          </a:bodyPr>
          <a:lstStyle/>
          <a:p>
            <a:pPr algn="ctr"/>
            <a:r>
              <a:rPr sz="1300" b="1" i="0">
                <a:solidFill>
                  <a:srgbClr val="1A1A2E"/>
                </a:solidFill>
              </a:rPr>
              <a:t>Article IV texts</a:t>
            </a:r>
          </a:p>
        </p:txBody>
      </p:sp>
      <p:sp>
        <p:nvSpPr>
          <p:cNvPr id="15" name="TextBox 14"/>
          <p:cNvSpPr txBox="1"/>
          <p:nvPr/>
        </p:nvSpPr>
        <p:spPr>
          <a:xfrm>
            <a:off x="4526280" y="4160520"/>
            <a:ext cx="2926080" cy="548640"/>
          </a:xfrm>
          <a:prstGeom prst="rect">
            <a:avLst/>
          </a:prstGeom>
          <a:noFill/>
        </p:spPr>
        <p:txBody>
          <a:bodyPr wrap="square">
            <a:spAutoFit/>
          </a:bodyPr>
          <a:lstStyle/>
          <a:p>
            <a:pPr algn="ctr"/>
            <a:r>
              <a:rPr sz="1000" b="0" i="0">
                <a:solidFill>
                  <a:srgbClr val="222A3A"/>
                </a:solidFill>
              </a:rPr>
              <a:t>57% coverage  ·  OpenAI embedded</a:t>
            </a:r>
          </a:p>
        </p:txBody>
      </p:sp>
      <p:sp>
        <p:nvSpPr>
          <p:cNvPr id="16" name="Rectangle 15"/>
          <p:cNvSpPr/>
          <p:nvPr/>
        </p:nvSpPr>
        <p:spPr>
          <a:xfrm>
            <a:off x="786384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01000" y="2880360"/>
            <a:ext cx="2926080" cy="914400"/>
          </a:xfrm>
          <a:prstGeom prst="rect">
            <a:avLst/>
          </a:prstGeom>
          <a:noFill/>
        </p:spPr>
        <p:txBody>
          <a:bodyPr wrap="square">
            <a:spAutoFit/>
          </a:bodyPr>
          <a:lstStyle/>
          <a:p>
            <a:pPr algn="ctr"/>
            <a:r>
              <a:rPr sz="4000" b="1" i="0">
                <a:solidFill>
                  <a:srgbClr val="2D4A7A"/>
                </a:solidFill>
              </a:rPr>
              <a:t>97%</a:t>
            </a:r>
          </a:p>
        </p:txBody>
      </p:sp>
      <p:sp>
        <p:nvSpPr>
          <p:cNvPr id="18" name="TextBox 17"/>
          <p:cNvSpPr txBox="1"/>
          <p:nvPr/>
        </p:nvSpPr>
        <p:spPr>
          <a:xfrm>
            <a:off x="8001000" y="3749039"/>
            <a:ext cx="2926080" cy="411480"/>
          </a:xfrm>
          <a:prstGeom prst="rect">
            <a:avLst/>
          </a:prstGeom>
          <a:noFill/>
        </p:spPr>
        <p:txBody>
          <a:bodyPr wrap="square">
            <a:spAutoFit/>
          </a:bodyPr>
          <a:lstStyle/>
          <a:p>
            <a:pPr algn="ctr"/>
            <a:r>
              <a:rPr sz="1300" b="1" i="0">
                <a:solidFill>
                  <a:srgbClr val="1A1A2E"/>
                </a:solidFill>
              </a:rPr>
              <a:t>MSE reduction</a:t>
            </a:r>
          </a:p>
        </p:txBody>
      </p:sp>
      <p:sp>
        <p:nvSpPr>
          <p:cNvPr id="19" name="TextBox 18"/>
          <p:cNvSpPr txBox="1"/>
          <p:nvPr/>
        </p:nvSpPr>
        <p:spPr>
          <a:xfrm>
            <a:off x="8001000" y="4160520"/>
            <a:ext cx="2926080" cy="548640"/>
          </a:xfrm>
          <a:prstGeom prst="rect">
            <a:avLst/>
          </a:prstGeom>
          <a:noFill/>
        </p:spPr>
        <p:txBody>
          <a:bodyPr wrap="square">
            <a:spAutoFit/>
          </a:bodyPr>
          <a:lstStyle/>
          <a:p>
            <a:pPr algn="ctr"/>
            <a:r>
              <a:rPr sz="1000" b="0" i="0">
                <a:solidFill>
                  <a:srgbClr val="222A3A"/>
                </a:solidFill>
              </a:rPr>
              <a:t>GR-Add MMF vs persistence baseline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Data Overview</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World Bank WDI  +  IMF Article IV Staff Reports</a:t>
            </a:r>
          </a:p>
        </p:txBody>
      </p:sp>
      <p:sp>
        <p:nvSpPr>
          <p:cNvPr id="6" name="Rectangle 5"/>
          <p:cNvSpPr/>
          <p:nvPr/>
        </p:nvSpPr>
        <p:spPr>
          <a:xfrm>
            <a:off x="365760" y="1325880"/>
            <a:ext cx="54864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4864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349240" cy="256032"/>
          </a:xfrm>
          <a:prstGeom prst="rect">
            <a:avLst/>
          </a:prstGeom>
          <a:noFill/>
        </p:spPr>
        <p:txBody>
          <a:bodyPr wrap="square">
            <a:spAutoFit/>
          </a:bodyPr>
          <a:lstStyle/>
          <a:p>
            <a:pPr algn="l"/>
            <a:r>
              <a:rPr sz="1000" b="1" i="0">
                <a:solidFill>
                  <a:srgbClr val="FFFFFF"/>
                </a:solidFill>
              </a:rPr>
              <a:t>NUMERICAL STREAM — World Bank WDI</a:t>
            </a:r>
          </a:p>
        </p:txBody>
      </p:sp>
      <p:sp>
        <p:nvSpPr>
          <p:cNvPr id="9" name="TextBox 8"/>
          <p:cNvSpPr txBox="1"/>
          <p:nvPr/>
        </p:nvSpPr>
        <p:spPr>
          <a:xfrm>
            <a:off x="457200" y="1709928"/>
            <a:ext cx="5349240" cy="1938528"/>
          </a:xfrm>
          <a:prstGeom prst="rect">
            <a:avLst/>
          </a:prstGeom>
          <a:noFill/>
        </p:spPr>
        <p:txBody>
          <a:bodyPr wrap="square">
            <a:spAutoFit/>
          </a:bodyPr>
          <a:lstStyle/>
          <a:p>
            <a:pPr algn="l"/>
            <a:r>
              <a:rPr sz="1050">
                <a:solidFill>
                  <a:srgbClr val="222A3A"/>
                </a:solidFill>
              </a:rPr>
              <a:t>7 indicators per country per year (2005–2023):</a:t>
            </a:r>
          </a:p>
          <a:p>
            <a:pPr algn="l"/>
            <a:r>
              <a:rPr sz="1050">
                <a:solidFill>
                  <a:srgbClr val="222A3A"/>
                </a:solidFill>
              </a:rPr>
              <a:t>  · GDP growth rate          · CPI inflation</a:t>
            </a:r>
          </a:p>
          <a:p>
            <a:pPr algn="l"/>
            <a:r>
              <a:rPr sz="1050">
                <a:solidFill>
                  <a:srgbClr val="222A3A"/>
                </a:solidFill>
              </a:rPr>
              <a:t>  · Current account (% GDP)  · Fiscal balance (% GDP)</a:t>
            </a:r>
          </a:p>
          <a:p>
            <a:pPr algn="l"/>
            <a:r>
              <a:rPr sz="1050">
                <a:solidFill>
                  <a:srgbClr val="222A3A"/>
                </a:solidFill>
              </a:rPr>
              <a:t>  · Remittances (% GDP)      · Unemployment rate</a:t>
            </a:r>
          </a:p>
          <a:p>
            <a:pPr algn="l"/>
            <a:r>
              <a:rPr sz="1050">
                <a:solidFill>
                  <a:srgbClr val="222A3A"/>
                </a:solidFill>
              </a:rPr>
              <a:t>  · Government debt (% GDP)</a:t>
            </a:r>
          </a:p>
          <a:p>
            <a:pPr algn="l"/>
            <a:endParaRPr sz="1050">
              <a:solidFill>
                <a:srgbClr val="222A3A"/>
              </a:solidFill>
            </a:endParaRPr>
          </a:p>
          <a:p>
            <a:pPr algn="l"/>
            <a:r>
              <a:rPr sz="1050">
                <a:solidFill>
                  <a:srgbClr val="222A3A"/>
                </a:solidFill>
              </a:rPr>
              <a:t>Missing values → zero-filled + binary mask (no imputation)</a:t>
            </a:r>
          </a:p>
          <a:p>
            <a:pPr algn="l"/>
            <a:r>
              <a:rPr sz="1050">
                <a:solidFill>
                  <a:srgbClr val="222A3A"/>
                </a:solidFill>
              </a:rPr>
              <a:t>Genuine gaps: govt debt (315 missing), fiscal balance (166 missing)</a:t>
            </a:r>
          </a:p>
        </p:txBody>
      </p:sp>
      <p:sp>
        <p:nvSpPr>
          <p:cNvPr id="10" name="Rectangle 9"/>
          <p:cNvSpPr/>
          <p:nvPr/>
        </p:nvSpPr>
        <p:spPr>
          <a:xfrm>
            <a:off x="6217920" y="1325880"/>
            <a:ext cx="557784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TEXT STREAM — IMF Article IV Reports</a:t>
            </a:r>
          </a:p>
        </p:txBody>
      </p:sp>
      <p:sp>
        <p:nvSpPr>
          <p:cNvPr id="13" name="TextBox 12"/>
          <p:cNvSpPr txBox="1"/>
          <p:nvPr/>
        </p:nvSpPr>
        <p:spPr>
          <a:xfrm>
            <a:off x="6309359" y="1709928"/>
            <a:ext cx="5440679" cy="1938528"/>
          </a:xfrm>
          <a:prstGeom prst="rect">
            <a:avLst/>
          </a:prstGeom>
          <a:noFill/>
        </p:spPr>
        <p:txBody>
          <a:bodyPr wrap="square">
            <a:spAutoFit/>
          </a:bodyPr>
          <a:lstStyle/>
          <a:p>
            <a:pPr algn="l"/>
            <a:r>
              <a:rPr sz="1050">
                <a:solidFill>
                  <a:srgbClr val="222A3A"/>
                </a:solidFill>
              </a:rPr>
              <a:t>240 real texts  ·  57% coverage (418 possible country-years)</a:t>
            </a:r>
          </a:p>
          <a:p>
            <a:pPr algn="l"/>
            <a:endParaRPr sz="1050">
              <a:solidFill>
                <a:srgbClr val="222A3A"/>
              </a:solidFill>
            </a:endParaRPr>
          </a:p>
          <a:p>
            <a:pPr algn="l"/>
            <a:r>
              <a:rPr sz="1050">
                <a:solidFill>
                  <a:srgbClr val="222A3A"/>
                </a:solidFill>
              </a:rPr>
              <a:t>Gaps are genuine:</a:t>
            </a:r>
          </a:p>
          <a:p>
            <a:pPr algn="l"/>
            <a:r>
              <a:rPr sz="1050">
                <a:solidFill>
                  <a:srgbClr val="222A3A"/>
                </a:solidFill>
              </a:rPr>
              <a:t>  · Turkmenistan — never publishes publicly (0/19)</a:t>
            </a:r>
          </a:p>
          <a:p>
            <a:pPr algn="l"/>
            <a:r>
              <a:rPr sz="1050">
                <a:solidFill>
                  <a:srgbClr val="222A3A"/>
                </a:solidFill>
              </a:rPr>
              <a:t>  · Biennial IMF programs — ARM, MDA, GEO, KGZ, UZB, TJK</a:t>
            </a:r>
          </a:p>
          <a:p>
            <a:pPr algn="l"/>
            <a:r>
              <a:rPr sz="1050">
                <a:solidFill>
                  <a:srgbClr val="222A3A"/>
                </a:solidFill>
              </a:rPr>
              <a:t>  · Political: BLR &amp; UKR suspended in recent years</a:t>
            </a:r>
          </a:p>
          <a:p>
            <a:pPr algn="l"/>
            <a:endParaRPr sz="1050">
              <a:solidFill>
                <a:srgbClr val="222A3A"/>
              </a:solidFill>
            </a:endParaRPr>
          </a:p>
          <a:p>
            <a:pPr algn="l"/>
            <a:r>
              <a:rPr sz="1050">
                <a:solidFill>
                  <a:srgbClr val="222A3A"/>
                </a:solidFill>
              </a:rPr>
              <a:t>Text: pages 1–6 extracted (Executive Summary + Staff Appraisal)</a:t>
            </a:r>
          </a:p>
        </p:txBody>
      </p:sp>
      <p:sp>
        <p:nvSpPr>
          <p:cNvPr id="14" name="Rectangle 13"/>
          <p:cNvSpPr/>
          <p:nvPr/>
        </p:nvSpPr>
        <p:spPr>
          <a:xfrm>
            <a:off x="365760" y="3886200"/>
            <a:ext cx="11430000" cy="1691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65760" y="3886200"/>
            <a:ext cx="114300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931920"/>
            <a:ext cx="11292840" cy="256032"/>
          </a:xfrm>
          <a:prstGeom prst="rect">
            <a:avLst/>
          </a:prstGeom>
          <a:noFill/>
        </p:spPr>
        <p:txBody>
          <a:bodyPr wrap="square">
            <a:spAutoFit/>
          </a:bodyPr>
          <a:lstStyle/>
          <a:p>
            <a:pPr algn="l"/>
            <a:r>
              <a:rPr sz="1000" b="1" i="0">
                <a:solidFill>
                  <a:srgbClr val="FFFFFF"/>
                </a:solidFill>
              </a:rPr>
              <a:t>22 COUNTRIES</a:t>
            </a:r>
          </a:p>
        </p:txBody>
      </p:sp>
      <p:sp>
        <p:nvSpPr>
          <p:cNvPr id="17" name="TextBox 16"/>
          <p:cNvSpPr txBox="1"/>
          <p:nvPr/>
        </p:nvSpPr>
        <p:spPr>
          <a:xfrm>
            <a:off x="457200" y="4270248"/>
            <a:ext cx="11292840" cy="1252728"/>
          </a:xfrm>
          <a:prstGeom prst="rect">
            <a:avLst/>
          </a:prstGeom>
          <a:noFill/>
        </p:spPr>
        <p:txBody>
          <a:bodyPr wrap="square">
            <a:spAutoFit/>
          </a:bodyPr>
          <a:lstStyle/>
          <a:p>
            <a:pPr algn="l"/>
            <a:r>
              <a:rPr sz="1050">
                <a:solidFill>
                  <a:srgbClr val="222A3A"/>
                </a:solidFill>
              </a:rPr>
              <a:t>Central Asia:    KAZ  KGZ  TJK  TKM  UZB  AZE  ARM  GEO  MDA  BLR  UKR  MNG</a:t>
            </a:r>
          </a:p>
          <a:p>
            <a:pPr algn="l"/>
            <a:r>
              <a:rPr sz="1050">
                <a:solidFill>
                  <a:srgbClr val="222A3A"/>
                </a:solidFill>
              </a:rPr>
              <a:t>Eastern Europe:  ALB  BIH  MKD  SRB  TUR  ROU  BGR  HRV</a:t>
            </a:r>
          </a:p>
          <a:p>
            <a:pPr algn="l"/>
            <a:r>
              <a:rPr sz="1050">
                <a:solidFill>
                  <a:srgbClr val="222A3A"/>
                </a:solidFill>
              </a:rPr>
              <a:t>Anchors:         USA  JPN</a:t>
            </a:r>
          </a:p>
          <a:p>
            <a:pPr algn="l"/>
            <a:endParaRPr sz="1050">
              <a:solidFill>
                <a:srgbClr val="222A3A"/>
              </a:solidFill>
            </a:endParaRPr>
          </a:p>
          <a:p>
            <a:pPr algn="l"/>
            <a:r>
              <a:rPr sz="1050">
                <a:solidFill>
                  <a:srgbClr val="222A3A"/>
                </a:solidFill>
              </a:rPr>
              <a:t>Train 2005–2019 (102 samples)  ·  Val 2020–2021 (40)  ·  Test 2022–2023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Model Architecture &amp; Equations</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DLinear  ·  NumericalGRU  ·  RecAvg TTF  ·  GR-Add MMF</a:t>
            </a:r>
          </a:p>
        </p:txBody>
      </p:sp>
      <p:sp>
        <p:nvSpPr>
          <p:cNvPr id="6" name="Rectangle 5"/>
          <p:cNvSpPr/>
          <p:nvPr/>
        </p:nvSpPr>
        <p:spPr>
          <a:xfrm>
            <a:off x="365760" y="1325880"/>
            <a:ext cx="5303520" cy="1508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035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166359" cy="256032"/>
          </a:xfrm>
          <a:prstGeom prst="rect">
            <a:avLst/>
          </a:prstGeom>
          <a:noFill/>
        </p:spPr>
        <p:txBody>
          <a:bodyPr wrap="square">
            <a:spAutoFit/>
          </a:bodyPr>
          <a:lstStyle/>
          <a:p>
            <a:pPr algn="l"/>
            <a:r>
              <a:rPr sz="1000" b="1" i="0">
                <a:solidFill>
                  <a:srgbClr val="FFFFFF"/>
                </a:solidFill>
              </a:rPr>
              <a:t>DLINEAR  (unimodal baseline)</a:t>
            </a:r>
          </a:p>
        </p:txBody>
      </p:sp>
      <p:sp>
        <p:nvSpPr>
          <p:cNvPr id="9" name="TextBox 8"/>
          <p:cNvSpPr txBox="1"/>
          <p:nvPr/>
        </p:nvSpPr>
        <p:spPr>
          <a:xfrm>
            <a:off x="457200" y="1709928"/>
            <a:ext cx="5166359" cy="10698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10" name="TextBox 9"/>
              <p:cNvSpPr txBox="1"/>
              <p:nvPr/>
            </p:nvSpPr>
            <p:spPr>
              <a:xfrm>
                <a:off x="502920" y="1737360"/>
                <a:ext cx="5029200" cy="261610"/>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sSub>
                        <m:sSubPr>
                          <m:ctrlPr>
                            <a:rPr lang="en-US" sz="1100" b="0" i="1" dirty="0" smtClean="0">
                              <a:solidFill>
                                <a:srgbClr val="B88600"/>
                              </a:solidFill>
                              <a:latin typeface="Cambria Math" panose="02040503050406030204" pitchFamily="18" charset="0"/>
                            </a:rPr>
                          </m:ctrlPr>
                        </m:sSubPr>
                        <m:e>
                          <m:r>
                            <a:rPr lang="en-US" sz="1100" b="0" i="1" dirty="0" smtClean="0">
                              <a:solidFill>
                                <a:srgbClr val="B88600"/>
                              </a:solidFill>
                              <a:latin typeface="Cambria Math" panose="02040503050406030204" pitchFamily="18" charset="0"/>
                            </a:rPr>
                            <m:t>𝑦</m:t>
                          </m:r>
                        </m:e>
                        <m:sub>
                          <m:r>
                            <a:rPr lang="en-US" sz="1100" b="0" i="1" dirty="0" smtClean="0">
                              <a:solidFill>
                                <a:srgbClr val="B88600"/>
                              </a:solidFill>
                              <a:latin typeface="Cambria Math" panose="02040503050406030204" pitchFamily="18" charset="0"/>
                            </a:rPr>
                            <m:t>h</m:t>
                          </m:r>
                        </m:sub>
                      </m:sSub>
                      <m:r>
                        <a:rPr lang="en-US" sz="1100" b="0" i="1" dirty="0" smtClean="0">
                          <a:solidFill>
                            <a:srgbClr val="B88600"/>
                          </a:solidFill>
                          <a:latin typeface="Cambria Math" panose="02040503050406030204" pitchFamily="18" charset="0"/>
                        </a:rPr>
                        <m:t>𝑎𝑡</m:t>
                      </m:r>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𝑊</m:t>
                          </m:r>
                        </m:e>
                        <m:sub>
                          <m:r>
                            <a:rPr lang="en-US" sz="1100" b="0" i="1" dirty="0" err="1">
                              <a:solidFill>
                                <a:srgbClr val="B88600"/>
                              </a:solidFill>
                              <a:latin typeface="Cambria Math" panose="02040503050406030204" pitchFamily="18" charset="0"/>
                            </a:rPr>
                            <m:t>𝑡</m:t>
                          </m:r>
                        </m:sub>
                      </m:sSub>
                      <m:r>
                        <a:rPr lang="en-US" sz="1100" b="0" i="1" dirty="0" err="1">
                          <a:solidFill>
                            <a:srgbClr val="B88600"/>
                          </a:solidFill>
                          <a:latin typeface="Cambria Math" panose="02040503050406030204" pitchFamily="18" charset="0"/>
                        </a:rPr>
                        <m:t>𝑟𝑒𝑛𝑑</m:t>
                      </m:r>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𝑡𝑟𝑒𝑛𝑑</m:t>
                      </m:r>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𝑋</m:t>
                          </m:r>
                        </m:e>
                      </m:d>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𝑊</m:t>
                          </m:r>
                        </m:e>
                        <m:sub>
                          <m:r>
                            <a:rPr lang="en-US" sz="1100" b="0" i="1" dirty="0" err="1">
                              <a:solidFill>
                                <a:srgbClr val="B88600"/>
                              </a:solidFill>
                              <a:latin typeface="Cambria Math" panose="02040503050406030204" pitchFamily="18" charset="0"/>
                            </a:rPr>
                            <m:t>𝑠</m:t>
                          </m:r>
                        </m:sub>
                      </m:sSub>
                      <m:r>
                        <a:rPr lang="en-US" sz="1100" b="0" i="1" dirty="0" err="1">
                          <a:solidFill>
                            <a:srgbClr val="B88600"/>
                          </a:solidFill>
                          <a:latin typeface="Cambria Math" panose="02040503050406030204" pitchFamily="18" charset="0"/>
                        </a:rPr>
                        <m:t>𝑒𝑎𝑠𝑜𝑛</m:t>
                      </m:r>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𝑠𝑒𝑎𝑠𝑜𝑛</m:t>
                      </m:r>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𝑋</m:t>
                          </m:r>
                        </m:e>
                      </m:d>
                    </m:oMath>
                  </m:oMathPara>
                </a14:m>
              </a:p>
            </p:txBody>
          </p:sp>
        </mc:Choice>
        <mc:Fallback>
          <p:sp>
            <p:nvSpPr>
              <p:cNvPr id="10" name="TextBox 9"/>
              <p:cNvSpPr txBox="1">
                <a:spLocks noRot="1" noChangeAspect="1" noMove="1" noResize="1" noEditPoints="1" noAdjustHandles="1" noChangeArrowheads="1" noChangeShapeType="1" noTextEdit="1"/>
              </p:cNvSpPr>
              <p:nvPr/>
            </p:nvSpPr>
            <p:spPr>
              <a:xfrm>
                <a:off x="502920" y="1737360"/>
                <a:ext cx="5029200" cy="261610"/>
              </a:xfrm>
              <a:prstGeom prst="rect">
                <a:avLst/>
              </a:prstGeom>
              <a:blipFill>
                <a:blip r:embed="rId3"/>
                <a:stretch>
                  <a:fillRect b="-13636"/>
                </a:stretch>
              </a:blipFill>
            </p:spPr>
            <p:txBody>
              <a:bodyPr/>
              <a:lstStyle/>
              <a:p>
                <a:r>
                  <a:rPr lang="en-US">
                    <a:noFill/>
                  </a:rPr>
                  <a:t> </a:t>
                </a:r>
              </a:p>
            </p:txBody>
          </p:sp>
        </mc:Fallback>
      </mc:AlternateContent>
      <p:sp>
        <p:nvSpPr>
          <p:cNvPr id="11" name="TextBox 10"/>
          <p:cNvSpPr txBox="1"/>
          <p:nvPr/>
        </p:nvSpPr>
        <p:spPr>
          <a:xfrm>
            <a:off x="502920" y="2084831"/>
            <a:ext cx="5029200" cy="640080"/>
          </a:xfrm>
          <a:prstGeom prst="rect">
            <a:avLst/>
          </a:prstGeom>
          <a:noFill/>
        </p:spPr>
        <p:txBody>
          <a:bodyPr wrap="square">
            <a:spAutoFit/>
          </a:bodyPr>
          <a:lstStyle/>
          <a:p>
            <a:pPr algn="l"/>
            <a:r>
              <a:rPr sz="1000">
                <a:solidFill>
                  <a:srgbClr val="222A3A"/>
                </a:solidFill>
              </a:rPr>
              <a:t>Decomposes series into trend + seasonal, linear layer on each.</a:t>
            </a:r>
          </a:p>
          <a:p>
            <a:pPr algn="l"/>
            <a:r>
              <a:rPr sz="1000">
                <a:solidFill>
                  <a:srgbClr val="222A3A"/>
                </a:solidFill>
              </a:rPr>
              <a:t>Unimodal — numerical only.  664 parameters.</a:t>
            </a:r>
          </a:p>
        </p:txBody>
      </p:sp>
      <p:sp>
        <p:nvSpPr>
          <p:cNvPr id="12" name="Rectangle 11"/>
          <p:cNvSpPr/>
          <p:nvPr/>
        </p:nvSpPr>
        <p:spPr>
          <a:xfrm>
            <a:off x="6035040" y="1325880"/>
            <a:ext cx="5760720" cy="1508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035040" y="1325880"/>
            <a:ext cx="57607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79" y="1371600"/>
            <a:ext cx="5623559" cy="256032"/>
          </a:xfrm>
          <a:prstGeom prst="rect">
            <a:avLst/>
          </a:prstGeom>
          <a:noFill/>
        </p:spPr>
        <p:txBody>
          <a:bodyPr wrap="square">
            <a:spAutoFit/>
          </a:bodyPr>
          <a:lstStyle/>
          <a:p>
            <a:pPr algn="l"/>
            <a:r>
              <a:rPr sz="1000" b="1" i="0">
                <a:solidFill>
                  <a:srgbClr val="FFFFFF"/>
                </a:solidFill>
              </a:rPr>
              <a:t>NUMERICALGRU  (ablation)</a:t>
            </a:r>
          </a:p>
        </p:txBody>
      </p:sp>
      <p:sp>
        <p:nvSpPr>
          <p:cNvPr id="15" name="TextBox 14"/>
          <p:cNvSpPr txBox="1"/>
          <p:nvPr/>
        </p:nvSpPr>
        <p:spPr>
          <a:xfrm>
            <a:off x="6126479" y="1709928"/>
            <a:ext cx="5623559" cy="10698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16" name="TextBox 15"/>
              <p:cNvSpPr txBox="1"/>
              <p:nvPr/>
            </p:nvSpPr>
            <p:spPr>
              <a:xfrm>
                <a:off x="6172200" y="1737360"/>
                <a:ext cx="5486400" cy="261610"/>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sSub>
                        <m:sSubPr>
                          <m:ctrlPr>
                            <a:rPr lang="en-US" sz="1100" b="0" i="1" dirty="0" smtClean="0">
                              <a:solidFill>
                                <a:srgbClr val="B88600"/>
                              </a:solidFill>
                              <a:latin typeface="Cambria Math" panose="02040503050406030204" pitchFamily="18" charset="0"/>
                            </a:rPr>
                          </m:ctrlPr>
                        </m:sSubPr>
                        <m:e>
                          <m:r>
                            <a:rPr lang="en-US" sz="1100" b="0" i="1" dirty="0" smtClean="0">
                              <a:solidFill>
                                <a:srgbClr val="B88600"/>
                              </a:solidFill>
                              <a:latin typeface="Cambria Math" panose="02040503050406030204" pitchFamily="18" charset="0"/>
                            </a:rPr>
                            <m:t>h</m:t>
                          </m:r>
                        </m:e>
                        <m:sub>
                          <m:r>
                            <a:rPr lang="en-US" sz="1100" b="0" i="1" dirty="0" smtClean="0">
                              <a:solidFill>
                                <a:srgbClr val="B88600"/>
                              </a:solidFill>
                              <a:latin typeface="Cambria Math" panose="02040503050406030204" pitchFamily="18" charset="0"/>
                            </a:rPr>
                            <m:t>𝑡</m:t>
                          </m:r>
                        </m:sub>
                      </m:sSub>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𝐺𝑅𝑈</m:t>
                      </m:r>
                      <m:d>
                        <m:dPr>
                          <m:ctrlPr>
                            <a:rPr lang="en-US" sz="1100" b="0" i="1" dirty="0">
                              <a:solidFill>
                                <a:srgbClr val="B88600"/>
                              </a:solidFill>
                              <a:latin typeface="Cambria Math" panose="02040503050406030204" pitchFamily="18" charset="0"/>
                            </a:rPr>
                          </m:ctrlPr>
                        </m:dPr>
                        <m:e>
                          <m:d>
                            <m:dPr>
                              <m:begChr m:val="["/>
                              <m:endChr m:val="]"/>
                              <m:ctrlPr>
                                <a:rPr lang="en-US" sz="1100" b="0" i="1" dirty="0">
                                  <a:solidFill>
                                    <a:srgbClr val="B88600"/>
                                  </a:solidFill>
                                  <a:latin typeface="Cambria Math" panose="02040503050406030204" pitchFamily="18" charset="0"/>
                                </a:rPr>
                              </m:ctrlPr>
                            </m:dPr>
                            <m:e>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𝑥</m:t>
                                  </m:r>
                                </m:e>
                                <m:sub>
                                  <m:r>
                                    <a:rPr lang="en-US" sz="1100" b="0" i="1" dirty="0" err="1">
                                      <a:solidFill>
                                        <a:srgbClr val="B88600"/>
                                      </a:solidFill>
                                      <a:latin typeface="Cambria Math" panose="02040503050406030204" pitchFamily="18" charset="0"/>
                                    </a:rPr>
                                    <m:t>𝑡</m:t>
                                  </m:r>
                                </m:sub>
                              </m:sSub>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𝑚</m:t>
                                  </m:r>
                                </m:e>
                                <m:sub>
                                  <m:r>
                                    <a:rPr lang="en-US" sz="1100" b="0" i="1" dirty="0" err="1">
                                      <a:solidFill>
                                        <a:srgbClr val="B88600"/>
                                      </a:solidFill>
                                      <a:latin typeface="Cambria Math" panose="02040503050406030204" pitchFamily="18" charset="0"/>
                                    </a:rPr>
                                    <m:t>𝑡</m:t>
                                  </m:r>
                                </m:sub>
                              </m:sSub>
                              <m:r>
                                <a:rPr lang="en-US" sz="1100" b="0" i="1" dirty="0">
                                  <a:solidFill>
                                    <a:srgbClr val="B88600"/>
                                  </a:solidFill>
                                  <a:latin typeface="Cambria Math" panose="02040503050406030204" pitchFamily="18" charset="0"/>
                                </a:rPr>
                                <m:t>;</m:t>
                              </m:r>
                              <m:r>
                                <a:rPr lang="en-US" sz="1100" b="0" i="1" dirty="0" err="1">
                                  <a:solidFill>
                                    <a:srgbClr val="B88600"/>
                                  </a:solidFill>
                                  <a:latin typeface="Cambria Math" panose="02040503050406030204" pitchFamily="18" charset="0"/>
                                </a:rPr>
                                <m:t>𝑡𝑎</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𝑢</m:t>
                                  </m:r>
                                </m:e>
                                <m:sub>
                                  <m:r>
                                    <a:rPr lang="en-US" sz="1100" b="0" i="1" dirty="0" err="1">
                                      <a:solidFill>
                                        <a:srgbClr val="B88600"/>
                                      </a:solidFill>
                                      <a:latin typeface="Cambria Math" panose="02040503050406030204" pitchFamily="18" charset="0"/>
                                    </a:rPr>
                                    <m:t>𝑡</m:t>
                                  </m:r>
                                </m:sub>
                              </m:sSub>
                            </m:e>
                          </m:d>
                          <m:r>
                            <a:rPr lang="en-US" sz="1100" b="0" i="1" dirty="0">
                              <a:solidFill>
                                <a:srgbClr val="B88600"/>
                              </a:solidFill>
                              <a:latin typeface="Cambria Math" panose="02040503050406030204" pitchFamily="18" charset="0"/>
                            </a:rPr>
                            <m:t>,</m:t>
                          </m:r>
                          <m:sSub>
                            <m:sSubPr>
                              <m:ctrlPr>
                                <a:rPr lang="en-US" sz="1100" b="0" i="1" dirty="0">
                                  <a:solidFill>
                                    <a:srgbClr val="B88600"/>
                                  </a:solidFill>
                                  <a:latin typeface="Cambria Math" panose="02040503050406030204" pitchFamily="18" charset="0"/>
                                </a:rPr>
                              </m:ctrlPr>
                            </m:sSubPr>
                            <m:e>
                              <m:r>
                                <a:rPr lang="en-US" sz="1100" b="0" i="1" dirty="0">
                                  <a:solidFill>
                                    <a:srgbClr val="B88600"/>
                                  </a:solidFill>
                                  <a:latin typeface="Cambria Math" panose="02040503050406030204" pitchFamily="18" charset="0"/>
                                </a:rPr>
                                <m:t>h</m:t>
                              </m:r>
                            </m:e>
                            <m:sub>
                              <m:r>
                                <a:rPr lang="en-US" sz="1100" b="0" i="1" dirty="0">
                                  <a:solidFill>
                                    <a:srgbClr val="B88600"/>
                                  </a:solidFill>
                                  <a:latin typeface="Cambria Math" panose="02040503050406030204" pitchFamily="18" charset="0"/>
                                </a:rPr>
                                <m:t>𝑡</m:t>
                              </m:r>
                              <m:r>
                                <a:rPr lang="en-US" sz="1100" b="0" i="1" dirty="0">
                                  <a:solidFill>
                                    <a:srgbClr val="B88600"/>
                                  </a:solidFill>
                                  <a:latin typeface="Cambria Math" panose="02040503050406030204" pitchFamily="18" charset="0"/>
                                </a:rPr>
                                <m:t>−1</m:t>
                              </m:r>
                            </m:sub>
                          </m:sSub>
                        </m:e>
                      </m:d>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𝑦</m:t>
                          </m:r>
                        </m:e>
                        <m:sub>
                          <m:r>
                            <a:rPr lang="en-US" sz="1100" b="0" i="1" dirty="0" err="1">
                              <a:solidFill>
                                <a:srgbClr val="B88600"/>
                              </a:solidFill>
                              <a:latin typeface="Cambria Math" panose="02040503050406030204" pitchFamily="18" charset="0"/>
                            </a:rPr>
                            <m:t>h</m:t>
                          </m:r>
                        </m:sub>
                      </m:sSub>
                      <m:r>
                        <a:rPr lang="en-US" sz="1100" b="0" i="1" dirty="0" err="1">
                          <a:solidFill>
                            <a:srgbClr val="B88600"/>
                          </a:solidFill>
                          <a:latin typeface="Cambria Math" panose="02040503050406030204" pitchFamily="18" charset="0"/>
                        </a:rPr>
                        <m:t>𝑎𝑡</m:t>
                      </m:r>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𝑊</m:t>
                      </m:r>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h</m:t>
                          </m:r>
                        </m:e>
                        <m:sub>
                          <m:r>
                            <a:rPr lang="en-US" sz="1100" b="0" i="1" dirty="0" err="1">
                              <a:solidFill>
                                <a:srgbClr val="B88600"/>
                              </a:solidFill>
                              <a:latin typeface="Cambria Math" panose="02040503050406030204" pitchFamily="18" charset="0"/>
                            </a:rPr>
                            <m:t>𝑇</m:t>
                          </m:r>
                        </m:sub>
                      </m:sSub>
                    </m:oMath>
                  </m:oMathPara>
                </a14:m>
              </a:p>
            </p:txBody>
          </p:sp>
        </mc:Choice>
        <mc:Fallback>
          <p:sp>
            <p:nvSpPr>
              <p:cNvPr id="16" name="TextBox 15"/>
              <p:cNvSpPr txBox="1">
                <a:spLocks noRot="1" noChangeAspect="1" noMove="1" noResize="1" noEditPoints="1" noAdjustHandles="1" noChangeArrowheads="1" noChangeShapeType="1" noTextEdit="1"/>
              </p:cNvSpPr>
              <p:nvPr/>
            </p:nvSpPr>
            <p:spPr>
              <a:xfrm>
                <a:off x="6172200" y="1737360"/>
                <a:ext cx="5486400" cy="261610"/>
              </a:xfrm>
              <a:prstGeom prst="rect">
                <a:avLst/>
              </a:prstGeom>
              <a:blipFill>
                <a:blip r:embed="rId4"/>
                <a:stretch>
                  <a:fillRect b="-13636"/>
                </a:stretch>
              </a:blipFill>
            </p:spPr>
            <p:txBody>
              <a:bodyPr/>
              <a:lstStyle/>
              <a:p>
                <a:r>
                  <a:rPr lang="en-US">
                    <a:noFill/>
                  </a:rPr>
                  <a:t> </a:t>
                </a:r>
              </a:p>
            </p:txBody>
          </p:sp>
        </mc:Fallback>
      </mc:AlternateContent>
      <p:sp>
        <p:nvSpPr>
          <p:cNvPr id="17" name="TextBox 16"/>
          <p:cNvSpPr txBox="1"/>
          <p:nvPr/>
        </p:nvSpPr>
        <p:spPr>
          <a:xfrm>
            <a:off x="6172200" y="2084831"/>
            <a:ext cx="5486400" cy="640080"/>
          </a:xfrm>
          <a:prstGeom prst="rect">
            <a:avLst/>
          </a:prstGeom>
          <a:noFill/>
        </p:spPr>
        <p:txBody>
          <a:bodyPr wrap="square">
            <a:spAutoFit/>
          </a:bodyPr>
          <a:lstStyle/>
          <a:p>
            <a:pPr algn="l"/>
            <a:r>
              <a:rPr sz="1000">
                <a:solidFill>
                  <a:srgbClr val="222A3A"/>
                </a:solidFill>
              </a:rPr>
              <a:t>GRU over pre-aligned series (values + mask + timestamp, T+1 steps).</a:t>
            </a:r>
          </a:p>
          <a:p>
            <a:pPr algn="l"/>
            <a:r>
              <a:rPr sz="1000">
                <a:solidFill>
                  <a:srgbClr val="222A3A"/>
                </a:solidFill>
              </a:rPr>
              <a:t>Unimodal ablation.  15,682 parameters.</a:t>
            </a:r>
          </a:p>
        </p:txBody>
      </p:sp>
      <p:sp>
        <p:nvSpPr>
          <p:cNvPr id="18" name="Rectangle 17"/>
          <p:cNvSpPr/>
          <p:nvPr/>
        </p:nvSpPr>
        <p:spPr>
          <a:xfrm>
            <a:off x="365760" y="3017520"/>
            <a:ext cx="5303520" cy="2194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5760" y="3017520"/>
            <a:ext cx="53035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3063239"/>
            <a:ext cx="5166359" cy="256032"/>
          </a:xfrm>
          <a:prstGeom prst="rect">
            <a:avLst/>
          </a:prstGeom>
          <a:noFill/>
        </p:spPr>
        <p:txBody>
          <a:bodyPr wrap="square">
            <a:spAutoFit/>
          </a:bodyPr>
          <a:lstStyle/>
          <a:p>
            <a:pPr algn="l"/>
            <a:r>
              <a:rPr sz="1000" b="1" i="0">
                <a:solidFill>
                  <a:srgbClr val="FFFFFF"/>
                </a:solidFill>
              </a:rPr>
              <a:t>RECAVG TTF  (text context module)</a:t>
            </a:r>
          </a:p>
        </p:txBody>
      </p:sp>
      <p:sp>
        <p:nvSpPr>
          <p:cNvPr id="21" name="TextBox 20"/>
          <p:cNvSpPr txBox="1"/>
          <p:nvPr/>
        </p:nvSpPr>
        <p:spPr>
          <a:xfrm>
            <a:off x="457200" y="3401568"/>
            <a:ext cx="5166359" cy="17556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22" name="TextBox 21"/>
              <p:cNvSpPr txBox="1"/>
              <p:nvPr/>
            </p:nvSpPr>
            <p:spPr>
              <a:xfrm>
                <a:off x="1049887" y="3621023"/>
                <a:ext cx="3935265" cy="51732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a:rPr lang="en-US" sz="1100" b="0" i="1" dirty="0" smtClean="0">
                          <a:solidFill>
                            <a:srgbClr val="B88600"/>
                          </a:solidFill>
                          <a:latin typeface="Cambria Math" panose="02040503050406030204" pitchFamily="18" charset="0"/>
                        </a:rPr>
                        <m:t>𝑐</m:t>
                      </m:r>
                      <m:d>
                        <m:dPr>
                          <m:ctrlPr>
                            <a:rPr lang="en-US" sz="1100" b="0" i="1" dirty="0" smtClean="0">
                              <a:solidFill>
                                <a:srgbClr val="B88600"/>
                              </a:solidFill>
                              <a:latin typeface="Cambria Math" panose="02040503050406030204" pitchFamily="18" charset="0"/>
                            </a:rPr>
                          </m:ctrlPr>
                        </m:dPr>
                        <m:e>
                          <m:r>
                            <a:rPr lang="en-US" sz="1100" b="0" i="1" dirty="0" smtClean="0">
                              <a:solidFill>
                                <a:srgbClr val="B88600"/>
                              </a:solidFill>
                              <a:latin typeface="Cambria Math" panose="02040503050406030204" pitchFamily="18" charset="0"/>
                            </a:rPr>
                            <m:t>𝑡</m:t>
                          </m:r>
                          <m:r>
                            <a:rPr lang="en-US" sz="1100" b="0" i="1" dirty="0" smtClean="0">
                              <a:solidFill>
                                <a:srgbClr val="B88600"/>
                              </a:solidFill>
                              <a:latin typeface="Cambria Math" panose="02040503050406030204" pitchFamily="18" charset="0"/>
                            </a:rPr>
                            <m:t>∗</m:t>
                          </m:r>
                        </m:e>
                      </m:d>
                      <m:r>
                        <a:rPr lang="en-US" sz="1100" b="0" i="1" dirty="0" smtClean="0">
                          <a:solidFill>
                            <a:srgbClr val="B88600"/>
                          </a:solidFill>
                          <a:latin typeface="Cambria Math" panose="02040503050406030204" pitchFamily="18" charset="0"/>
                        </a:rPr>
                        <m:t>=</m:t>
                      </m:r>
                      <m:r>
                        <a:rPr lang="en-US" sz="1100" b="0" i="1" dirty="0" err="1">
                          <a:solidFill>
                            <a:srgbClr val="B88600"/>
                          </a:solidFill>
                          <a:latin typeface="Cambria Math" panose="02040503050406030204" pitchFamily="18" charset="0"/>
                        </a:rPr>
                        <m:t>𝑆𝑢</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𝑚</m:t>
                          </m:r>
                        </m:e>
                        <m:sub>
                          <m:r>
                            <a:rPr lang="en-US" sz="1100" b="0" i="1" dirty="0" err="1">
                              <a:solidFill>
                                <a:srgbClr val="B88600"/>
                              </a:solidFill>
                              <a:latin typeface="Cambria Math" panose="02040503050406030204" pitchFamily="18" charset="0"/>
                            </a:rPr>
                            <m:t>𝑖</m:t>
                          </m:r>
                        </m:sub>
                      </m:sSub>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𝑤</m:t>
                          </m:r>
                        </m:e>
                        <m:sub>
                          <m:r>
                            <a:rPr lang="en-US" sz="1100" b="0" i="1" dirty="0" err="1">
                              <a:solidFill>
                                <a:srgbClr val="B88600"/>
                              </a:solidFill>
                              <a:latin typeface="Cambria Math" panose="02040503050406030204" pitchFamily="18" charset="0"/>
                            </a:rPr>
                            <m:t>𝑖</m:t>
                          </m:r>
                        </m:sub>
                      </m:sSub>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𝑒</m:t>
                          </m:r>
                        </m:e>
                        <m:sub>
                          <m:r>
                            <a:rPr lang="en-US" sz="1100" b="0" i="1" dirty="0" err="1">
                              <a:solidFill>
                                <a:srgbClr val="B88600"/>
                              </a:solidFill>
                              <a:latin typeface="Cambria Math" panose="02040503050406030204" pitchFamily="18" charset="0"/>
                            </a:rPr>
                            <m:t>𝑖</m:t>
                          </m:r>
                        </m:sub>
                      </m:sSub>
                      <m:r>
                        <m:rPr>
                          <m:lit/>
                        </m:rPr>
                        <a:rPr lang="en-US" sz="1100" b="0" i="1" dirty="0">
                          <a:solidFill>
                            <a:srgbClr val="B88600"/>
                          </a:solidFill>
                          <a:latin typeface="Cambria Math" panose="02040503050406030204" pitchFamily="18" charset="0"/>
                        </a:rPr>
                        <m:t>/</m:t>
                      </m:r>
                      <m:r>
                        <a:rPr lang="en-US" sz="1100" b="0" i="1" dirty="0" err="1">
                          <a:solidFill>
                            <a:srgbClr val="B88600"/>
                          </a:solidFill>
                          <a:latin typeface="Cambria Math" panose="02040503050406030204" pitchFamily="18" charset="0"/>
                        </a:rPr>
                        <m:t>𝑆𝑢</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𝑚</m:t>
                          </m:r>
                        </m:e>
                        <m:sub>
                          <m:r>
                            <a:rPr lang="en-US" sz="1100" b="0" i="1" dirty="0" err="1">
                              <a:solidFill>
                                <a:srgbClr val="B88600"/>
                              </a:solidFill>
                              <a:latin typeface="Cambria Math" panose="02040503050406030204" pitchFamily="18" charset="0"/>
                            </a:rPr>
                            <m:t>𝑖</m:t>
                          </m:r>
                        </m:sub>
                      </m:sSub>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𝑤</m:t>
                          </m:r>
                        </m:e>
                        <m:sub>
                          <m:r>
                            <a:rPr lang="en-US" sz="1100" b="0" i="1" dirty="0" err="1">
                              <a:solidFill>
                                <a:srgbClr val="B88600"/>
                              </a:solidFill>
                              <a:latin typeface="Cambria Math" panose="02040503050406030204" pitchFamily="18" charset="0"/>
                            </a:rPr>
                            <m:t>𝑖</m:t>
                          </m:r>
                        </m:sub>
                      </m:sSub>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𝑤</m:t>
                          </m:r>
                        </m:e>
                        <m:sub>
                          <m:r>
                            <a:rPr lang="en-US" sz="1100" b="0" i="1" dirty="0" err="1">
                              <a:solidFill>
                                <a:srgbClr val="B88600"/>
                              </a:solidFill>
                              <a:latin typeface="Cambria Math" panose="02040503050406030204" pitchFamily="18" charset="0"/>
                            </a:rPr>
                            <m:t>𝑖</m:t>
                          </m:r>
                        </m:sub>
                      </m:sSub>
                      <m: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𝑒𝑥</m:t>
                      </m:r>
                      <m:func>
                        <m:funcPr>
                          <m:ctrlPr>
                            <a:rPr lang="en-US" sz="1100" b="0" i="1" dirty="0">
                              <a:solidFill>
                                <a:srgbClr val="B88600"/>
                              </a:solidFill>
                              <a:latin typeface="Cambria Math" panose="02040503050406030204" pitchFamily="18" charset="0"/>
                            </a:rPr>
                          </m:ctrlPr>
                        </m:funcPr>
                        <m:fName>
                          <m:r>
                            <a:rPr lang="en-US" sz="1100" b="0" i="1" dirty="0">
                              <a:solidFill>
                                <a:srgbClr val="B88600"/>
                              </a:solidFill>
                              <a:latin typeface="Cambria Math" panose="02040503050406030204" pitchFamily="18" charset="0"/>
                            </a:rPr>
                            <m:t>𝑝</m:t>
                          </m:r>
                        </m:fName>
                        <m:e>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m:t>
                              </m:r>
                              <m:sSup>
                                <m:sSupPr>
                                  <m:ctrlPr>
                                    <a:rPr lang="en-US" sz="1100" b="0" i="1" dirty="0">
                                      <a:solidFill>
                                        <a:srgbClr val="B88600"/>
                                      </a:solidFill>
                                      <a:latin typeface="Cambria Math" panose="02040503050406030204" pitchFamily="18" charset="0"/>
                                    </a:rPr>
                                  </m:ctrlPr>
                                </m:sSupPr>
                                <m:e>
                                  <m:d>
                                    <m:dPr>
                                      <m:ctrlPr>
                                        <a:rPr lang="en-US" sz="1100" b="0" i="1" dirty="0">
                                          <a:solidFill>
                                            <a:srgbClr val="B88600"/>
                                          </a:solidFill>
                                          <a:latin typeface="Cambria Math" panose="02040503050406030204" pitchFamily="18" charset="0"/>
                                        </a:rPr>
                                      </m:ctrlPr>
                                    </m:dPr>
                                    <m:e>
                                      <m:d>
                                        <m:dPr>
                                          <m:ctrlPr>
                                            <a:rPr lang="en-US" sz="1100" b="0" i="1" dirty="0">
                                              <a:solidFill>
                                                <a:srgbClr val="B88600"/>
                                              </a:solidFill>
                                              <a:latin typeface="Cambria Math" panose="02040503050406030204" pitchFamily="18" charset="0"/>
                                            </a:rPr>
                                          </m:ctrlPr>
                                        </m:dPr>
                                        <m:e>
                                          <m:r>
                                            <a:rPr lang="en-US" sz="1100" b="0" i="1" dirty="0">
                                              <a:solidFill>
                                                <a:srgbClr val="B88600"/>
                                              </a:solidFill>
                                              <a:latin typeface="Cambria Math" panose="02040503050406030204" pitchFamily="18" charset="0"/>
                                            </a:rPr>
                                            <m:t>𝑡</m:t>
                                          </m:r>
                                          <m:r>
                                            <a:rPr lang="en-US" sz="1100" b="0" i="1" dirty="0">
                                              <a:solidFill>
                                                <a:srgbClr val="B88600"/>
                                              </a:solidFill>
                                              <a:latin typeface="Cambria Math" panose="02040503050406030204" pitchFamily="18" charset="0"/>
                                            </a:rPr>
                                            <m:t>∗−</m:t>
                                          </m:r>
                                          <m:sSub>
                                            <m:sSubPr>
                                              <m:ctrlPr>
                                                <a:rPr lang="en-US" sz="1100" b="0" i="1" dirty="0" err="1">
                                                  <a:solidFill>
                                                    <a:srgbClr val="B88600"/>
                                                  </a:solidFill>
                                                  <a:latin typeface="Cambria Math" panose="02040503050406030204" pitchFamily="18" charset="0"/>
                                                </a:rPr>
                                              </m:ctrlPr>
                                            </m:sSubPr>
                                            <m:e>
                                              <m:r>
                                                <a:rPr lang="en-US" sz="1100" b="0" i="1" dirty="0" err="1">
                                                  <a:solidFill>
                                                    <a:srgbClr val="B88600"/>
                                                  </a:solidFill>
                                                  <a:latin typeface="Cambria Math" panose="02040503050406030204" pitchFamily="18" charset="0"/>
                                                </a:rPr>
                                                <m:t>𝑡</m:t>
                                              </m:r>
                                            </m:e>
                                            <m:sub>
                                              <m:r>
                                                <a:rPr lang="en-US" sz="1100" b="0" i="1" dirty="0" err="1">
                                                  <a:solidFill>
                                                    <a:srgbClr val="B88600"/>
                                                  </a:solidFill>
                                                  <a:latin typeface="Cambria Math" panose="02040503050406030204" pitchFamily="18" charset="0"/>
                                                </a:rPr>
                                                <m:t>𝑖</m:t>
                                              </m:r>
                                            </m:sub>
                                          </m:sSub>
                                        </m:e>
                                      </m:d>
                                      <m:r>
                                        <m:rPr>
                                          <m:lit/>
                                        </m:rPr>
                                        <a:rPr lang="en-US" sz="1100" b="0" i="1" dirty="0">
                                          <a:solidFill>
                                            <a:srgbClr val="B88600"/>
                                          </a:solidFill>
                                          <a:latin typeface="Cambria Math" panose="02040503050406030204" pitchFamily="18" charset="0"/>
                                        </a:rPr>
                                        <m:t>/</m:t>
                                      </m:r>
                                      <m:r>
                                        <a:rPr lang="en-US" sz="1100" b="0" i="1" dirty="0">
                                          <a:solidFill>
                                            <a:srgbClr val="B88600"/>
                                          </a:solidFill>
                                          <a:latin typeface="Cambria Math" panose="02040503050406030204" pitchFamily="18" charset="0"/>
                                        </a:rPr>
                                        <m:t>𝑠𝑖𝑔𝑚𝑎</m:t>
                                      </m:r>
                                    </m:e>
                                  </m:d>
                                </m:e>
                                <m:sup>
                                  <m:r>
                                    <a:rPr lang="en-US" sz="1100" b="0" i="1" dirty="0">
                                      <a:solidFill>
                                        <a:srgbClr val="B88600"/>
                                      </a:solidFill>
                                      <a:latin typeface="Cambria Math" panose="02040503050406030204" pitchFamily="18" charset="0"/>
                                    </a:rPr>
                                    <m:t>2</m:t>
                                  </m:r>
                                </m:sup>
                              </m:sSup>
                            </m:e>
                          </m:d>
                        </m:e>
                      </m:func>
                      <m:r>
                        <a:rPr lang="en-US" sz="1100" b="0" i="1" dirty="0">
                          <a:solidFill>
                            <a:srgbClr val="B88600"/>
                          </a:solidFill>
                          <a:latin typeface="Cambria Math" panose="02040503050406030204" pitchFamily="18" charset="0"/>
                        </a:rPr>
                        <m:t>𝑠𝑖𝑔𝑚𝑎</m:t>
                      </m:r>
                      <m:r>
                        <a:rPr lang="en-US" sz="1100" b="0" i="1" dirty="0">
                          <a:solidFill>
                            <a:srgbClr val="B88600"/>
                          </a:solidFill>
                          <a:latin typeface="Cambria Math" panose="02040503050406030204" pitchFamily="18" charset="0"/>
                        </a:rPr>
                        <m:t>=1.0</m:t>
                      </m:r>
                      <m:r>
                        <a:rPr lang="en-US" sz="1100" b="0" i="1" dirty="0">
                          <a:solidFill>
                            <a:srgbClr val="B88600"/>
                          </a:solidFill>
                          <a:latin typeface="Cambria Math" panose="02040503050406030204" pitchFamily="18" charset="0"/>
                        </a:rPr>
                        <m:t>𝑦𝑒𝑎𝑟</m:t>
                      </m:r>
                    </m:oMath>
                  </m:oMathPara>
                </a14:m>
              </a:p>
            </p:txBody>
          </p:sp>
        </mc:Choice>
        <mc:Fallback>
          <p:sp>
            <p:nvSpPr>
              <p:cNvPr id="22" name="TextBox 21"/>
              <p:cNvSpPr txBox="1">
                <a:spLocks noRot="1" noChangeAspect="1" noMove="1" noResize="1" noEditPoints="1" noAdjustHandles="1" noChangeArrowheads="1" noChangeShapeType="1" noTextEdit="1"/>
              </p:cNvSpPr>
              <p:nvPr/>
            </p:nvSpPr>
            <p:spPr>
              <a:xfrm>
                <a:off x="1049887" y="3621023"/>
                <a:ext cx="3935265" cy="517321"/>
              </a:xfrm>
              <a:prstGeom prst="rect">
                <a:avLst/>
              </a:prstGeom>
              <a:blipFill>
                <a:blip r:embed="rId5"/>
                <a:stretch>
                  <a:fillRect/>
                </a:stretch>
              </a:blipFill>
            </p:spPr>
            <p:txBody>
              <a:bodyPr/>
              <a:lstStyle/>
              <a:p>
                <a:r>
                  <a:rPr lang="en-US">
                    <a:noFill/>
                  </a:rPr>
                  <a:t> </a:t>
                </a:r>
              </a:p>
            </p:txBody>
          </p:sp>
        </mc:Fallback>
      </mc:AlternateContent>
      <p:sp>
        <p:nvSpPr>
          <p:cNvPr id="23" name="TextBox 22"/>
          <p:cNvSpPr txBox="1"/>
          <p:nvPr/>
        </p:nvSpPr>
        <p:spPr>
          <a:xfrm>
            <a:off x="502920" y="4297680"/>
            <a:ext cx="5029200" cy="777240"/>
          </a:xfrm>
          <a:prstGeom prst="rect">
            <a:avLst/>
          </a:prstGeom>
          <a:noFill/>
        </p:spPr>
        <p:txBody>
          <a:bodyPr wrap="square">
            <a:spAutoFit/>
          </a:bodyPr>
          <a:lstStyle/>
          <a:p>
            <a:pPr algn="l"/>
            <a:r>
              <a:rPr sz="1000">
                <a:solidFill>
                  <a:srgbClr val="222A3A"/>
                </a:solidFill>
              </a:rPr>
              <a:t>Gaussian-weighted average of past Article IV embeddings.</a:t>
            </a:r>
          </a:p>
          <a:p>
            <a:pPr algn="l"/>
            <a:r>
              <a:rPr sz="1000">
                <a:solidFill>
                  <a:srgbClr val="222A3A"/>
                </a:solidFill>
              </a:rPr>
              <a:t>Handles IMF publication lag naturally — delayed reports get less weight.</a:t>
            </a:r>
          </a:p>
          <a:p>
            <a:pPr algn="l"/>
            <a:r>
              <a:rPr sz="1000">
                <a:solidFill>
                  <a:srgbClr val="222A3A"/>
                </a:solidFill>
              </a:rPr>
              <a:t>If no text: c(t*) = 0  -&gt;  model falls back to numerical-only path.</a:t>
            </a:r>
          </a:p>
        </p:txBody>
      </p:sp>
      <p:sp>
        <p:nvSpPr>
          <p:cNvPr id="24" name="Rectangle 23"/>
          <p:cNvSpPr/>
          <p:nvPr/>
        </p:nvSpPr>
        <p:spPr>
          <a:xfrm>
            <a:off x="6035040" y="3017520"/>
            <a:ext cx="5760720" cy="2194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035040" y="3017520"/>
            <a:ext cx="57607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26479" y="3063239"/>
            <a:ext cx="5623559" cy="256032"/>
          </a:xfrm>
          <a:prstGeom prst="rect">
            <a:avLst/>
          </a:prstGeom>
          <a:noFill/>
        </p:spPr>
        <p:txBody>
          <a:bodyPr wrap="square">
            <a:spAutoFit/>
          </a:bodyPr>
          <a:lstStyle/>
          <a:p>
            <a:pPr algn="l"/>
            <a:r>
              <a:rPr sz="1000" b="1" i="0">
                <a:solidFill>
                  <a:srgbClr val="FFFFFF"/>
                </a:solidFill>
              </a:rPr>
              <a:t>GR-ADD MMF  (full multimodal model)</a:t>
            </a:r>
          </a:p>
        </p:txBody>
      </p:sp>
      <p:sp>
        <p:nvSpPr>
          <p:cNvPr id="27" name="TextBox 26"/>
          <p:cNvSpPr txBox="1"/>
          <p:nvPr/>
        </p:nvSpPr>
        <p:spPr>
          <a:xfrm>
            <a:off x="6126479" y="3401568"/>
            <a:ext cx="5623559" cy="1755648"/>
          </a:xfrm>
          <a:prstGeom prst="rect">
            <a:avLst/>
          </a:prstGeom>
          <a:noFill/>
        </p:spPr>
        <p:txBody>
          <a:bodyPr wrap="square">
            <a:spAutoFit/>
          </a:bodyPr>
          <a:lstStyle/>
          <a:p>
            <a:endParaRPr/>
          </a:p>
        </p:txBody>
      </p:sp>
      <mc:AlternateContent xmlns:mc="http://schemas.openxmlformats.org/markup-compatibility/2006">
        <mc:Choice xmlns:a14="http://schemas.microsoft.com/office/drawing/2010/main" Requires="a14">
          <p:sp>
            <p:nvSpPr>
              <p:cNvPr id="28" name="TextBox 27"/>
              <p:cNvSpPr txBox="1"/>
              <p:nvPr/>
            </p:nvSpPr>
            <p:spPr>
              <a:xfrm>
                <a:off x="6789420" y="3550567"/>
                <a:ext cx="4251960" cy="598112"/>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a:rPr lang="en-US" sz="1050" b="0" i="1" dirty="0" smtClean="0">
                          <a:solidFill>
                            <a:srgbClr val="B88600"/>
                          </a:solidFill>
                          <a:latin typeface="Cambria Math" panose="02040503050406030204" pitchFamily="18" charset="0"/>
                        </a:rPr>
                        <m:t>𝑧</m:t>
                      </m:r>
                      <m:r>
                        <a:rPr lang="en-US" sz="1050" b="0" i="1" dirty="0" smtClean="0">
                          <a:solidFill>
                            <a:srgbClr val="B88600"/>
                          </a:solidFill>
                          <a:latin typeface="Cambria Math" panose="02040503050406030204" pitchFamily="18" charset="0"/>
                        </a:rPr>
                        <m:t>=</m:t>
                      </m:r>
                      <m:d>
                        <m:dPr>
                          <m:begChr m:val="["/>
                          <m:endChr m:val="]"/>
                          <m:ctrlPr>
                            <a:rPr lang="en-US" sz="1050" b="0" i="1" dirty="0" smtClean="0">
                              <a:solidFill>
                                <a:srgbClr val="B88600"/>
                              </a:solidFill>
                              <a:latin typeface="Cambria Math" panose="02040503050406030204" pitchFamily="18" charset="0"/>
                            </a:rPr>
                          </m:ctrlPr>
                        </m:dPr>
                        <m:e>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𝑦</m:t>
                              </m:r>
                            </m:e>
                            <m:sub>
                              <m:r>
                                <a:rPr lang="en-US" sz="1050" b="0" i="1" dirty="0" err="1">
                                  <a:solidFill>
                                    <a:srgbClr val="B88600"/>
                                  </a:solidFill>
                                  <a:latin typeface="Cambria Math" panose="02040503050406030204" pitchFamily="18" charset="0"/>
                                </a:rPr>
                                <m:t>𝑡</m:t>
                              </m:r>
                            </m:sub>
                          </m:sSub>
                          <m:r>
                            <a:rPr lang="en-US" sz="1050" b="0" i="1" dirty="0" err="1">
                              <a:solidFill>
                                <a:srgbClr val="B88600"/>
                              </a:solidFill>
                              <a:latin typeface="Cambria Math" panose="02040503050406030204" pitchFamily="18" charset="0"/>
                            </a:rPr>
                            <m:t>𝑠</m:t>
                          </m:r>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𝑒</m:t>
                          </m:r>
                        </m:e>
                      </m:d>
                      <m:d>
                        <m:dPr>
                          <m:ctrlPr>
                            <a:rPr lang="en-US" sz="1050" b="0" i="1" dirty="0">
                              <a:solidFill>
                                <a:srgbClr val="B88600"/>
                              </a:solidFill>
                              <a:latin typeface="Cambria Math" panose="02040503050406030204" pitchFamily="18" charset="0"/>
                            </a:rPr>
                          </m:ctrlPr>
                        </m:dPr>
                        <m:e>
                          <m:r>
                            <a:rPr lang="en-US" sz="1050" b="0" i="1" dirty="0">
                              <a:solidFill>
                                <a:srgbClr val="B88600"/>
                              </a:solidFill>
                              <a:latin typeface="Cambria Math" panose="02040503050406030204" pitchFamily="18" charset="0"/>
                            </a:rPr>
                            <m:t>𝑓𝑜𝑟𝑒𝑐𝑎𝑠𝑡</m:t>
                          </m:r>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𝑡𝑒𝑥𝑡𝑐𝑜𝑛𝑡𝑒𝑥𝑡</m:t>
                          </m:r>
                        </m:e>
                      </m:d>
                      <m:r>
                        <a:rPr lang="en-US" sz="1050" b="0" i="1" dirty="0">
                          <a:solidFill>
                            <a:srgbClr val="B88600"/>
                          </a:solidFill>
                          <a:latin typeface="Cambria Math" panose="02040503050406030204" pitchFamily="18" charset="0"/>
                        </a:rPr>
                        <m:t>𝐻</m:t>
                      </m:r>
                      <m:r>
                        <a:rPr lang="en-US" sz="1050" b="0" i="1" dirty="0">
                          <a:solidFill>
                            <a:srgbClr val="B88600"/>
                          </a:solidFill>
                          <a:latin typeface="Cambria Math" panose="02040503050406030204" pitchFamily="18" charset="0"/>
                        </a:rPr>
                        <m:t>=</m:t>
                      </m:r>
                      <m:r>
                        <a:rPr lang="en-US" sz="1050" b="0" i="1" dirty="0" err="1">
                          <a:solidFill>
                            <a:srgbClr val="B88600"/>
                          </a:solidFill>
                          <a:latin typeface="Cambria Math" panose="02040503050406030204" pitchFamily="18" charset="0"/>
                        </a:rPr>
                        <m:t>𝑓𝑢𝑠𝑖𝑜</m:t>
                      </m:r>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𝑛</m:t>
                          </m:r>
                        </m:e>
                        <m:sub>
                          <m:r>
                            <a:rPr lang="en-US" sz="1050" b="0" i="1" dirty="0" err="1">
                              <a:solidFill>
                                <a:srgbClr val="B88600"/>
                              </a:solidFill>
                              <a:latin typeface="Cambria Math" panose="02040503050406030204" pitchFamily="18" charset="0"/>
                            </a:rPr>
                            <m:t>𝐺</m:t>
                          </m:r>
                        </m:sub>
                      </m:sSub>
                      <m:r>
                        <a:rPr lang="en-US" sz="1050" b="0" i="1" dirty="0" err="1">
                          <a:solidFill>
                            <a:srgbClr val="B88600"/>
                          </a:solidFill>
                          <a:latin typeface="Cambria Math" panose="02040503050406030204" pitchFamily="18" charset="0"/>
                        </a:rPr>
                        <m:t>𝑅𝑈</m:t>
                      </m:r>
                      <m:d>
                        <m:dPr>
                          <m:ctrlPr>
                            <a:rPr lang="en-US" sz="1050" b="0" i="1" dirty="0">
                              <a:solidFill>
                                <a:srgbClr val="B88600"/>
                              </a:solidFill>
                              <a:latin typeface="Cambria Math" panose="02040503050406030204" pitchFamily="18" charset="0"/>
                            </a:rPr>
                          </m:ctrlPr>
                        </m:dPr>
                        <m:e>
                          <m:r>
                            <a:rPr lang="en-US" sz="1050" b="0" i="1" dirty="0">
                              <a:solidFill>
                                <a:srgbClr val="B88600"/>
                              </a:solidFill>
                              <a:latin typeface="Cambria Math" panose="02040503050406030204" pitchFamily="18" charset="0"/>
                            </a:rPr>
                            <m:t>𝑧</m:t>
                          </m:r>
                        </m:e>
                      </m:d>
                      <m:r>
                        <a:rPr lang="en-US" sz="1050" b="0" i="1" dirty="0">
                          <a:solidFill>
                            <a:srgbClr val="B88600"/>
                          </a:solidFill>
                          <a:latin typeface="Cambria Math" panose="02040503050406030204" pitchFamily="18" charset="0"/>
                        </a:rPr>
                        <m:t>𝐺</m:t>
                      </m:r>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𝑠𝑖𝑔𝑚𝑜𝑖𝑑</m:t>
                      </m:r>
                      <m:d>
                        <m:dPr>
                          <m:ctrlPr>
                            <a:rPr lang="en-US" sz="1050" b="0" i="1" dirty="0">
                              <a:solidFill>
                                <a:srgbClr val="B88600"/>
                              </a:solidFill>
                              <a:latin typeface="Cambria Math" panose="02040503050406030204" pitchFamily="18" charset="0"/>
                            </a:rPr>
                          </m:ctrlPr>
                        </m:dPr>
                        <m:e>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𝑊</m:t>
                              </m:r>
                            </m:e>
                            <m:sub>
                              <m:r>
                                <a:rPr lang="en-US" sz="1050" b="0" i="1" dirty="0" err="1">
                                  <a:solidFill>
                                    <a:srgbClr val="B88600"/>
                                  </a:solidFill>
                                  <a:latin typeface="Cambria Math" panose="02040503050406030204" pitchFamily="18" charset="0"/>
                                </a:rPr>
                                <m:t>𝑔</m:t>
                              </m:r>
                            </m:sub>
                          </m:sSub>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𝑧</m:t>
                          </m:r>
                        </m:e>
                      </m:d>
                      <m:r>
                        <a:rPr lang="en-US" sz="1050" b="0" i="1" dirty="0">
                          <a:solidFill>
                            <a:srgbClr val="B88600"/>
                          </a:solidFill>
                          <a:latin typeface="Cambria Math" panose="02040503050406030204" pitchFamily="18" charset="0"/>
                        </a:rPr>
                        <m:t>𝑑𝑒𝑙𝑡𝑎</m:t>
                      </m:r>
                      <m:r>
                        <a:rPr lang="en-US" sz="1050" b="0" i="1" dirty="0">
                          <a:solidFill>
                            <a:srgbClr val="B88600"/>
                          </a:solidFill>
                          <a:latin typeface="Cambria Math" panose="02040503050406030204" pitchFamily="18" charset="0"/>
                        </a:rPr>
                        <m:t>=</m:t>
                      </m:r>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𝑊</m:t>
                          </m:r>
                        </m:e>
                        <m:sub>
                          <m:r>
                            <a:rPr lang="en-US" sz="1050" b="0" i="1" dirty="0" err="1">
                              <a:solidFill>
                                <a:srgbClr val="B88600"/>
                              </a:solidFill>
                              <a:latin typeface="Cambria Math" panose="02040503050406030204" pitchFamily="18" charset="0"/>
                            </a:rPr>
                            <m:t>𝑑</m:t>
                          </m:r>
                        </m:sub>
                      </m:sSub>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𝐻</m:t>
                      </m:r>
                      <m:d>
                        <m:dPr>
                          <m:ctrlPr>
                            <a:rPr lang="en-US" sz="1050" b="0" i="1" dirty="0">
                              <a:solidFill>
                                <a:srgbClr val="B88600"/>
                              </a:solidFill>
                              <a:latin typeface="Cambria Math" panose="02040503050406030204" pitchFamily="18" charset="0"/>
                            </a:rPr>
                          </m:ctrlPr>
                        </m:dPr>
                        <m:e>
                          <m:r>
                            <a:rPr lang="en-US" sz="1050" b="0" i="1" dirty="0">
                              <a:solidFill>
                                <a:srgbClr val="B88600"/>
                              </a:solidFill>
                              <a:latin typeface="Cambria Math" panose="02040503050406030204" pitchFamily="18" charset="0"/>
                            </a:rPr>
                            <m:t>𝑙𝑖𝑛𝑒𝑎𝑟</m:t>
                          </m:r>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𝑛𝑜𝑡𝑎𝑛h</m:t>
                          </m:r>
                        </m:e>
                      </m:d>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𝑦</m:t>
                          </m:r>
                        </m:e>
                        <m:sub>
                          <m:r>
                            <a:rPr lang="en-US" sz="1050" b="0" i="1" dirty="0" err="1">
                              <a:solidFill>
                                <a:srgbClr val="B88600"/>
                              </a:solidFill>
                              <a:latin typeface="Cambria Math" panose="02040503050406030204" pitchFamily="18" charset="0"/>
                            </a:rPr>
                            <m:t>𝑜</m:t>
                          </m:r>
                        </m:sub>
                      </m:sSub>
                      <m:r>
                        <a:rPr lang="en-US" sz="1050" b="0" i="1" dirty="0" err="1">
                          <a:solidFill>
                            <a:srgbClr val="B88600"/>
                          </a:solidFill>
                          <a:latin typeface="Cambria Math" panose="02040503050406030204" pitchFamily="18" charset="0"/>
                        </a:rPr>
                        <m:t>𝑢𝑡</m:t>
                      </m:r>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𝐺</m:t>
                      </m:r>
                      <m:r>
                        <a:rPr lang="en-US" sz="1050" b="0" i="1" dirty="0">
                          <a:solidFill>
                            <a:srgbClr val="B88600"/>
                          </a:solidFill>
                          <a:latin typeface="Cambria Math" panose="02040503050406030204" pitchFamily="18" charset="0"/>
                        </a:rPr>
                        <m:t>∗</m:t>
                      </m:r>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𝑦</m:t>
                          </m:r>
                        </m:e>
                        <m:sub>
                          <m:r>
                            <a:rPr lang="en-US" sz="1050" b="0" i="1" dirty="0" err="1">
                              <a:solidFill>
                                <a:srgbClr val="B88600"/>
                              </a:solidFill>
                              <a:latin typeface="Cambria Math" panose="02040503050406030204" pitchFamily="18" charset="0"/>
                            </a:rPr>
                            <m:t>𝑡</m:t>
                          </m:r>
                        </m:sub>
                      </m:sSub>
                      <m:r>
                        <a:rPr lang="en-US" sz="1050" b="0" i="1" dirty="0" err="1">
                          <a:solidFill>
                            <a:srgbClr val="B88600"/>
                          </a:solidFill>
                          <a:latin typeface="Cambria Math" panose="02040503050406030204" pitchFamily="18" charset="0"/>
                        </a:rPr>
                        <m:t>𝑠</m:t>
                      </m:r>
                      <m:r>
                        <a:rPr lang="en-US" sz="1050" b="0" i="1" dirty="0">
                          <a:solidFill>
                            <a:srgbClr val="B88600"/>
                          </a:solidFill>
                          <a:latin typeface="Cambria Math" panose="02040503050406030204" pitchFamily="18" charset="0"/>
                        </a:rPr>
                        <m:t>+</m:t>
                      </m:r>
                      <m:d>
                        <m:dPr>
                          <m:ctrlPr>
                            <a:rPr lang="en-US" sz="1050" b="0" i="1" dirty="0">
                              <a:solidFill>
                                <a:srgbClr val="B88600"/>
                              </a:solidFill>
                              <a:latin typeface="Cambria Math" panose="02040503050406030204" pitchFamily="18" charset="0"/>
                            </a:rPr>
                          </m:ctrlPr>
                        </m:dPr>
                        <m:e>
                          <m:r>
                            <a:rPr lang="en-US" sz="1050" b="0" i="1" dirty="0">
                              <a:solidFill>
                                <a:srgbClr val="B88600"/>
                              </a:solidFill>
                              <a:latin typeface="Cambria Math" panose="02040503050406030204" pitchFamily="18" charset="0"/>
                            </a:rPr>
                            <m:t>1−</m:t>
                          </m:r>
                          <m:r>
                            <a:rPr lang="en-US" sz="1050" b="0" i="1" dirty="0">
                              <a:solidFill>
                                <a:srgbClr val="B88600"/>
                              </a:solidFill>
                              <a:latin typeface="Cambria Math" panose="02040503050406030204" pitchFamily="18" charset="0"/>
                            </a:rPr>
                            <m:t>𝐺</m:t>
                          </m:r>
                        </m:e>
                      </m:d>
                      <m:r>
                        <a:rPr lang="en-US" sz="1050" b="0" i="1" dirty="0">
                          <a:solidFill>
                            <a:srgbClr val="B88600"/>
                          </a:solidFill>
                          <a:latin typeface="Cambria Math" panose="02040503050406030204" pitchFamily="18" charset="0"/>
                        </a:rPr>
                        <m:t>∗</m:t>
                      </m:r>
                      <m:d>
                        <m:dPr>
                          <m:ctrlPr>
                            <a:rPr lang="en-US" sz="1050" b="0" i="1" dirty="0">
                              <a:solidFill>
                                <a:srgbClr val="B88600"/>
                              </a:solidFill>
                              <a:latin typeface="Cambria Math" panose="02040503050406030204" pitchFamily="18" charset="0"/>
                            </a:rPr>
                          </m:ctrlPr>
                        </m:dPr>
                        <m:e>
                          <m:sSub>
                            <m:sSubPr>
                              <m:ctrlPr>
                                <a:rPr lang="en-US" sz="1050" b="0" i="1" dirty="0" err="1">
                                  <a:solidFill>
                                    <a:srgbClr val="B88600"/>
                                  </a:solidFill>
                                  <a:latin typeface="Cambria Math" panose="02040503050406030204" pitchFamily="18" charset="0"/>
                                </a:rPr>
                              </m:ctrlPr>
                            </m:sSubPr>
                            <m:e>
                              <m:r>
                                <a:rPr lang="en-US" sz="1050" b="0" i="1" dirty="0" err="1">
                                  <a:solidFill>
                                    <a:srgbClr val="B88600"/>
                                  </a:solidFill>
                                  <a:latin typeface="Cambria Math" panose="02040503050406030204" pitchFamily="18" charset="0"/>
                                </a:rPr>
                                <m:t>𝑦</m:t>
                              </m:r>
                            </m:e>
                            <m:sub>
                              <m:r>
                                <a:rPr lang="en-US" sz="1050" b="0" i="1" dirty="0" err="1">
                                  <a:solidFill>
                                    <a:srgbClr val="B88600"/>
                                  </a:solidFill>
                                  <a:latin typeface="Cambria Math" panose="02040503050406030204" pitchFamily="18" charset="0"/>
                                </a:rPr>
                                <m:t>𝑡</m:t>
                              </m:r>
                            </m:sub>
                          </m:sSub>
                          <m:r>
                            <a:rPr lang="en-US" sz="1050" b="0" i="1" dirty="0" err="1">
                              <a:solidFill>
                                <a:srgbClr val="B88600"/>
                              </a:solidFill>
                              <a:latin typeface="Cambria Math" panose="02040503050406030204" pitchFamily="18" charset="0"/>
                            </a:rPr>
                            <m:t>𝑠</m:t>
                          </m:r>
                          <m:r>
                            <a:rPr lang="en-US" sz="1050" b="0" i="1" dirty="0">
                              <a:solidFill>
                                <a:srgbClr val="B88600"/>
                              </a:solidFill>
                              <a:latin typeface="Cambria Math" panose="02040503050406030204" pitchFamily="18" charset="0"/>
                            </a:rPr>
                            <m:t>+</m:t>
                          </m:r>
                          <m:r>
                            <a:rPr lang="en-US" sz="1050" b="0" i="1" dirty="0">
                              <a:solidFill>
                                <a:srgbClr val="B88600"/>
                              </a:solidFill>
                              <a:latin typeface="Cambria Math" panose="02040503050406030204" pitchFamily="18" charset="0"/>
                            </a:rPr>
                            <m:t>𝑑𝑒𝑙𝑡𝑎</m:t>
                          </m:r>
                        </m:e>
                      </m:d>
                    </m:oMath>
                  </m:oMathPara>
                </a14:m>
              </a:p>
            </p:txBody>
          </p:sp>
        </mc:Choice>
        <mc:Fallback>
          <p:sp>
            <p:nvSpPr>
              <p:cNvPr id="28" name="TextBox 27"/>
              <p:cNvSpPr txBox="1">
                <a:spLocks noRot="1" noChangeAspect="1" noMove="1" noResize="1" noEditPoints="1" noAdjustHandles="1" noChangeArrowheads="1" noChangeShapeType="1" noTextEdit="1"/>
              </p:cNvSpPr>
              <p:nvPr/>
            </p:nvSpPr>
            <p:spPr>
              <a:xfrm>
                <a:off x="6789420" y="3550567"/>
                <a:ext cx="4251960" cy="598112"/>
              </a:xfrm>
              <a:prstGeom prst="rect">
                <a:avLst/>
              </a:prstGeom>
              <a:blipFill>
                <a:blip r:embed="rId6"/>
                <a:stretch>
                  <a:fillRect b="-6250"/>
                </a:stretch>
              </a:blipFill>
            </p:spPr>
            <p:txBody>
              <a:bodyPr/>
              <a:lstStyle/>
              <a:p>
                <a:r>
                  <a:rPr lang="en-US">
                    <a:noFill/>
                  </a:rPr>
                  <a:t> </a:t>
                </a:r>
              </a:p>
            </p:txBody>
          </p:sp>
        </mc:Fallback>
      </mc:AlternateContent>
      <p:sp>
        <p:nvSpPr>
          <p:cNvPr id="29" name="TextBox 28"/>
          <p:cNvSpPr txBox="1"/>
          <p:nvPr/>
        </p:nvSpPr>
        <p:spPr>
          <a:xfrm>
            <a:off x="6172200" y="4526280"/>
            <a:ext cx="5486400" cy="548640"/>
          </a:xfrm>
          <a:prstGeom prst="rect">
            <a:avLst/>
          </a:prstGeom>
          <a:noFill/>
        </p:spPr>
        <p:txBody>
          <a:bodyPr wrap="square">
            <a:spAutoFit/>
          </a:bodyPr>
          <a:lstStyle/>
          <a:p>
            <a:pPr algn="l"/>
            <a:r>
              <a:rPr sz="1000">
                <a:solidFill>
                  <a:srgbClr val="222A3A"/>
                </a:solidFill>
              </a:rPr>
              <a:t>Fusion GRU ingests [y_ts; e] — text inside the recurrence (paper eq. 12-16).</a:t>
            </a:r>
          </a:p>
          <a:p>
            <a:pPr algn="l"/>
            <a:r>
              <a:rPr sz="1000">
                <a:solidFill>
                  <a:srgbClr val="222A3A"/>
                </a:solidFill>
              </a:rPr>
              <a:t>G gates the blend of base forecast vs text correction.  177,866 parameters.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Text Embedding: BERT vs OpenAI</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Why embedding quality is a first-order design choice</a:t>
            </a:r>
          </a:p>
        </p:txBody>
      </p:sp>
      <p:sp>
        <p:nvSpPr>
          <p:cNvPr id="6" name="Rectangle 5"/>
          <p:cNvSpPr/>
          <p:nvPr/>
        </p:nvSpPr>
        <p:spPr>
          <a:xfrm>
            <a:off x="365760" y="1325880"/>
            <a:ext cx="5394960" cy="3200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257800" cy="256032"/>
          </a:xfrm>
          <a:prstGeom prst="rect">
            <a:avLst/>
          </a:prstGeom>
          <a:noFill/>
        </p:spPr>
        <p:txBody>
          <a:bodyPr wrap="square">
            <a:spAutoFit/>
          </a:bodyPr>
          <a:lstStyle/>
          <a:p>
            <a:pPr algn="l"/>
            <a:r>
              <a:rPr sz="1000" b="1" i="0">
                <a:solidFill>
                  <a:srgbClr val="FFFFFF"/>
                </a:solidFill>
              </a:rPr>
              <a:t>BERT-base-uncased</a:t>
            </a:r>
          </a:p>
        </p:txBody>
      </p:sp>
      <p:sp>
        <p:nvSpPr>
          <p:cNvPr id="9" name="TextBox 8"/>
          <p:cNvSpPr txBox="1"/>
          <p:nvPr/>
        </p:nvSpPr>
        <p:spPr>
          <a:xfrm>
            <a:off x="457200" y="1709928"/>
            <a:ext cx="5257800" cy="2761488"/>
          </a:xfrm>
          <a:prstGeom prst="rect">
            <a:avLst/>
          </a:prstGeom>
          <a:noFill/>
        </p:spPr>
        <p:txBody>
          <a:bodyPr wrap="square">
            <a:spAutoFit/>
          </a:bodyPr>
          <a:lstStyle/>
          <a:p>
            <a:endParaRPr/>
          </a:p>
        </p:txBody>
      </p:sp>
      <p:sp>
        <p:nvSpPr>
          <p:cNvPr id="10" name="TextBox 9"/>
          <p:cNvSpPr txBox="1"/>
          <p:nvPr/>
        </p:nvSpPr>
        <p:spPr>
          <a:xfrm>
            <a:off x="502920" y="1737360"/>
            <a:ext cx="5120640" cy="2743200"/>
          </a:xfrm>
          <a:prstGeom prst="rect">
            <a:avLst/>
          </a:prstGeom>
          <a:noFill/>
        </p:spPr>
        <p:txBody>
          <a:bodyPr wrap="square">
            <a:spAutoFit/>
          </a:bodyPr>
          <a:lstStyle/>
          <a:p>
            <a:pPr algn="l"/>
            <a:r>
              <a:rPr sz="1100">
                <a:solidFill>
                  <a:srgbClr val="222A3A"/>
                </a:solidFill>
              </a:rPr>
              <a:t>Max tokens:   512  (~380 words)</a:t>
            </a:r>
          </a:p>
          <a:p>
            <a:pPr algn="l"/>
            <a:r>
              <a:rPr sz="1100">
                <a:solidFill>
                  <a:srgbClr val="222A3A"/>
                </a:solidFill>
              </a:rPr>
              <a:t>Dimensions:   768</a:t>
            </a:r>
          </a:p>
          <a:p>
            <a:pPr algn="l"/>
            <a:r>
              <a:rPr sz="1100">
                <a:solidFill>
                  <a:srgbClr val="222A3A"/>
                </a:solidFill>
              </a:rPr>
              <a:t>Cost:         Free (local GPU)</a:t>
            </a:r>
          </a:p>
          <a:p>
            <a:pPr algn="l"/>
            <a:endParaRPr sz="1100">
              <a:solidFill>
                <a:srgbClr val="222A3A"/>
              </a:solidFill>
            </a:endParaRPr>
          </a:p>
          <a:p>
            <a:pPr algn="l"/>
            <a:r>
              <a:rPr sz="1100">
                <a:solidFill>
                  <a:srgbClr val="222A3A"/>
                </a:solidFill>
              </a:rPr>
              <a:t>Problem: Article IV reports are 2,000-5,000 tokens.</a:t>
            </a:r>
          </a:p>
          <a:p>
            <a:pPr algn="l"/>
            <a:r>
              <a:rPr sz="1100">
                <a:solidFill>
                  <a:srgbClr val="222A3A"/>
                </a:solidFill>
              </a:rPr>
              <a:t>BERT truncates after ~380 words — the Staff Appraisal</a:t>
            </a:r>
          </a:p>
          <a:p>
            <a:pPr algn="l"/>
            <a:r>
              <a:rPr sz="1100">
                <a:solidFill>
                  <a:srgbClr val="222A3A"/>
                </a:solidFill>
              </a:rPr>
              <a:t>section (most forward-looking content) appears later</a:t>
            </a:r>
          </a:p>
          <a:p>
            <a:pPr algn="l"/>
            <a:r>
              <a:rPr sz="1100">
                <a:solidFill>
                  <a:srgbClr val="222A3A"/>
                </a:solidFill>
              </a:rPr>
              <a:t>in the document and is entirely discarded.</a:t>
            </a:r>
          </a:p>
          <a:p>
            <a:pPr algn="l"/>
            <a:endParaRPr sz="1100">
              <a:solidFill>
                <a:srgbClr val="222A3A"/>
              </a:solidFill>
            </a:endParaRPr>
          </a:p>
          <a:p>
            <a:pPr algn="l"/>
            <a:r>
              <a:rPr sz="1100">
                <a:solidFill>
                  <a:srgbClr val="222A3A"/>
                </a:solidFill>
              </a:rPr>
              <a:t>Result: GR-Add slightly edges out NumericalGRU.</a:t>
            </a:r>
          </a:p>
          <a:p>
            <a:pPr algn="l"/>
            <a:r>
              <a:rPr sz="1100">
                <a:solidFill>
                  <a:srgbClr val="222A3A"/>
                </a:solidFill>
              </a:rPr>
              <a:t>Overall MSE = 2.872  (marginal improvement only)</a:t>
            </a:r>
          </a:p>
        </p:txBody>
      </p:sp>
      <p:sp>
        <p:nvSpPr>
          <p:cNvPr id="11" name="Rectangle 10"/>
          <p:cNvSpPr/>
          <p:nvPr/>
        </p:nvSpPr>
        <p:spPr>
          <a:xfrm>
            <a:off x="6217920" y="1325880"/>
            <a:ext cx="5577840" cy="3200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text-embedding-3-small  (OpenAI)</a:t>
            </a:r>
          </a:p>
        </p:txBody>
      </p:sp>
      <p:sp>
        <p:nvSpPr>
          <p:cNvPr id="14" name="TextBox 13"/>
          <p:cNvSpPr txBox="1"/>
          <p:nvPr/>
        </p:nvSpPr>
        <p:spPr>
          <a:xfrm>
            <a:off x="6309359" y="1709928"/>
            <a:ext cx="5440679" cy="2761488"/>
          </a:xfrm>
          <a:prstGeom prst="rect">
            <a:avLst/>
          </a:prstGeom>
          <a:noFill/>
        </p:spPr>
        <p:txBody>
          <a:bodyPr wrap="square">
            <a:spAutoFit/>
          </a:bodyPr>
          <a:lstStyle/>
          <a:p>
            <a:endParaRPr/>
          </a:p>
        </p:txBody>
      </p:sp>
      <p:sp>
        <p:nvSpPr>
          <p:cNvPr id="15" name="TextBox 14"/>
          <p:cNvSpPr txBox="1"/>
          <p:nvPr/>
        </p:nvSpPr>
        <p:spPr>
          <a:xfrm>
            <a:off x="6355080" y="1737360"/>
            <a:ext cx="5303520" cy="2743200"/>
          </a:xfrm>
          <a:prstGeom prst="rect">
            <a:avLst/>
          </a:prstGeom>
          <a:noFill/>
        </p:spPr>
        <p:txBody>
          <a:bodyPr wrap="square">
            <a:spAutoFit/>
          </a:bodyPr>
          <a:lstStyle/>
          <a:p>
            <a:pPr algn="l"/>
            <a:r>
              <a:rPr sz="1100">
                <a:solidFill>
                  <a:srgbClr val="222A3A"/>
                </a:solidFill>
              </a:rPr>
              <a:t>Max tokens:   8,191  (~6,000 words)</a:t>
            </a:r>
          </a:p>
          <a:p>
            <a:pPr algn="l"/>
            <a:r>
              <a:rPr sz="1100">
                <a:solidFill>
                  <a:srgbClr val="222A3A"/>
                </a:solidFill>
              </a:rPr>
              <a:t>Dimensions:   768  (via API dimensions parameter)</a:t>
            </a:r>
          </a:p>
          <a:p>
            <a:pPr algn="l"/>
            <a:r>
              <a:rPr sz="1100">
                <a:solidFill>
                  <a:srgbClr val="222A3A"/>
                </a:solidFill>
              </a:rPr>
              <a:t>Cost:         ~$0.01 for all 240 texts</a:t>
            </a:r>
          </a:p>
          <a:p>
            <a:pPr algn="l"/>
            <a:endParaRPr sz="1100">
              <a:solidFill>
                <a:srgbClr val="222A3A"/>
              </a:solidFill>
            </a:endParaRPr>
          </a:p>
          <a:p>
            <a:pPr algn="l"/>
            <a:r>
              <a:rPr sz="1100">
                <a:solidFill>
                  <a:srgbClr val="222A3A"/>
                </a:solidFill>
              </a:rPr>
              <a:t>Reads the full extracted text — both Executive</a:t>
            </a:r>
          </a:p>
          <a:p>
            <a:pPr algn="l"/>
            <a:r>
              <a:rPr sz="1100">
                <a:solidFill>
                  <a:srgbClr val="222A3A"/>
                </a:solidFill>
              </a:rPr>
              <a:t>Summary and Staff Appraisal sections captured.</a:t>
            </a:r>
          </a:p>
          <a:p>
            <a:pPr algn="l"/>
            <a:r>
              <a:rPr sz="1100">
                <a:solidFill>
                  <a:srgbClr val="222A3A"/>
                </a:solidFill>
              </a:rPr>
              <a:t>Real publication dates from Coveo API used</a:t>
            </a:r>
          </a:p>
          <a:p>
            <a:pPr algn="l"/>
            <a:r>
              <a:rPr sz="1100">
                <a:solidFill>
                  <a:srgbClr val="222A3A"/>
                </a:solidFill>
              </a:rPr>
              <a:t>for accurate temporal weighting (239/240 found).</a:t>
            </a:r>
          </a:p>
          <a:p>
            <a:pPr algn="l"/>
            <a:endParaRPr sz="1100">
              <a:solidFill>
                <a:srgbClr val="222A3A"/>
              </a:solidFill>
            </a:endParaRPr>
          </a:p>
          <a:p>
            <a:pPr algn="l"/>
            <a:r>
              <a:rPr sz="1100">
                <a:solidFill>
                  <a:srgbClr val="222A3A"/>
                </a:solidFill>
              </a:rPr>
              <a:t>Result: GR-Add achieves best overall MSE.</a:t>
            </a:r>
          </a:p>
          <a:p>
            <a:pPr algn="l"/>
            <a:r>
              <a:rPr sz="1100">
                <a:solidFill>
                  <a:srgbClr val="222A3A"/>
                </a:solidFill>
              </a:rPr>
              <a:t>Overall MSE = 2.678  (clear winner)</a:t>
            </a:r>
          </a:p>
        </p:txBody>
      </p:sp>
      <p:sp>
        <p:nvSpPr>
          <p:cNvPr id="16" name="TextBox 15"/>
          <p:cNvSpPr txBox="1"/>
          <p:nvPr/>
        </p:nvSpPr>
        <p:spPr>
          <a:xfrm>
            <a:off x="5715000" y="2788920"/>
            <a:ext cx="548640" cy="548640"/>
          </a:xfrm>
          <a:prstGeom prst="rect">
            <a:avLst/>
          </a:prstGeom>
          <a:noFill/>
        </p:spPr>
        <p:txBody>
          <a:bodyPr wrap="square">
            <a:spAutoFit/>
          </a:bodyPr>
          <a:lstStyle/>
          <a:p>
            <a:pPr algn="ctr"/>
            <a:r>
              <a:rPr sz="2800" b="1" i="0">
                <a:solidFill>
                  <a:srgbClr val="B88600"/>
                </a:solidFill>
              </a:rPr>
              <a:t>-&gt;</a:t>
            </a:r>
          </a:p>
        </p:txBody>
      </p:sp>
      <p:sp>
        <p:nvSpPr>
          <p:cNvPr id="17" name="Rectangle 16"/>
          <p:cNvSpPr/>
          <p:nvPr/>
        </p:nvSpPr>
        <p:spPr>
          <a:xfrm>
            <a:off x="365760" y="4709160"/>
            <a:ext cx="11430000"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4773168"/>
            <a:ext cx="11155680" cy="365760"/>
          </a:xfrm>
          <a:prstGeom prst="rect">
            <a:avLst/>
          </a:prstGeom>
          <a:noFill/>
        </p:spPr>
        <p:txBody>
          <a:bodyPr wrap="square">
            <a:spAutoFit/>
          </a:bodyPr>
          <a:lstStyle/>
          <a:p>
            <a:pPr algn="l"/>
            <a:r>
              <a:rPr sz="1100" b="1" i="0">
                <a:solidFill>
                  <a:srgbClr val="FFFFFF"/>
                </a:solidFill>
              </a:rPr>
              <a:t>Switching to full-context embeddings improved GR-Add from 2.872 to 2.678 — a 6.8% MSE reduction.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Primary Results — Test Set MSE (2022-2023)</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Lower is better  ·  Targets: GDP growth + CPI inflation</a:t>
            </a:r>
          </a:p>
        </p:txBody>
      </p:sp>
      <p:sp>
        <p:nvSpPr>
          <p:cNvPr id="6" name="Rectangle 5"/>
          <p:cNvSpPr/>
          <p:nvPr/>
        </p:nvSpPr>
        <p:spPr>
          <a:xfrm>
            <a:off x="365760" y="1325880"/>
            <a:ext cx="539496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257800" cy="256032"/>
          </a:xfrm>
          <a:prstGeom prst="rect">
            <a:avLst/>
          </a:prstGeom>
          <a:noFill/>
        </p:spPr>
        <p:txBody>
          <a:bodyPr wrap="square">
            <a:spAutoFit/>
          </a:bodyPr>
          <a:lstStyle/>
          <a:p>
            <a:pPr algn="l"/>
            <a:r>
              <a:rPr sz="1000" b="1" i="0">
                <a:solidFill>
                  <a:srgbClr val="FFFFFF"/>
                </a:solidFill>
              </a:rPr>
              <a:t>BERT-base-uncased (512 tokens)</a:t>
            </a:r>
          </a:p>
        </p:txBody>
      </p:sp>
      <p:sp>
        <p:nvSpPr>
          <p:cNvPr id="9" name="TextBox 8"/>
          <p:cNvSpPr txBox="1"/>
          <p:nvPr/>
        </p:nvSpPr>
        <p:spPr>
          <a:xfrm>
            <a:off x="457200" y="1709928"/>
            <a:ext cx="5257800" cy="2121408"/>
          </a:xfrm>
          <a:prstGeom prst="rect">
            <a:avLst/>
          </a:prstGeom>
          <a:noFill/>
        </p:spPr>
        <p:txBody>
          <a:bodyPr wrap="square">
            <a:spAutoFit/>
          </a:bodyPr>
          <a:lstStyle/>
          <a:p>
            <a:endParaRPr/>
          </a:p>
        </p:txBody>
      </p:sp>
      <p:sp>
        <p:nvSpPr>
          <p:cNvPr id="14" name="Rectangle 13"/>
          <p:cNvSpPr/>
          <p:nvPr/>
        </p:nvSpPr>
        <p:spPr>
          <a:xfrm>
            <a:off x="6217920" y="1325880"/>
            <a:ext cx="557784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OpenAI text-embedding-3-small  +  real pub dates</a:t>
            </a:r>
          </a:p>
        </p:txBody>
      </p:sp>
      <p:sp>
        <p:nvSpPr>
          <p:cNvPr id="17" name="TextBox 16"/>
          <p:cNvSpPr txBox="1"/>
          <p:nvPr/>
        </p:nvSpPr>
        <p:spPr>
          <a:xfrm>
            <a:off x="6309359" y="1709928"/>
            <a:ext cx="5440679" cy="2121408"/>
          </a:xfrm>
          <a:prstGeom prst="rect">
            <a:avLst/>
          </a:prstGeom>
          <a:noFill/>
        </p:spPr>
        <p:txBody>
          <a:bodyPr wrap="square">
            <a:spAutoFit/>
          </a:bodyPr>
          <a:lstStyle/>
          <a:p>
            <a:endParaRPr/>
          </a:p>
        </p:txBody>
      </p:sp>
      <p:sp>
        <p:nvSpPr>
          <p:cNvPr id="22" name="Rectangle 21"/>
          <p:cNvSpPr/>
          <p:nvPr/>
        </p:nvSpPr>
        <p:spPr>
          <a:xfrm>
            <a:off x="365760" y="4069080"/>
            <a:ext cx="11430000"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4133087"/>
            <a:ext cx="11155680" cy="365760"/>
          </a:xfrm>
          <a:prstGeom prst="rect">
            <a:avLst/>
          </a:prstGeom>
          <a:noFill/>
        </p:spPr>
        <p:txBody>
          <a:bodyPr wrap="square">
            <a:spAutoFit/>
          </a:bodyPr>
          <a:lstStyle/>
          <a:p>
            <a:pPr algn="l"/>
            <a:r>
              <a:rPr sz="1100" b="1" i="0">
                <a:solidFill>
                  <a:srgbClr val="FFFFFF"/>
                </a:solidFill>
              </a:rPr>
              <a:t>GR-Add advantage is concentrated in inflation:  MSE 3.909 vs 4.198 (NumericalGRU) — 6.9% reduction.</a:t>
            </a:r>
          </a:p>
        </p:txBody>
      </p:sp>
      <p:sp>
        <p:nvSpPr>
          <p:cNvPr id="24" name="Rectangle 23"/>
          <p:cNvSpPr/>
          <p:nvPr/>
        </p:nvSpPr>
        <p:spPr>
          <a:xfrm>
            <a:off x="365760" y="4736592"/>
            <a:ext cx="11430000" cy="914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2920" y="4846320"/>
            <a:ext cx="11155680" cy="731520"/>
          </a:xfrm>
          <a:prstGeom prst="rect">
            <a:avLst/>
          </a:prstGeom>
          <a:noFill/>
        </p:spPr>
        <p:txBody>
          <a:bodyPr wrap="square">
            <a:spAutoFit/>
          </a:bodyPr>
          <a:lstStyle/>
          <a:p>
            <a:pPr algn="l"/>
            <a:r>
              <a:rPr sz="1100">
                <a:solidFill>
                  <a:srgbClr val="1A1A2E"/>
                </a:solidFill>
              </a:rPr>
              <a:t>GR-Add MMF wins overall. GDP: DLinear best (1.344) &lt; GR-Add (1.447) &lt; NumericalGRU (1.483).</a:t>
            </a:r>
          </a:p>
          <a:p>
            <a:pPr algn="l"/>
            <a:r>
              <a:rPr sz="1100">
                <a:solidFill>
                  <a:srgbClr val="1A1A2E"/>
                </a:solidFill>
              </a:rPr>
              <a:t>Inflation: GR-Add best (3.909) &lt; DLinear (4.027) &lt; NumericalGRU (4.198).</a:t>
            </a:r>
          </a:p>
          <a:p>
            <a:pPr algn="l"/>
            <a:r>
              <a:rPr sz="1100">
                <a:solidFill>
                  <a:srgbClr val="1A1A2E"/>
                </a:solidFill>
              </a:rPr>
              <a:t>IMF text primarily helps inflation — exchange rate outlooks, price pressures not in WDI series.</a:t>
            </a:r>
          </a:p>
        </p:txBody>
      </p:sp>
      <p:graphicFrame>
        <p:nvGraphicFramePr>
          <p:cNvPr id="27" name="Google Shape;250;p29">
            <a:extLst>
              <a:ext uri="{FF2B5EF4-FFF2-40B4-BE49-F238E27FC236}">
                <a16:creationId xmlns:a16="http://schemas.microsoft.com/office/drawing/2014/main" id="{1E3E185D-AE25-C97B-20F4-D9D1CF9A1589}"/>
              </a:ext>
            </a:extLst>
          </p:cNvPr>
          <p:cNvGraphicFramePr/>
          <p:nvPr>
            <p:extLst>
              <p:ext uri="{D42A27DB-BD31-4B8C-83A1-F6EECF244321}">
                <p14:modId xmlns:p14="http://schemas.microsoft.com/office/powerpoint/2010/main" val="295328998"/>
              </p:ext>
            </p:extLst>
          </p:nvPr>
        </p:nvGraphicFramePr>
        <p:xfrm>
          <a:off x="530224" y="1803384"/>
          <a:ext cx="4879976" cy="1733242"/>
        </p:xfrm>
        <a:graphic>
          <a:graphicData uri="http://schemas.openxmlformats.org/drawingml/2006/table">
            <a:tbl>
              <a:tblPr>
                <a:noFill/>
              </a:tblPr>
              <a:tblGrid>
                <a:gridCol w="1219994">
                  <a:extLst>
                    <a:ext uri="{9D8B030D-6E8A-4147-A177-3AD203B41FA5}">
                      <a16:colId xmlns:a16="http://schemas.microsoft.com/office/drawing/2014/main" val="20000"/>
                    </a:ext>
                  </a:extLst>
                </a:gridCol>
                <a:gridCol w="1219994">
                  <a:extLst>
                    <a:ext uri="{9D8B030D-6E8A-4147-A177-3AD203B41FA5}">
                      <a16:colId xmlns:a16="http://schemas.microsoft.com/office/drawing/2014/main" val="20001"/>
                    </a:ext>
                  </a:extLst>
                </a:gridCol>
                <a:gridCol w="1219994">
                  <a:extLst>
                    <a:ext uri="{9D8B030D-6E8A-4147-A177-3AD203B41FA5}">
                      <a16:colId xmlns:a16="http://schemas.microsoft.com/office/drawing/2014/main" val="20002"/>
                    </a:ext>
                  </a:extLst>
                </a:gridCol>
                <a:gridCol w="1219994">
                  <a:extLst>
                    <a:ext uri="{9D8B030D-6E8A-4147-A177-3AD203B41FA5}">
                      <a16:colId xmlns:a16="http://schemas.microsoft.com/office/drawing/2014/main" val="20003"/>
                    </a:ext>
                  </a:extLst>
                </a:gridCol>
              </a:tblGrid>
              <a:tr h="421070">
                <a:tc>
                  <a:txBody>
                    <a:bodyPr/>
                    <a:lstStyle/>
                    <a:p>
                      <a:pPr marL="0" lvl="0" indent="0" algn="l" rtl="0">
                        <a:spcBef>
                          <a:spcPts val="0"/>
                        </a:spcBef>
                        <a:spcAft>
                          <a:spcPts val="0"/>
                        </a:spcAft>
                        <a:buNone/>
                      </a:pPr>
                      <a:r>
                        <a:rPr lang="en" sz="1200" dirty="0"/>
                        <a:t>Model</a:t>
                      </a:r>
                      <a:endParaRPr sz="12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555555"/>
                          </a:solidFill>
                          <a:latin typeface="Calibri"/>
                          <a:ea typeface="Calibri"/>
                          <a:cs typeface="Calibri"/>
                          <a:sym typeface="Calibri"/>
                        </a:rPr>
                        <a:t>GDP MSE</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555555"/>
                          </a:solidFill>
                          <a:latin typeface="Calibri"/>
                          <a:ea typeface="Calibri"/>
                          <a:cs typeface="Calibri"/>
                          <a:sym typeface="Calibri"/>
                        </a:rPr>
                        <a:t>Inf MSE</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555555"/>
                          </a:solidFill>
                          <a:latin typeface="Calibri"/>
                          <a:ea typeface="Calibri"/>
                          <a:cs typeface="Calibri"/>
                          <a:sym typeface="Calibri"/>
                        </a:rPr>
                        <a:t>Overall</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43448">
                <a:tc>
                  <a:txBody>
                    <a:bodyPr/>
                    <a:lstStyle/>
                    <a:p>
                      <a:pPr marL="0" lvl="0" indent="0" algn="l" rtl="0">
                        <a:spcBef>
                          <a:spcPts val="0"/>
                        </a:spcBef>
                        <a:spcAft>
                          <a:spcPts val="0"/>
                        </a:spcAft>
                        <a:buClr>
                          <a:schemeClr val="dk1"/>
                        </a:buClr>
                        <a:buFont typeface="Arial"/>
                        <a:buNone/>
                      </a:pPr>
                      <a:r>
                        <a:rPr lang="en" sz="1100" dirty="0" err="1">
                          <a:solidFill>
                            <a:srgbClr val="222A3A"/>
                          </a:solidFill>
                          <a:latin typeface="Calibri"/>
                          <a:ea typeface="Calibri"/>
                          <a:cs typeface="Calibri"/>
                          <a:sym typeface="Calibri"/>
                        </a:rPr>
                        <a:t>DLinear</a:t>
                      </a:r>
                      <a:r>
                        <a:rPr lang="en" sz="1100" dirty="0">
                          <a:solidFill>
                            <a:srgbClr val="222A3A"/>
                          </a:solidFill>
                          <a:latin typeface="Calibri"/>
                          <a:ea typeface="Calibri"/>
                          <a:cs typeface="Calibri"/>
                          <a:sym typeface="Calibri"/>
                        </a:rPr>
                        <a:t>  </a:t>
                      </a:r>
                      <a:endParaRPr sz="32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1.797 </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4.234</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3.015</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80841">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NumericalGRU </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 1.514 </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 4.300 </a:t>
                      </a:r>
                      <a:endParaRPr sz="3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dirty="0">
                          <a:solidFill>
                            <a:srgbClr val="222A3A"/>
                          </a:solidFill>
                          <a:latin typeface="Calibri"/>
                          <a:ea typeface="Calibri"/>
                          <a:cs typeface="Calibri"/>
                          <a:sym typeface="Calibri"/>
                        </a:rPr>
                        <a:t>2.907</a:t>
                      </a:r>
                      <a:endParaRPr sz="32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80841">
                <a:tc>
                  <a:txBody>
                    <a:bodyPr/>
                    <a:lstStyle/>
                    <a:p>
                      <a:pPr marL="0" lvl="0" indent="0" algn="l" rtl="0">
                        <a:spcBef>
                          <a:spcPts val="0"/>
                        </a:spcBef>
                        <a:spcAft>
                          <a:spcPts val="0"/>
                        </a:spcAft>
                        <a:buClr>
                          <a:schemeClr val="dk1"/>
                        </a:buClr>
                        <a:buFont typeface="Arial"/>
                        <a:buNone/>
                      </a:pPr>
                      <a:r>
                        <a:rPr lang="en" sz="1100">
                          <a:solidFill>
                            <a:srgbClr val="00B050"/>
                          </a:solidFill>
                          <a:latin typeface="Calibri"/>
                          <a:ea typeface="Calibri"/>
                          <a:cs typeface="Calibri"/>
                          <a:sym typeface="Calibri"/>
                        </a:rPr>
                        <a:t>GR-Add MMF </a:t>
                      </a:r>
                      <a:endParaRPr sz="110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00B050"/>
                          </a:solidFill>
                          <a:latin typeface="Calibri"/>
                          <a:ea typeface="Calibri"/>
                          <a:cs typeface="Calibri"/>
                          <a:sym typeface="Calibri"/>
                        </a:rPr>
                        <a:t>1.495</a:t>
                      </a:r>
                      <a:endParaRPr sz="110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00B050"/>
                          </a:solidFill>
                          <a:latin typeface="Calibri"/>
                          <a:ea typeface="Calibri"/>
                          <a:cs typeface="Calibri"/>
                          <a:sym typeface="Calibri"/>
                        </a:rPr>
                        <a:t> 4.250</a:t>
                      </a:r>
                      <a:endParaRPr sz="110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dirty="0">
                          <a:solidFill>
                            <a:srgbClr val="00B050"/>
                          </a:solidFill>
                          <a:latin typeface="Calibri"/>
                          <a:ea typeface="Calibri"/>
                          <a:cs typeface="Calibri"/>
                          <a:sym typeface="Calibri"/>
                        </a:rPr>
                        <a:t>  2.872  &lt;-- best</a:t>
                      </a:r>
                      <a:endParaRPr sz="1100" dirty="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graphicFrame>
        <p:nvGraphicFramePr>
          <p:cNvPr id="28" name="Google Shape;251;p29">
            <a:extLst>
              <a:ext uri="{FF2B5EF4-FFF2-40B4-BE49-F238E27FC236}">
                <a16:creationId xmlns:a16="http://schemas.microsoft.com/office/drawing/2014/main" id="{E14B9814-8899-8594-3681-9F4B85F97CB2}"/>
              </a:ext>
            </a:extLst>
          </p:cNvPr>
          <p:cNvGraphicFramePr/>
          <p:nvPr>
            <p:extLst>
              <p:ext uri="{D42A27DB-BD31-4B8C-83A1-F6EECF244321}">
                <p14:modId xmlns:p14="http://schemas.microsoft.com/office/powerpoint/2010/main" val="779150241"/>
              </p:ext>
            </p:extLst>
          </p:nvPr>
        </p:nvGraphicFramePr>
        <p:xfrm>
          <a:off x="6440029" y="1785454"/>
          <a:ext cx="5035692" cy="1744130"/>
        </p:xfrm>
        <a:graphic>
          <a:graphicData uri="http://schemas.openxmlformats.org/drawingml/2006/table">
            <a:tbl>
              <a:tblPr>
                <a:noFill/>
              </a:tblPr>
              <a:tblGrid>
                <a:gridCol w="1258923">
                  <a:extLst>
                    <a:ext uri="{9D8B030D-6E8A-4147-A177-3AD203B41FA5}">
                      <a16:colId xmlns:a16="http://schemas.microsoft.com/office/drawing/2014/main" val="20000"/>
                    </a:ext>
                  </a:extLst>
                </a:gridCol>
                <a:gridCol w="1258923">
                  <a:extLst>
                    <a:ext uri="{9D8B030D-6E8A-4147-A177-3AD203B41FA5}">
                      <a16:colId xmlns:a16="http://schemas.microsoft.com/office/drawing/2014/main" val="20001"/>
                    </a:ext>
                  </a:extLst>
                </a:gridCol>
                <a:gridCol w="1258923">
                  <a:extLst>
                    <a:ext uri="{9D8B030D-6E8A-4147-A177-3AD203B41FA5}">
                      <a16:colId xmlns:a16="http://schemas.microsoft.com/office/drawing/2014/main" val="20002"/>
                    </a:ext>
                  </a:extLst>
                </a:gridCol>
                <a:gridCol w="1258923">
                  <a:extLst>
                    <a:ext uri="{9D8B030D-6E8A-4147-A177-3AD203B41FA5}">
                      <a16:colId xmlns:a16="http://schemas.microsoft.com/office/drawing/2014/main" val="20003"/>
                    </a:ext>
                  </a:extLst>
                </a:gridCol>
              </a:tblGrid>
              <a:tr h="406605">
                <a:tc>
                  <a:txBody>
                    <a:bodyPr/>
                    <a:lstStyle/>
                    <a:p>
                      <a:pPr marL="0" lvl="0" indent="0" algn="l" rtl="0">
                        <a:spcBef>
                          <a:spcPts val="0"/>
                        </a:spcBef>
                        <a:spcAft>
                          <a:spcPts val="0"/>
                        </a:spcAft>
                        <a:buNone/>
                      </a:pPr>
                      <a:r>
                        <a:rPr lang="en" sz="1200" dirty="0"/>
                        <a:t>Model</a:t>
                      </a:r>
                      <a:endParaRPr sz="11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dirty="0">
                          <a:solidFill>
                            <a:srgbClr val="555555"/>
                          </a:solidFill>
                          <a:latin typeface="Calibri"/>
                          <a:ea typeface="Calibri"/>
                          <a:cs typeface="Calibri"/>
                          <a:sym typeface="Calibri"/>
                        </a:rPr>
                        <a:t>GDP MSE</a:t>
                      </a:r>
                      <a:endParaRPr sz="12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rgbClr val="555555"/>
                          </a:solidFill>
                          <a:latin typeface="Calibri"/>
                          <a:ea typeface="Calibri"/>
                          <a:cs typeface="Calibri"/>
                          <a:sym typeface="Calibri"/>
                        </a:rPr>
                        <a:t>Inf MSE</a:t>
                      </a:r>
                      <a:endParaRPr sz="12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dirty="0">
                          <a:solidFill>
                            <a:srgbClr val="555555"/>
                          </a:solidFill>
                          <a:latin typeface="Calibri"/>
                          <a:ea typeface="Calibri"/>
                          <a:cs typeface="Calibri"/>
                          <a:sym typeface="Calibri"/>
                        </a:rPr>
                        <a:t>Overall</a:t>
                      </a:r>
                      <a:endParaRPr sz="12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51973">
                <a:tc>
                  <a:txBody>
                    <a:bodyPr/>
                    <a:lstStyle/>
                    <a:p>
                      <a:pPr marL="0" lvl="0" indent="0" algn="l" rtl="0">
                        <a:spcBef>
                          <a:spcPts val="0"/>
                        </a:spcBef>
                        <a:spcAft>
                          <a:spcPts val="0"/>
                        </a:spcAft>
                        <a:buNone/>
                      </a:pPr>
                      <a:r>
                        <a:rPr lang="en" sz="1100">
                          <a:solidFill>
                            <a:srgbClr val="222A3A"/>
                          </a:solidFill>
                          <a:latin typeface="Calibri"/>
                          <a:ea typeface="Calibri"/>
                          <a:cs typeface="Calibri"/>
                          <a:sym typeface="Calibri"/>
                        </a:rPr>
                        <a:t>DLinear  </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100">
                          <a:solidFill>
                            <a:srgbClr val="222A3A"/>
                          </a:solidFill>
                          <a:latin typeface="Calibri"/>
                          <a:ea typeface="Calibri"/>
                          <a:cs typeface="Calibri"/>
                          <a:sym typeface="Calibri"/>
                        </a:rPr>
                        <a:t>1.344 </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100">
                          <a:solidFill>
                            <a:srgbClr val="222A3A"/>
                          </a:solidFill>
                          <a:latin typeface="Calibri"/>
                          <a:ea typeface="Calibri"/>
                          <a:cs typeface="Calibri"/>
                          <a:sym typeface="Calibri"/>
                        </a:rPr>
                        <a:t>4.027</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2.685</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92776">
                <a:tc>
                  <a:txBody>
                    <a:bodyPr/>
                    <a:lstStyle/>
                    <a:p>
                      <a:pPr marL="0" lvl="0" indent="0" algn="l" rtl="0">
                        <a:spcBef>
                          <a:spcPts val="0"/>
                        </a:spcBef>
                        <a:spcAft>
                          <a:spcPts val="0"/>
                        </a:spcAft>
                        <a:buNone/>
                      </a:pPr>
                      <a:r>
                        <a:rPr lang="en" sz="1100">
                          <a:solidFill>
                            <a:srgbClr val="222A3A"/>
                          </a:solidFill>
                          <a:latin typeface="Calibri"/>
                          <a:ea typeface="Calibri"/>
                          <a:cs typeface="Calibri"/>
                          <a:sym typeface="Calibri"/>
                        </a:rPr>
                        <a:t>NumericalGRU </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100" dirty="0">
                          <a:solidFill>
                            <a:srgbClr val="222A3A"/>
                          </a:solidFill>
                          <a:latin typeface="Calibri"/>
                          <a:ea typeface="Calibri"/>
                          <a:cs typeface="Calibri"/>
                          <a:sym typeface="Calibri"/>
                        </a:rPr>
                        <a:t> 1.483</a:t>
                      </a:r>
                      <a:endParaRPr sz="11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a:solidFill>
                            <a:srgbClr val="222A3A"/>
                          </a:solidFill>
                          <a:latin typeface="Calibri"/>
                          <a:ea typeface="Calibri"/>
                          <a:cs typeface="Calibri"/>
                          <a:sym typeface="Calibri"/>
                        </a:rPr>
                        <a:t>4.198 </a:t>
                      </a:r>
                      <a:endParaRPr sz="11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Font typeface="Arial"/>
                        <a:buNone/>
                      </a:pPr>
                      <a:r>
                        <a:rPr lang="en" sz="1100" dirty="0">
                          <a:solidFill>
                            <a:srgbClr val="222A3A"/>
                          </a:solidFill>
                          <a:latin typeface="Calibri"/>
                          <a:ea typeface="Calibri"/>
                          <a:cs typeface="Calibri"/>
                          <a:sym typeface="Calibri"/>
                        </a:rPr>
                        <a:t>  2.841</a:t>
                      </a:r>
                      <a:endParaRPr sz="11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92776">
                <a:tc>
                  <a:txBody>
                    <a:bodyPr/>
                    <a:lstStyle/>
                    <a:p>
                      <a:pPr marL="0" lvl="0" indent="0" algn="l" rtl="0">
                        <a:spcBef>
                          <a:spcPts val="0"/>
                        </a:spcBef>
                        <a:spcAft>
                          <a:spcPts val="0"/>
                        </a:spcAft>
                        <a:buNone/>
                      </a:pPr>
                      <a:r>
                        <a:rPr lang="en" sz="1100">
                          <a:solidFill>
                            <a:srgbClr val="00B050"/>
                          </a:solidFill>
                          <a:latin typeface="Calibri"/>
                          <a:ea typeface="Calibri"/>
                          <a:cs typeface="Calibri"/>
                          <a:sym typeface="Calibri"/>
                        </a:rPr>
                        <a:t>GR-Add MMF </a:t>
                      </a:r>
                      <a:endParaRPr sz="110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100" dirty="0">
                          <a:solidFill>
                            <a:srgbClr val="00B050"/>
                          </a:solidFill>
                          <a:latin typeface="Calibri"/>
                          <a:ea typeface="Calibri"/>
                          <a:cs typeface="Calibri"/>
                          <a:sym typeface="Calibri"/>
                        </a:rPr>
                        <a:t>1.447</a:t>
                      </a:r>
                      <a:endParaRPr sz="1100" dirty="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100" dirty="0">
                          <a:solidFill>
                            <a:srgbClr val="00B050"/>
                          </a:solidFill>
                          <a:latin typeface="Calibri"/>
                          <a:ea typeface="Calibri"/>
                          <a:cs typeface="Calibri"/>
                          <a:sym typeface="Calibri"/>
                        </a:rPr>
                        <a:t> 3.909</a:t>
                      </a:r>
                      <a:endParaRPr sz="1100" dirty="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100" dirty="0">
                          <a:solidFill>
                            <a:srgbClr val="00B050"/>
                          </a:solidFill>
                          <a:latin typeface="Calibri"/>
                          <a:ea typeface="Calibri"/>
                          <a:cs typeface="Calibri"/>
                          <a:sym typeface="Calibri"/>
                        </a:rPr>
                        <a:t>  2.678  &lt;-- best</a:t>
                      </a:r>
                      <a:endParaRPr sz="1100" dirty="0">
                        <a:solidFill>
                          <a:srgbClr val="222A3A"/>
                        </a:solidFill>
                        <a:latin typeface="Calibri"/>
                        <a:ea typeface="Calibri"/>
                        <a:cs typeface="Calibri"/>
                        <a:sym typeface="Calibri"/>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Benchmark Comparison — vs Persistence Baseline</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Persistence: forecast(t) = actual(t-1)  ·  Standard random-walk benchmark in forecasting</a:t>
            </a:r>
          </a:p>
        </p:txBody>
      </p:sp>
      <p:pic>
        <p:nvPicPr>
          <p:cNvPr id="6" name="Picture 5" descr="benchmark_comparison.png"/>
          <p:cNvPicPr>
            <a:picLocks noChangeAspect="1"/>
          </p:cNvPicPr>
          <p:nvPr/>
        </p:nvPicPr>
        <p:blipFill>
          <a:blip r:embed="rId3"/>
          <a:stretch>
            <a:fillRect/>
          </a:stretch>
        </p:blipFill>
        <p:spPr>
          <a:xfrm>
            <a:off x="365760" y="1188720"/>
            <a:ext cx="7132320" cy="4389120"/>
          </a:xfrm>
          <a:prstGeom prst="rect">
            <a:avLst/>
          </a:prstGeom>
        </p:spPr>
      </p:pic>
      <p:sp>
        <p:nvSpPr>
          <p:cNvPr id="7" name="Rectangle 6"/>
          <p:cNvSpPr/>
          <p:nvPr/>
        </p:nvSpPr>
        <p:spPr>
          <a:xfrm>
            <a:off x="7818120" y="1188720"/>
            <a:ext cx="3977639" cy="4389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818120" y="1188720"/>
            <a:ext cx="3977639"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09560" y="1234440"/>
            <a:ext cx="3840479" cy="256032"/>
          </a:xfrm>
          <a:prstGeom prst="rect">
            <a:avLst/>
          </a:prstGeom>
          <a:noFill/>
        </p:spPr>
        <p:txBody>
          <a:bodyPr wrap="square">
            <a:spAutoFit/>
          </a:bodyPr>
          <a:lstStyle/>
          <a:p>
            <a:pPr algn="l"/>
            <a:r>
              <a:rPr sz="1000" b="1" i="0">
                <a:solidFill>
                  <a:srgbClr val="FFFFFF"/>
                </a:solidFill>
              </a:rPr>
              <a:t>TEST MSE SUMMARY</a:t>
            </a:r>
          </a:p>
        </p:txBody>
      </p:sp>
      <p:sp>
        <p:nvSpPr>
          <p:cNvPr id="10" name="TextBox 9"/>
          <p:cNvSpPr txBox="1"/>
          <p:nvPr/>
        </p:nvSpPr>
        <p:spPr>
          <a:xfrm>
            <a:off x="7909560" y="1572768"/>
            <a:ext cx="3840479" cy="3950208"/>
          </a:xfrm>
          <a:prstGeom prst="rect">
            <a:avLst/>
          </a:prstGeom>
          <a:noFill/>
        </p:spPr>
        <p:txBody>
          <a:bodyPr wrap="square">
            <a:spAutoFit/>
          </a:bodyPr>
          <a:lstStyle/>
          <a:p>
            <a:endParaRPr/>
          </a:p>
        </p:txBody>
      </p:sp>
      <p:sp>
        <p:nvSpPr>
          <p:cNvPr id="11" name="TextBox 10"/>
          <p:cNvSpPr txBox="1"/>
          <p:nvPr/>
        </p:nvSpPr>
        <p:spPr>
          <a:xfrm>
            <a:off x="7909560" y="1609344"/>
            <a:ext cx="3794760" cy="292608"/>
          </a:xfrm>
          <a:prstGeom prst="rect">
            <a:avLst/>
          </a:prstGeom>
          <a:noFill/>
        </p:spPr>
        <p:txBody>
          <a:bodyPr wrap="square">
            <a:spAutoFit/>
          </a:bodyPr>
          <a:lstStyle/>
          <a:p>
            <a:pPr algn="l"/>
            <a:r>
              <a:rPr sz="950">
                <a:solidFill>
                  <a:srgbClr val="555555"/>
                </a:solidFill>
              </a:rPr>
              <a:t>Model                Overall MSE</a:t>
            </a:r>
          </a:p>
        </p:txBody>
      </p:sp>
      <p:sp>
        <p:nvSpPr>
          <p:cNvPr id="12" name="TextBox 11"/>
          <p:cNvSpPr txBox="1"/>
          <p:nvPr/>
        </p:nvSpPr>
        <p:spPr>
          <a:xfrm>
            <a:off x="7909560" y="1901952"/>
            <a:ext cx="3794760" cy="365760"/>
          </a:xfrm>
          <a:prstGeom prst="rect">
            <a:avLst/>
          </a:prstGeom>
          <a:noFill/>
        </p:spPr>
        <p:txBody>
          <a:bodyPr wrap="square">
            <a:spAutoFit/>
          </a:bodyPr>
          <a:lstStyle/>
          <a:p>
            <a:pPr algn="l"/>
            <a:r>
              <a:rPr sz="1050">
                <a:solidFill>
                  <a:srgbClr val="8B0000"/>
                </a:solidFill>
              </a:rPr>
              <a:t>Persistence      105.44</a:t>
            </a:r>
          </a:p>
        </p:txBody>
      </p:sp>
      <p:sp>
        <p:nvSpPr>
          <p:cNvPr id="13" name="TextBox 12"/>
          <p:cNvSpPr txBox="1"/>
          <p:nvPr/>
        </p:nvSpPr>
        <p:spPr>
          <a:xfrm>
            <a:off x="7909560" y="2340864"/>
            <a:ext cx="3794760" cy="365760"/>
          </a:xfrm>
          <a:prstGeom prst="rect">
            <a:avLst/>
          </a:prstGeom>
          <a:noFill/>
        </p:spPr>
        <p:txBody>
          <a:bodyPr wrap="square">
            <a:spAutoFit/>
          </a:bodyPr>
          <a:lstStyle/>
          <a:p>
            <a:pPr algn="l"/>
            <a:r>
              <a:rPr sz="1050">
                <a:solidFill>
                  <a:srgbClr val="222A3A"/>
                </a:solidFill>
              </a:rPr>
              <a:t>DLinear          2.69</a:t>
            </a:r>
          </a:p>
        </p:txBody>
      </p:sp>
      <p:sp>
        <p:nvSpPr>
          <p:cNvPr id="14" name="TextBox 13"/>
          <p:cNvSpPr txBox="1"/>
          <p:nvPr/>
        </p:nvSpPr>
        <p:spPr>
          <a:xfrm>
            <a:off x="7909560" y="2779776"/>
            <a:ext cx="3794760" cy="365760"/>
          </a:xfrm>
          <a:prstGeom prst="rect">
            <a:avLst/>
          </a:prstGeom>
          <a:noFill/>
        </p:spPr>
        <p:txBody>
          <a:bodyPr wrap="square">
            <a:spAutoFit/>
          </a:bodyPr>
          <a:lstStyle/>
          <a:p>
            <a:pPr algn="l"/>
            <a:r>
              <a:rPr sz="1050">
                <a:solidFill>
                  <a:srgbClr val="222A3A"/>
                </a:solidFill>
              </a:rPr>
              <a:t>NumericalGRU     2.84</a:t>
            </a:r>
          </a:p>
        </p:txBody>
      </p:sp>
      <p:sp>
        <p:nvSpPr>
          <p:cNvPr id="15" name="TextBox 14"/>
          <p:cNvSpPr txBox="1"/>
          <p:nvPr/>
        </p:nvSpPr>
        <p:spPr>
          <a:xfrm>
            <a:off x="7909560" y="3218688"/>
            <a:ext cx="3794760" cy="253916"/>
          </a:xfrm>
          <a:prstGeom prst="rect">
            <a:avLst/>
          </a:prstGeom>
          <a:noFill/>
        </p:spPr>
        <p:txBody>
          <a:bodyPr wrap="square">
            <a:spAutoFit/>
          </a:bodyPr>
          <a:lstStyle/>
          <a:p>
            <a:pPr algn="l"/>
            <a:r>
              <a:rPr sz="1050" dirty="0">
                <a:solidFill>
                  <a:srgbClr val="00B050"/>
                </a:solidFill>
              </a:rPr>
              <a:t>GR-Add MMF       2.68</a:t>
            </a:r>
          </a:p>
        </p:txBody>
      </p:sp>
      <p:sp>
        <p:nvSpPr>
          <p:cNvPr id="16" name="Rectangle 15"/>
          <p:cNvSpPr/>
          <p:nvPr/>
        </p:nvSpPr>
        <p:spPr>
          <a:xfrm>
            <a:off x="7818120" y="3611880"/>
            <a:ext cx="3977639" cy="6858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909560" y="3675887"/>
            <a:ext cx="3794760" cy="548640"/>
          </a:xfrm>
          <a:prstGeom prst="rect">
            <a:avLst/>
          </a:prstGeom>
          <a:noFill/>
        </p:spPr>
        <p:txBody>
          <a:bodyPr wrap="square">
            <a:spAutoFit/>
          </a:bodyPr>
          <a:lstStyle/>
          <a:p>
            <a:pPr algn="l"/>
            <a:r>
              <a:rPr sz="1100">
                <a:solidFill>
                  <a:srgbClr val="FFFFFF"/>
                </a:solidFill>
              </a:rPr>
              <a:t>GR-Add reduction:</a:t>
            </a:r>
          </a:p>
          <a:p>
            <a:pPr algn="l"/>
            <a:r>
              <a:rPr sz="1100">
                <a:solidFill>
                  <a:srgbClr val="FFFFFF"/>
                </a:solidFill>
              </a:rPr>
              <a:t>97.5% vs persistence</a:t>
            </a:r>
          </a:p>
        </p:txBody>
      </p:sp>
      <p:sp>
        <p:nvSpPr>
          <p:cNvPr id="18" name="Rectangle 17"/>
          <p:cNvSpPr/>
          <p:nvPr/>
        </p:nvSpPr>
        <p:spPr>
          <a:xfrm>
            <a:off x="365760" y="5742432"/>
            <a:ext cx="11430000" cy="71323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5833872"/>
            <a:ext cx="11155680" cy="530352"/>
          </a:xfrm>
          <a:prstGeom prst="rect">
            <a:avLst/>
          </a:prstGeom>
          <a:noFill/>
        </p:spPr>
        <p:txBody>
          <a:bodyPr wrap="square">
            <a:spAutoFit/>
          </a:bodyPr>
          <a:lstStyle/>
          <a:p>
            <a:pPr algn="l"/>
            <a:r>
              <a:rPr sz="1050">
                <a:solidFill>
                  <a:srgbClr val="1A1A2E"/>
                </a:solidFill>
              </a:rPr>
              <a:t>Persistence predicts year t from year t-1 observed value — the naive "random walk" benchmark used in macroeconomics.</a:t>
            </a:r>
          </a:p>
          <a:p>
            <a:pPr algn="l"/>
            <a:r>
              <a:rPr sz="1050">
                <a:solidFill>
                  <a:srgbClr val="1A1A2E"/>
                </a:solidFill>
              </a:rPr>
              <a:t>GR-Add MMF (2.678) beats persistence (105.44) by 97.5% — a strong result given only 102 training samples.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Secondary Analysis — Do Gappier Countries Benefit More?</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Two definitions of 'gappy'  ·  GR-Add MMF vs DLinear / NumericalGRU  ·  OpenAI embeddings</a:t>
            </a:r>
          </a:p>
        </p:txBody>
      </p:sp>
      <p:sp>
        <p:nvSpPr>
          <p:cNvPr id="6" name="Rectangle 5"/>
          <p:cNvSpPr/>
          <p:nvPr/>
        </p:nvSpPr>
        <p:spPr>
          <a:xfrm>
            <a:off x="365760" y="1325880"/>
            <a:ext cx="11430000" cy="15544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114300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11292840" cy="256032"/>
          </a:xfrm>
          <a:prstGeom prst="rect">
            <a:avLst/>
          </a:prstGeom>
          <a:noFill/>
        </p:spPr>
        <p:txBody>
          <a:bodyPr wrap="square">
            <a:spAutoFit/>
          </a:bodyPr>
          <a:lstStyle/>
          <a:p>
            <a:pPr algn="l"/>
            <a:r>
              <a:rPr sz="1000" b="1" i="0">
                <a:solidFill>
                  <a:srgbClr val="FFFFFF"/>
                </a:solidFill>
              </a:rPr>
              <a:t>DEFINITION 1 — WDI Numerical Missingness  (fraction of indicator-year cells missing in context window)</a:t>
            </a:r>
          </a:p>
        </p:txBody>
      </p:sp>
      <p:sp>
        <p:nvSpPr>
          <p:cNvPr id="9" name="TextBox 8"/>
          <p:cNvSpPr txBox="1"/>
          <p:nvPr/>
        </p:nvSpPr>
        <p:spPr>
          <a:xfrm>
            <a:off x="457200" y="1709928"/>
            <a:ext cx="11292840" cy="1115568"/>
          </a:xfrm>
          <a:prstGeom prst="rect">
            <a:avLst/>
          </a:prstGeom>
          <a:noFill/>
        </p:spPr>
        <p:txBody>
          <a:bodyPr wrap="square">
            <a:spAutoFit/>
          </a:bodyPr>
          <a:lstStyle/>
          <a:p>
            <a:endParaRPr/>
          </a:p>
        </p:txBody>
      </p:sp>
      <p:sp>
        <p:nvSpPr>
          <p:cNvPr id="10" name="TextBox 9"/>
          <p:cNvSpPr txBox="1"/>
          <p:nvPr/>
        </p:nvSpPr>
        <p:spPr>
          <a:xfrm>
            <a:off x="502920" y="1746504"/>
            <a:ext cx="11155680" cy="256032"/>
          </a:xfrm>
          <a:prstGeom prst="rect">
            <a:avLst/>
          </a:prstGeom>
          <a:noFill/>
        </p:spPr>
        <p:txBody>
          <a:bodyPr wrap="square">
            <a:spAutoFit/>
          </a:bodyPr>
          <a:lstStyle/>
          <a:p>
            <a:pPr algn="l"/>
            <a:r>
              <a:rPr sz="950">
                <a:solidFill>
                  <a:srgbClr val="555555"/>
                </a:solidFill>
              </a:rPr>
              <a:t>Stratified by median sample-level WDI mask fill rate  ·  GR-Add vs DLinear  ·  test set 2022-2023</a:t>
            </a:r>
          </a:p>
        </p:txBody>
      </p:sp>
      <p:sp>
        <p:nvSpPr>
          <p:cNvPr id="11" name="Rectangle 10"/>
          <p:cNvSpPr/>
          <p:nvPr/>
        </p:nvSpPr>
        <p:spPr>
          <a:xfrm>
            <a:off x="502920" y="2029968"/>
            <a:ext cx="5212080" cy="457200"/>
          </a:xfrm>
          <a:prstGeom prst="rect">
            <a:avLst/>
          </a:prstGeom>
          <a:solidFill>
            <a:srgbClr val="FF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2103120"/>
            <a:ext cx="4974336" cy="329184"/>
          </a:xfrm>
          <a:prstGeom prst="rect">
            <a:avLst/>
          </a:prstGeom>
          <a:noFill/>
        </p:spPr>
        <p:txBody>
          <a:bodyPr wrap="square">
            <a:spAutoFit/>
          </a:bodyPr>
          <a:lstStyle/>
          <a:p>
            <a:pPr algn="l"/>
            <a:r>
              <a:rPr sz="1050">
                <a:solidFill>
                  <a:srgbClr val="8B0000"/>
                </a:solidFill>
              </a:rPr>
              <a:t>LOW numerical miss (&lt;=median):  DLinear=4.835   GR-Add=4.871   improvement = -0.8%</a:t>
            </a:r>
          </a:p>
        </p:txBody>
      </p:sp>
      <p:sp>
        <p:nvSpPr>
          <p:cNvPr id="13" name="Rectangle 12"/>
          <p:cNvSpPr/>
          <p:nvPr/>
        </p:nvSpPr>
        <p:spPr>
          <a:xfrm>
            <a:off x="6080760" y="2029968"/>
            <a:ext cx="5212080" cy="4572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99632" y="2103120"/>
            <a:ext cx="4974336" cy="329184"/>
          </a:xfrm>
          <a:prstGeom prst="rect">
            <a:avLst/>
          </a:prstGeom>
          <a:noFill/>
        </p:spPr>
        <p:txBody>
          <a:bodyPr wrap="square">
            <a:spAutoFit/>
          </a:bodyPr>
          <a:lstStyle/>
          <a:p>
            <a:pPr algn="l"/>
            <a:r>
              <a:rPr sz="1050">
                <a:solidFill>
                  <a:srgbClr val="0A6A2E"/>
                </a:solidFill>
              </a:rPr>
              <a:t>HIGH numerical miss (&gt;median):  DLinear=0.536   GR-Add=0.485   improvement = +9.4%</a:t>
            </a:r>
          </a:p>
        </p:txBody>
      </p:sp>
      <p:sp>
        <p:nvSpPr>
          <p:cNvPr id="15" name="Rectangle 14"/>
          <p:cNvSpPr/>
          <p:nvPr/>
        </p:nvSpPr>
        <p:spPr>
          <a:xfrm>
            <a:off x="365760" y="2560320"/>
            <a:ext cx="11430000" cy="256032"/>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2596896"/>
            <a:ext cx="11155680" cy="201168"/>
          </a:xfrm>
          <a:prstGeom prst="rect">
            <a:avLst/>
          </a:prstGeom>
          <a:noFill/>
        </p:spPr>
        <p:txBody>
          <a:bodyPr wrap="square">
            <a:spAutoFit/>
          </a:bodyPr>
          <a:lstStyle/>
          <a:p>
            <a:pPr algn="l"/>
            <a:r>
              <a:rPr sz="950" b="1" i="0">
                <a:solidFill>
                  <a:srgbClr val="FFFFFF"/>
                </a:solidFill>
              </a:rPr>
              <a:t>Hypothesis CONFIRMED for WDI gaps: text adds +9.4% when numerical data is sparse; hurts slightly (-0.8%) when data is complete.</a:t>
            </a:r>
          </a:p>
        </p:txBody>
      </p:sp>
      <p:sp>
        <p:nvSpPr>
          <p:cNvPr id="17" name="Rectangle 16"/>
          <p:cNvSpPr/>
          <p:nvPr/>
        </p:nvSpPr>
        <p:spPr>
          <a:xfrm>
            <a:off x="365760" y="2999232"/>
            <a:ext cx="5394960" cy="2651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2999232"/>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044951"/>
            <a:ext cx="5257800" cy="256032"/>
          </a:xfrm>
          <a:prstGeom prst="rect">
            <a:avLst/>
          </a:prstGeom>
          <a:noFill/>
        </p:spPr>
        <p:txBody>
          <a:bodyPr wrap="square">
            <a:spAutoFit/>
          </a:bodyPr>
          <a:lstStyle/>
          <a:p>
            <a:pPr algn="l"/>
            <a:r>
              <a:rPr sz="1000" b="1" i="0">
                <a:solidFill>
                  <a:srgbClr val="FFFFFF"/>
                </a:solidFill>
              </a:rPr>
              <a:t>DEFINITION 2 — LOW Text Coverage  (&lt;=37% years missing Article IV)</a:t>
            </a:r>
          </a:p>
        </p:txBody>
      </p:sp>
      <p:sp>
        <p:nvSpPr>
          <p:cNvPr id="20" name="TextBox 19"/>
          <p:cNvSpPr txBox="1"/>
          <p:nvPr/>
        </p:nvSpPr>
        <p:spPr>
          <a:xfrm>
            <a:off x="457200" y="3383279"/>
            <a:ext cx="5257800" cy="2212848"/>
          </a:xfrm>
          <a:prstGeom prst="rect">
            <a:avLst/>
          </a:prstGeom>
          <a:noFill/>
        </p:spPr>
        <p:txBody>
          <a:bodyPr wrap="square">
            <a:spAutoFit/>
          </a:bodyPr>
          <a:lstStyle/>
          <a:p>
            <a:endParaRPr/>
          </a:p>
        </p:txBody>
      </p:sp>
      <p:sp>
        <p:nvSpPr>
          <p:cNvPr id="21" name="TextBox 20"/>
          <p:cNvSpPr txBox="1"/>
          <p:nvPr/>
        </p:nvSpPr>
        <p:spPr>
          <a:xfrm>
            <a:off x="502920" y="3410712"/>
            <a:ext cx="5120640" cy="256032"/>
          </a:xfrm>
          <a:prstGeom prst="rect">
            <a:avLst/>
          </a:prstGeom>
          <a:noFill/>
        </p:spPr>
        <p:txBody>
          <a:bodyPr wrap="square">
            <a:spAutoFit/>
          </a:bodyPr>
          <a:lstStyle/>
          <a:p>
            <a:pPr algn="l"/>
            <a:r>
              <a:rPr sz="950">
                <a:solidFill>
                  <a:srgbClr val="555555"/>
                </a:solidFill>
              </a:rPr>
              <a:t>Country   Miss%  Texts  GRU MSE  MMF MSE  Gain%</a:t>
            </a:r>
          </a:p>
        </p:txBody>
      </p:sp>
      <p:sp>
        <p:nvSpPr>
          <p:cNvPr id="22" name="TextBox 21"/>
          <p:cNvSpPr txBox="1"/>
          <p:nvPr/>
        </p:nvSpPr>
        <p:spPr>
          <a:xfrm>
            <a:off x="502920" y="3703320"/>
            <a:ext cx="5120640" cy="238527"/>
          </a:xfrm>
          <a:prstGeom prst="rect">
            <a:avLst/>
          </a:prstGeom>
          <a:noFill/>
        </p:spPr>
        <p:txBody>
          <a:bodyPr wrap="square">
            <a:spAutoFit/>
          </a:bodyPr>
          <a:lstStyle/>
          <a:p>
            <a:pPr algn="l"/>
            <a:r>
              <a:rPr sz="950">
                <a:solidFill>
                  <a:srgbClr val="00B050"/>
                </a:solidFill>
              </a:rPr>
              <a:t>JPN       16%     16    0.031    0.004   +86.3%</a:t>
            </a:r>
          </a:p>
        </p:txBody>
      </p:sp>
      <p:sp>
        <p:nvSpPr>
          <p:cNvPr id="23" name="TextBox 22"/>
          <p:cNvSpPr txBox="1"/>
          <p:nvPr/>
        </p:nvSpPr>
        <p:spPr>
          <a:xfrm>
            <a:off x="502920" y="4023359"/>
            <a:ext cx="5120640" cy="238527"/>
          </a:xfrm>
          <a:prstGeom prst="rect">
            <a:avLst/>
          </a:prstGeom>
          <a:noFill/>
        </p:spPr>
        <p:txBody>
          <a:bodyPr wrap="square">
            <a:spAutoFit/>
          </a:bodyPr>
          <a:lstStyle/>
          <a:p>
            <a:pPr algn="l"/>
            <a:r>
              <a:rPr sz="950">
                <a:solidFill>
                  <a:srgbClr val="00B050"/>
                </a:solidFill>
              </a:rPr>
              <a:t>KAZ       11%     17    0.636    0.347   +45.5%</a:t>
            </a:r>
          </a:p>
        </p:txBody>
      </p:sp>
      <p:sp>
        <p:nvSpPr>
          <p:cNvPr id="24" name="TextBox 23"/>
          <p:cNvSpPr txBox="1"/>
          <p:nvPr/>
        </p:nvSpPr>
        <p:spPr>
          <a:xfrm>
            <a:off x="502920" y="4343400"/>
            <a:ext cx="5120640" cy="256032"/>
          </a:xfrm>
          <a:prstGeom prst="rect">
            <a:avLst/>
          </a:prstGeom>
          <a:noFill/>
        </p:spPr>
        <p:txBody>
          <a:bodyPr wrap="square">
            <a:spAutoFit/>
          </a:bodyPr>
          <a:lstStyle/>
          <a:p>
            <a:pPr algn="l"/>
            <a:r>
              <a:rPr sz="950">
                <a:solidFill>
                  <a:srgbClr val="222A3A"/>
                </a:solidFill>
              </a:rPr>
              <a:t>HRV       26%     14    0.568    0.678   -19.5%</a:t>
            </a:r>
          </a:p>
        </p:txBody>
      </p:sp>
      <p:sp>
        <p:nvSpPr>
          <p:cNvPr id="25" name="TextBox 24"/>
          <p:cNvSpPr txBox="1"/>
          <p:nvPr/>
        </p:nvSpPr>
        <p:spPr>
          <a:xfrm>
            <a:off x="502920" y="4663440"/>
            <a:ext cx="5120640" cy="238527"/>
          </a:xfrm>
          <a:prstGeom prst="rect">
            <a:avLst/>
          </a:prstGeom>
          <a:noFill/>
        </p:spPr>
        <p:txBody>
          <a:bodyPr wrap="square">
            <a:spAutoFit/>
          </a:bodyPr>
          <a:lstStyle/>
          <a:p>
            <a:pPr algn="l"/>
            <a:r>
              <a:rPr sz="950">
                <a:solidFill>
                  <a:srgbClr val="00B050"/>
                </a:solidFill>
              </a:rPr>
              <a:t>MKD       26%     14    1.121    1.076    +4.0%</a:t>
            </a:r>
          </a:p>
        </p:txBody>
      </p:sp>
      <p:sp>
        <p:nvSpPr>
          <p:cNvPr id="26" name="TextBox 25"/>
          <p:cNvSpPr txBox="1"/>
          <p:nvPr/>
        </p:nvSpPr>
        <p:spPr>
          <a:xfrm>
            <a:off x="502920" y="4983479"/>
            <a:ext cx="5120640" cy="238527"/>
          </a:xfrm>
          <a:prstGeom prst="rect">
            <a:avLst/>
          </a:prstGeom>
          <a:noFill/>
        </p:spPr>
        <p:txBody>
          <a:bodyPr wrap="square">
            <a:spAutoFit/>
          </a:bodyPr>
          <a:lstStyle/>
          <a:p>
            <a:pPr algn="l"/>
            <a:r>
              <a:rPr sz="950" dirty="0">
                <a:solidFill>
                  <a:srgbClr val="00B050"/>
                </a:solidFill>
              </a:rPr>
              <a:t>BGR       32%     13    0.726    0.722    +0.6%</a:t>
            </a:r>
          </a:p>
        </p:txBody>
      </p:sp>
      <p:sp>
        <p:nvSpPr>
          <p:cNvPr id="27" name="TextBox 26"/>
          <p:cNvSpPr txBox="1"/>
          <p:nvPr/>
        </p:nvSpPr>
        <p:spPr>
          <a:xfrm>
            <a:off x="502920" y="5303520"/>
            <a:ext cx="5120640" cy="256032"/>
          </a:xfrm>
          <a:prstGeom prst="rect">
            <a:avLst/>
          </a:prstGeom>
          <a:noFill/>
        </p:spPr>
        <p:txBody>
          <a:bodyPr wrap="square">
            <a:spAutoFit/>
          </a:bodyPr>
          <a:lstStyle/>
          <a:p>
            <a:pPr algn="l"/>
            <a:r>
              <a:rPr sz="950">
                <a:solidFill>
                  <a:srgbClr val="222A3A"/>
                </a:solidFill>
              </a:rPr>
              <a:t>USA        0%     19    0.160    0.252   -57.6%</a:t>
            </a:r>
          </a:p>
        </p:txBody>
      </p:sp>
      <p:sp>
        <p:nvSpPr>
          <p:cNvPr id="28" name="Rectangle 27"/>
          <p:cNvSpPr/>
          <p:nvPr/>
        </p:nvSpPr>
        <p:spPr>
          <a:xfrm>
            <a:off x="6217920" y="2999232"/>
            <a:ext cx="5577840" cy="2651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217920" y="2999232"/>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09359" y="3044951"/>
            <a:ext cx="5440679" cy="256032"/>
          </a:xfrm>
          <a:prstGeom prst="rect">
            <a:avLst/>
          </a:prstGeom>
          <a:noFill/>
        </p:spPr>
        <p:txBody>
          <a:bodyPr wrap="square">
            <a:spAutoFit/>
          </a:bodyPr>
          <a:lstStyle/>
          <a:p>
            <a:pPr algn="l"/>
            <a:r>
              <a:rPr sz="1000" b="1" i="0">
                <a:solidFill>
                  <a:srgbClr val="FFFFFF"/>
                </a:solidFill>
              </a:rPr>
              <a:t>DEFINITION 2 — HIGH Text Coverage  (&gt;37% years missing Article IV)</a:t>
            </a:r>
          </a:p>
        </p:txBody>
      </p:sp>
      <p:sp>
        <p:nvSpPr>
          <p:cNvPr id="31" name="TextBox 30"/>
          <p:cNvSpPr txBox="1"/>
          <p:nvPr/>
        </p:nvSpPr>
        <p:spPr>
          <a:xfrm>
            <a:off x="6309359" y="3383279"/>
            <a:ext cx="5440679" cy="2212848"/>
          </a:xfrm>
          <a:prstGeom prst="rect">
            <a:avLst/>
          </a:prstGeom>
          <a:noFill/>
        </p:spPr>
        <p:txBody>
          <a:bodyPr wrap="square">
            <a:spAutoFit/>
          </a:bodyPr>
          <a:lstStyle/>
          <a:p>
            <a:endParaRPr/>
          </a:p>
        </p:txBody>
      </p:sp>
      <p:sp>
        <p:nvSpPr>
          <p:cNvPr id="32" name="TextBox 31"/>
          <p:cNvSpPr txBox="1"/>
          <p:nvPr/>
        </p:nvSpPr>
        <p:spPr>
          <a:xfrm>
            <a:off x="6355080" y="3410712"/>
            <a:ext cx="5303520" cy="256032"/>
          </a:xfrm>
          <a:prstGeom prst="rect">
            <a:avLst/>
          </a:prstGeom>
          <a:noFill/>
        </p:spPr>
        <p:txBody>
          <a:bodyPr wrap="square">
            <a:spAutoFit/>
          </a:bodyPr>
          <a:lstStyle/>
          <a:p>
            <a:pPr algn="l"/>
            <a:r>
              <a:rPr sz="950">
                <a:solidFill>
                  <a:srgbClr val="555555"/>
                </a:solidFill>
              </a:rPr>
              <a:t>Country   Miss%  Texts  GRU MSE  MMF MSE  Gain%</a:t>
            </a:r>
          </a:p>
        </p:txBody>
      </p:sp>
      <p:sp>
        <p:nvSpPr>
          <p:cNvPr id="33" name="TextBox 32"/>
          <p:cNvSpPr txBox="1"/>
          <p:nvPr/>
        </p:nvSpPr>
        <p:spPr>
          <a:xfrm>
            <a:off x="6355080" y="3703320"/>
            <a:ext cx="5303520" cy="238527"/>
          </a:xfrm>
          <a:prstGeom prst="rect">
            <a:avLst/>
          </a:prstGeom>
          <a:noFill/>
        </p:spPr>
        <p:txBody>
          <a:bodyPr wrap="square">
            <a:spAutoFit/>
          </a:bodyPr>
          <a:lstStyle/>
          <a:p>
            <a:pPr algn="l"/>
            <a:r>
              <a:rPr sz="950">
                <a:solidFill>
                  <a:srgbClr val="00B050"/>
                </a:solidFill>
              </a:rPr>
              <a:t>UZB       63%      7    0.273    0.167   +38.8%</a:t>
            </a:r>
          </a:p>
        </p:txBody>
      </p:sp>
      <p:sp>
        <p:nvSpPr>
          <p:cNvPr id="34" name="TextBox 33"/>
          <p:cNvSpPr txBox="1"/>
          <p:nvPr/>
        </p:nvSpPr>
        <p:spPr>
          <a:xfrm>
            <a:off x="6355080" y="4023359"/>
            <a:ext cx="5303520" cy="256032"/>
          </a:xfrm>
          <a:prstGeom prst="rect">
            <a:avLst/>
          </a:prstGeom>
          <a:noFill/>
        </p:spPr>
        <p:txBody>
          <a:bodyPr wrap="square">
            <a:spAutoFit/>
          </a:bodyPr>
          <a:lstStyle/>
          <a:p>
            <a:pPr algn="l"/>
            <a:r>
              <a:rPr sz="950">
                <a:solidFill>
                  <a:srgbClr val="222A3A"/>
                </a:solidFill>
              </a:rPr>
              <a:t>KGZ       53%      9    0.802    0.879    -9.6%</a:t>
            </a:r>
          </a:p>
        </p:txBody>
      </p:sp>
      <p:sp>
        <p:nvSpPr>
          <p:cNvPr id="35" name="TextBox 34"/>
          <p:cNvSpPr txBox="1"/>
          <p:nvPr/>
        </p:nvSpPr>
        <p:spPr>
          <a:xfrm>
            <a:off x="6355080" y="4343400"/>
            <a:ext cx="5303520" cy="256032"/>
          </a:xfrm>
          <a:prstGeom prst="rect">
            <a:avLst/>
          </a:prstGeom>
          <a:noFill/>
        </p:spPr>
        <p:txBody>
          <a:bodyPr wrap="square">
            <a:spAutoFit/>
          </a:bodyPr>
          <a:lstStyle/>
          <a:p>
            <a:pPr algn="l"/>
            <a:r>
              <a:rPr sz="950">
                <a:solidFill>
                  <a:srgbClr val="222A3A"/>
                </a:solidFill>
              </a:rPr>
              <a:t>ARM       53%      9    1.239    1.307    -5.5%</a:t>
            </a:r>
          </a:p>
        </p:txBody>
      </p:sp>
      <p:sp>
        <p:nvSpPr>
          <p:cNvPr id="36" name="TextBox 35"/>
          <p:cNvSpPr txBox="1"/>
          <p:nvPr/>
        </p:nvSpPr>
        <p:spPr>
          <a:xfrm>
            <a:off x="6355080" y="4663440"/>
            <a:ext cx="5303520" cy="256032"/>
          </a:xfrm>
          <a:prstGeom prst="rect">
            <a:avLst/>
          </a:prstGeom>
          <a:noFill/>
        </p:spPr>
        <p:txBody>
          <a:bodyPr wrap="square">
            <a:spAutoFit/>
          </a:bodyPr>
          <a:lstStyle/>
          <a:p>
            <a:pPr algn="l"/>
            <a:r>
              <a:rPr sz="950">
                <a:solidFill>
                  <a:srgbClr val="222A3A"/>
                </a:solidFill>
              </a:rPr>
              <a:t>GEO       68%      6    0.977    1.022    -4.7%</a:t>
            </a:r>
          </a:p>
        </p:txBody>
      </p:sp>
      <p:sp>
        <p:nvSpPr>
          <p:cNvPr id="37" name="TextBox 36"/>
          <p:cNvSpPr txBox="1"/>
          <p:nvPr/>
        </p:nvSpPr>
        <p:spPr>
          <a:xfrm>
            <a:off x="6355080" y="4983479"/>
            <a:ext cx="5303520" cy="238527"/>
          </a:xfrm>
          <a:prstGeom prst="rect">
            <a:avLst/>
          </a:prstGeom>
          <a:noFill/>
        </p:spPr>
        <p:txBody>
          <a:bodyPr wrap="square">
            <a:spAutoFit/>
          </a:bodyPr>
          <a:lstStyle/>
          <a:p>
            <a:pPr algn="l"/>
            <a:r>
              <a:rPr sz="950" dirty="0">
                <a:solidFill>
                  <a:srgbClr val="00B050"/>
                </a:solidFill>
              </a:rPr>
              <a:t>UKR       63%      7   11.842   11.070    +6.5%</a:t>
            </a:r>
          </a:p>
        </p:txBody>
      </p:sp>
      <p:sp>
        <p:nvSpPr>
          <p:cNvPr id="38" name="TextBox 37"/>
          <p:cNvSpPr txBox="1"/>
          <p:nvPr/>
        </p:nvSpPr>
        <p:spPr>
          <a:xfrm>
            <a:off x="6355080" y="5303520"/>
            <a:ext cx="5303520" cy="238527"/>
          </a:xfrm>
          <a:prstGeom prst="rect">
            <a:avLst/>
          </a:prstGeom>
          <a:noFill/>
        </p:spPr>
        <p:txBody>
          <a:bodyPr wrap="square">
            <a:spAutoFit/>
          </a:bodyPr>
          <a:lstStyle/>
          <a:p>
            <a:pPr algn="l"/>
            <a:r>
              <a:rPr sz="950">
                <a:solidFill>
                  <a:srgbClr val="00B050"/>
                </a:solidFill>
              </a:rPr>
              <a:t>SRB       47%     10    0.840    0.779    +7.3%</a:t>
            </a:r>
          </a:p>
        </p:txBody>
      </p:sp>
      <p:sp>
        <p:nvSpPr>
          <p:cNvPr id="39" name="Rectangle 38"/>
          <p:cNvSpPr/>
          <p:nvPr/>
        </p:nvSpPr>
        <p:spPr>
          <a:xfrm>
            <a:off x="365760" y="5733288"/>
            <a:ext cx="11430000" cy="5029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2920" y="5797296"/>
            <a:ext cx="11155680" cy="365760"/>
          </a:xfrm>
          <a:prstGeom prst="rect">
            <a:avLst/>
          </a:prstGeom>
          <a:noFill/>
        </p:spPr>
        <p:txBody>
          <a:bodyPr wrap="square">
            <a:spAutoFit/>
          </a:bodyPr>
          <a:lstStyle/>
          <a:p>
            <a:pPr algn="l"/>
            <a:r>
              <a:rPr sz="1050">
                <a:solidFill>
                  <a:srgbClr val="1A1A2E"/>
                </a:solidFill>
              </a:rPr>
              <a:t>Text coverage gaps: mixed — 4/6 LOW-miss positive (JPN +86.3%, KAZ +45.5%), 3/6 HIGH-miss positive (UZB +38.8%). Not confirmed.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Conclusions</a:t>
            </a:r>
          </a:p>
        </p:txBody>
      </p:sp>
      <p:sp>
        <p:nvSpPr>
          <p:cNvPr id="5" name="Rectangle 4"/>
          <p:cNvSpPr/>
          <p:nvPr/>
        </p:nvSpPr>
        <p:spPr>
          <a:xfrm>
            <a:off x="365760" y="1325880"/>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399032"/>
            <a:ext cx="10972800" cy="347472"/>
          </a:xfrm>
          <a:prstGeom prst="rect">
            <a:avLst/>
          </a:prstGeom>
          <a:noFill/>
        </p:spPr>
        <p:txBody>
          <a:bodyPr wrap="square">
            <a:spAutoFit/>
          </a:bodyPr>
          <a:lstStyle/>
          <a:p>
            <a:pPr algn="l"/>
            <a:r>
              <a:rPr sz="1200" b="1" i="0">
                <a:solidFill>
                  <a:srgbClr val="0A6A2E"/>
                </a:solidFill>
              </a:rPr>
              <a:t>1.  Text improves forecasts — with the right embeddings</a:t>
            </a:r>
          </a:p>
        </p:txBody>
      </p:sp>
      <p:sp>
        <p:nvSpPr>
          <p:cNvPr id="7" name="TextBox 6"/>
          <p:cNvSpPr txBox="1"/>
          <p:nvPr/>
        </p:nvSpPr>
        <p:spPr>
          <a:xfrm>
            <a:off x="502920" y="1746504"/>
            <a:ext cx="10972800" cy="640080"/>
          </a:xfrm>
          <a:prstGeom prst="rect">
            <a:avLst/>
          </a:prstGeom>
          <a:noFill/>
        </p:spPr>
        <p:txBody>
          <a:bodyPr wrap="square">
            <a:spAutoFit/>
          </a:bodyPr>
          <a:lstStyle/>
          <a:p>
            <a:pPr algn="l"/>
            <a:r>
              <a:rPr sz="1050" b="0" i="0">
                <a:solidFill>
                  <a:srgbClr val="222A3A"/>
                </a:solidFill>
              </a:rPr>
              <a:t>GR-Add MMF (OpenAI) achieves the best overall MSE (2.678), beating NumericalGRU (2.841) by 6.0% and narrowly beating DLinear (2.685). Main gain is in inflation (3.909 vs 4.198, 6.9% reduction). BERT truncation limited text signal — OpenAI full-context embeddings are necessary.</a:t>
            </a:r>
          </a:p>
        </p:txBody>
      </p:sp>
      <p:sp>
        <p:nvSpPr>
          <p:cNvPr id="8" name="Rectangle 7"/>
          <p:cNvSpPr/>
          <p:nvPr/>
        </p:nvSpPr>
        <p:spPr>
          <a:xfrm>
            <a:off x="365760" y="2606039"/>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679191"/>
            <a:ext cx="10972800" cy="347472"/>
          </a:xfrm>
          <a:prstGeom prst="rect">
            <a:avLst/>
          </a:prstGeom>
          <a:noFill/>
        </p:spPr>
        <p:txBody>
          <a:bodyPr wrap="square">
            <a:spAutoFit/>
          </a:bodyPr>
          <a:lstStyle/>
          <a:p>
            <a:pPr algn="l"/>
            <a:r>
              <a:rPr sz="1200" b="1" i="0">
                <a:solidFill>
                  <a:srgbClr val="0A6A2E"/>
                </a:solidFill>
              </a:rPr>
              <a:t>2.  All models beat the persistence baseline by ~97-98%</a:t>
            </a:r>
          </a:p>
        </p:txBody>
      </p:sp>
      <p:sp>
        <p:nvSpPr>
          <p:cNvPr id="10" name="TextBox 9"/>
          <p:cNvSpPr txBox="1"/>
          <p:nvPr/>
        </p:nvSpPr>
        <p:spPr>
          <a:xfrm>
            <a:off x="502920" y="3026663"/>
            <a:ext cx="10972800" cy="640080"/>
          </a:xfrm>
          <a:prstGeom prst="rect">
            <a:avLst/>
          </a:prstGeom>
          <a:noFill/>
        </p:spPr>
        <p:txBody>
          <a:bodyPr wrap="square">
            <a:spAutoFit/>
          </a:bodyPr>
          <a:lstStyle/>
          <a:p>
            <a:pPr algn="l"/>
            <a:r>
              <a:rPr sz="1050" b="0" i="0">
                <a:solidFill>
                  <a:srgbClr val="222A3A"/>
                </a:solidFill>
              </a:rPr>
              <a:t>Persistence (random walk) MSE = 105.44. GR-Add MSE = 2.678. This 97.5% reduction shows the WDI numerical panel is highly informative. Text adds an additional 6.9% reduction in inflation MSE on top of the numerical-only GRU.</a:t>
            </a:r>
          </a:p>
        </p:txBody>
      </p:sp>
      <p:sp>
        <p:nvSpPr>
          <p:cNvPr id="11" name="Rectangle 10"/>
          <p:cNvSpPr/>
          <p:nvPr/>
        </p:nvSpPr>
        <p:spPr>
          <a:xfrm>
            <a:off x="365760" y="3886200"/>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959352"/>
            <a:ext cx="10972800" cy="347472"/>
          </a:xfrm>
          <a:prstGeom prst="rect">
            <a:avLst/>
          </a:prstGeom>
          <a:noFill/>
        </p:spPr>
        <p:txBody>
          <a:bodyPr wrap="square">
            <a:spAutoFit/>
          </a:bodyPr>
          <a:lstStyle/>
          <a:p>
            <a:pPr algn="l"/>
            <a:r>
              <a:rPr sz="1200" b="1" i="0">
                <a:solidFill>
                  <a:srgbClr val="0A6A2E"/>
                </a:solidFill>
              </a:rPr>
              <a:t>3.  Gappiness hypothesis confirmed for WDI gaps, not for text coverage gaps</a:t>
            </a:r>
          </a:p>
        </p:txBody>
      </p:sp>
      <p:sp>
        <p:nvSpPr>
          <p:cNvPr id="13" name="TextBox 12"/>
          <p:cNvSpPr txBox="1"/>
          <p:nvPr/>
        </p:nvSpPr>
        <p:spPr>
          <a:xfrm>
            <a:off x="502920" y="4306824"/>
            <a:ext cx="10972800" cy="640080"/>
          </a:xfrm>
          <a:prstGeom prst="rect">
            <a:avLst/>
          </a:prstGeom>
          <a:noFill/>
        </p:spPr>
        <p:txBody>
          <a:bodyPr wrap="square">
            <a:spAutoFit/>
          </a:bodyPr>
          <a:lstStyle/>
          <a:p>
            <a:pPr algn="l"/>
            <a:r>
              <a:rPr sz="1050" b="0" i="0">
                <a:solidFill>
                  <a:srgbClr val="222A3A"/>
                </a:solidFill>
              </a:rPr>
              <a:t>WDI numerical gaps: HIGH-miss samples +9.4% (GR-Add vs DLinear), LOW-miss -0.8% — hypothesis confirmed. Text coverage gaps: 4/6 LOW-miss positive (JPN +86.3%, KAZ +45.5%), 3/6 HIGH-miss positive (UZB +38.8%) — mixed, not confirmed. Text substitutes for missing indicators; it does not substitute for missing reports.</a:t>
            </a:r>
          </a:p>
        </p:txBody>
      </p:sp>
      <p:sp>
        <p:nvSpPr>
          <p:cNvPr id="14" name="Rectangle 13"/>
          <p:cNvSpPr/>
          <p:nvPr/>
        </p:nvSpPr>
        <p:spPr>
          <a:xfrm>
            <a:off x="365760" y="5166359"/>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5239512"/>
            <a:ext cx="10972800" cy="347472"/>
          </a:xfrm>
          <a:prstGeom prst="rect">
            <a:avLst/>
          </a:prstGeom>
          <a:noFill/>
        </p:spPr>
        <p:txBody>
          <a:bodyPr wrap="square">
            <a:spAutoFit/>
          </a:bodyPr>
          <a:lstStyle/>
          <a:p>
            <a:pPr algn="l"/>
            <a:r>
              <a:rPr sz="1200" b="1" i="0">
                <a:solidFill>
                  <a:srgbClr val="FFCC44"/>
                </a:solidFill>
              </a:rPr>
              <a:t>4.  Dataset scale limits conclusiveness</a:t>
            </a:r>
          </a:p>
        </p:txBody>
      </p:sp>
      <p:sp>
        <p:nvSpPr>
          <p:cNvPr id="16" name="TextBox 15"/>
          <p:cNvSpPr txBox="1"/>
          <p:nvPr/>
        </p:nvSpPr>
        <p:spPr>
          <a:xfrm>
            <a:off x="502920" y="5586983"/>
            <a:ext cx="10972800" cy="640080"/>
          </a:xfrm>
          <a:prstGeom prst="rect">
            <a:avLst/>
          </a:prstGeom>
          <a:noFill/>
        </p:spPr>
        <p:txBody>
          <a:bodyPr wrap="square">
            <a:spAutoFit/>
          </a:bodyPr>
          <a:lstStyle/>
          <a:p>
            <a:pPr algn="l"/>
            <a:r>
              <a:rPr sz="1050" b="0" i="0">
                <a:solidFill>
                  <a:srgbClr val="222A3A"/>
                </a:solidFill>
              </a:rPr>
              <a:t>102 training samples, 40 test samples, 2 per country. Results are directionally meaningful but variance is high. Future work: larger coverage, domain-adapted embeddings, longer evaluation windows.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3047</Words>
  <Application>Microsoft Macintosh PowerPoint</Application>
  <PresentationFormat>Custom</PresentationFormat>
  <Paragraphs>240</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Timur Abdygulov</cp:lastModifiedBy>
  <cp:revision>3</cp:revision>
  <dcterms:created xsi:type="dcterms:W3CDTF">2013-01-27T09:14:16Z</dcterms:created>
  <dcterms:modified xsi:type="dcterms:W3CDTF">2026-04-16T15:29:57Z</dcterms:modified>
  <cp:category/>
</cp:coreProperties>
</file>