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covers the final results of our macro forecasting project. We applied the IMM-TSF framework to 22 countries using two data streams: World Bank WDI numerical indicators and IMF Article IV staff report texts. The key finding is that GR-Add MMF with full-context OpenAI embeddings achieves a 97.6% MSE reduction vs a persistence baseline and outperforms all numerical-only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pulled WDI data for all 22 countries via the World Bank API. Missing values in the WDI panel are genuine non-reporting, not data errors — for example, Turkmenistan and Tajikistan rarely report government debt to the World Bank. We preserve these gaps using a binary missingness mask rather than imputing, so the model knows explicitly which values are absent.</a:t>
            </a:r>
          </a:p>
          <a:p/>
          <a:p>
            <a:r>
              <a:t>For Article IV texts, 240 real staff reports were extracted from IMF PDFs using a Coveo API query per country, with Playwright browser automation to download each PDF in memory. PyMuPDF extracts pages 1-6 — no PDFs are saved to disk.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are compared:</a:t>
            </a:r>
          </a:p>
          <a:p/>
          <a:p>
            <a:r>
              <a:t>DLinear decomposes the 10-year WDI series into trend and seasonal components and applies a linear layer to each. It is the simplest possible baseline.</a:t>
            </a:r>
          </a:p>
          <a:p/>
          <a:p>
            <a:r>
              <a:t>NumericalGRU adds temporal dynamics via a GRU encoder. It receives the value matrix and the missingness mask concatenated, so it can learn to down-weight missing time steps.</a:t>
            </a:r>
          </a:p>
          <a:p/>
          <a:p>
            <a:r>
              <a:t>GR-Add MMF is the full multimodal model. The RecAvg TTF module aggregates past Article IV embeddings using a Gaussian kernel, weighting by distance from the query year with sigma=1.0 year. The GR-Add fusion layer then combines the GRU hidden state with the text context via a gated residual: the sigmoid gate decides how much of the tanh delta to add. When text is absent, the gate collapses to zero and the model is equivalent to NumericalGRU.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why we moved from BERT to OpenAI embeddings.</a:t>
            </a:r>
          </a:p>
          <a:p/>
          <a:p>
            <a:r>
              <a:t>BERT-base-uncased has a hard 512-token limit. Article IV staff reports, even after extracting only pages 1-6, are typically 2,000-5,000 tokens long. BERT sees roughly the first 380 words — usually the cover page and introduction — and never reaches the Staff Appraisal section, which contains the IMF's explicit forward-looking economic assessment.</a:t>
            </a:r>
          </a:p>
          <a:p/>
          <a:p>
            <a:r>
              <a:t>OpenAI's text-embedding-3-small handles up to 8,191 tokens, covering the full extracted text. We request 768 dimensions via the API to keep the model architecture unchanged. The cost for all 240 texts was approximately $0.01.</a:t>
            </a:r>
          </a:p>
          <a:p/>
          <a:p>
            <a:r>
              <a:t>Additionally, we fetched real IMF publication dates from the Coveo search API (239/240 found), replacing our earlier estimated dates. More accurate publication timestamps improve the Gaussian kernel weighting in RecAvg TTF.</a:t>
            </a:r>
          </a:p>
          <a:p/>
          <a:p>
            <a:r>
              <a:t>Both changes together improved GR-Add MMF from 2.872 to 2.584 overall MSE.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metric is MSE on the 2022-2023 held-out test set.</a:t>
            </a:r>
          </a:p>
          <a:p/>
          <a:p>
            <a:r>
              <a:t>With BERT: All three models are very close. GR-Add edges out NumericalGRU (2.872 vs 2.907), but the gap is small — the truncated embeddings provide only marginal signal.</a:t>
            </a:r>
          </a:p>
          <a:p/>
          <a:p>
            <a:r>
              <a:t>With OpenAI + real pub dates: GR-Add clearly leads (2.584). The main advantage comes from inflation forecasting (3.684 vs 4.228 for NumericalGRU). This makes economic sense — Article IV reports explicitly discuss price pressures, exchange rate trajectories, and monetary policy outlook that a purely numerical series would only capture with a lag.</a:t>
            </a:r>
          </a:p>
          <a:p/>
          <a:p>
            <a:r>
              <a:t>NumericalGRU outperforms DLinear on GDP (1.466 vs 1.568) but not inflation (4.228 vs 4.667), suggesting GRU's temporal modeling helps for growth but not for the more volatile inflation series.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persistence baseline is the standard benchmark in macroeconomic forecasting. It says: 'my forecast for GDP growth in 2022 is whatever GDP growth was in 2021.' This is surprisingly hard to beat over short horizons.</a:t>
            </a:r>
          </a:p>
          <a:p/>
          <a:p>
            <a:r>
              <a:t>Persistence MSE = 105.44 reflects the high year-to-year volatility in our dataset, especially for countries like Ukraine (-3.8 to -28.8%), Moldova (-8.3 to -4.6%), and Turkey (inflation from 19% to 72%).</a:t>
            </a:r>
          </a:p>
          <a:p/>
          <a:p>
            <a:r>
              <a:t>All three models beat persistence by roughly 97-98%, which shows the numerical WDI data alone is highly informative. The gain from adding text (GR-Add over NumericalGRU) is an additional 9.2% reduction on top of that.</a:t>
            </a:r>
          </a:p>
          <a:p/>
          <a:p>
            <a:r>
              <a:t>Note: true WEO vintage forecasts (Oct 2021 WEO for 2022, Oct 2022 WEO for 2023) were not accessible via public API — IMF DataMapper only serves current revised estimates. We use the persistence baseline as the primary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secondary analysis asks whether text helps more for countries with fewer reports.</a:t>
            </a:r>
          </a:p>
          <a:p/>
          <a:p>
            <a:r>
              <a:t>Median text missingness is 37%. Countries above the median (UZB 63%, KGZ 53%, ARM 53%, GEO 68%, UKR 63%) show positive gains in 5 of 6 cases — GR-Add beats NumericalGRU, sometimes dramatically (UZB +50%, KGZ +25%).</a:t>
            </a:r>
          </a:p>
          <a:p/>
          <a:p>
            <a:r>
              <a:t>Low-missingness countries are more mixed: JPN (+95%) and KAZ (+34%) benefit strongly, but well-covered EU-adjacent economies (BGR, ROU, HRV) where numerical data alone is highly predictive show degradation when text is added — the gate adds noise.</a:t>
            </a:r>
          </a:p>
          <a:p/>
          <a:p>
            <a:r>
              <a:t>USA is a notable outlier: 19/19 text coverage but GR-Add hurts significantly. The US economy is so well-studied numerically that the IMF text adds little incremental signal.</a:t>
            </a:r>
          </a:p>
          <a:p/>
          <a:p>
            <a:r>
              <a:t>With BERT embeddings this stratified pattern did not exist, confirming that full-context embeddings are necessary to extract the text signal.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key findings:</a:t>
            </a:r>
          </a:p>
          <a:p/>
          <a:p>
            <a:r>
              <a:t>1. GR-Add MMF with OpenAI text-embedding-3-small and real publication dates achieves the best test MSE at 2.584. The advantage is concentrated in inflation forecasting, which aligns with the content of Article IV reports — they explicitly discuss price pressures, monetary policy, and exchange rate dynamics.</a:t>
            </a:r>
          </a:p>
          <a:p/>
          <a:p>
            <a:r>
              <a:t>2. All models dramatically outperform the persistence baseline (105.44). The bulk of the gain comes from the numerical WDI panel. Text adds an incremental but meaningful improvement on top.</a:t>
            </a:r>
          </a:p>
          <a:p/>
          <a:p>
            <a:r>
              <a:t>3. The stratified analysis confirms the hypothesis that text helps most where it is scarce. For countries with thin Article IV coverage, the IMF text compensates for sparse numerical signals.</a:t>
            </a:r>
          </a:p>
          <a:p/>
          <a:p>
            <a:r>
              <a:t>4. The dataset is small. With only 2 test observations per country, conclusions must be interpreted carefully. The empirical patterns are consistent across experiments but require a larger dataset to be statistically conclusive.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972800" cy="731520"/>
          </a:xfrm>
          <a:prstGeom prst="rect">
            <a:avLst/>
          </a:prstGeom>
          <a:noFill/>
        </p:spPr>
        <p:txBody>
          <a:bodyPr wrap="square">
            <a:spAutoFit/>
          </a:bodyPr>
          <a:lstStyle/>
          <a:p>
            <a:pPr algn="l"/>
            <a:r>
              <a:rPr sz="3200" b="1" i="0">
                <a:solidFill>
                  <a:srgbClr val="FFFFFF"/>
                </a:solidFill>
              </a:rPr>
              <a:t>Macro Forecasting with IMF Text</a:t>
            </a:r>
          </a:p>
        </p:txBody>
      </p:sp>
      <p:sp>
        <p:nvSpPr>
          <p:cNvPr id="5" name="TextBox 4"/>
          <p:cNvSpPr txBox="1"/>
          <p:nvPr/>
        </p:nvSpPr>
        <p:spPr>
          <a:xfrm>
            <a:off x="457200" y="868680"/>
            <a:ext cx="10972800" cy="411480"/>
          </a:xfrm>
          <a:prstGeom prst="rect">
            <a:avLst/>
          </a:prstGeom>
          <a:noFill/>
        </p:spPr>
        <p:txBody>
          <a:bodyPr wrap="square">
            <a:spAutoFit/>
          </a:bodyPr>
          <a:lstStyle/>
          <a:p>
            <a:pPr algn="l"/>
            <a:r>
              <a:rPr sz="1100" b="0" i="0">
                <a:solidFill>
                  <a:srgbClr val="BBCCDD"/>
                </a:solidFill>
              </a:rPr>
              <a:t>Final Report  ·  STAT 8240 Data Mining II  ·  Kennesaw State University  ·  April 2025</a:t>
            </a:r>
          </a:p>
        </p:txBody>
      </p:sp>
      <p:sp>
        <p:nvSpPr>
          <p:cNvPr id="6" name="Rectangle 5"/>
          <p:cNvSpPr/>
          <p:nvPr/>
        </p:nvSpPr>
        <p:spPr>
          <a:xfrm>
            <a:off x="457200" y="1737360"/>
            <a:ext cx="11274552" cy="64008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10972800" cy="502920"/>
          </a:xfrm>
          <a:prstGeom prst="rect">
            <a:avLst/>
          </a:prstGeom>
          <a:noFill/>
        </p:spPr>
        <p:txBody>
          <a:bodyPr wrap="square">
            <a:spAutoFit/>
          </a:bodyPr>
          <a:lstStyle/>
          <a:p>
            <a:pPr algn="l"/>
            <a:r>
              <a:rPr sz="1300" b="0" i="1">
                <a:solidFill>
                  <a:srgbClr val="FFFFFF"/>
                </a:solidFill>
              </a:rPr>
              <a:t>Does IMF Article IV staff report text improve macroeconomic forecasts over numerical-only baselines?</a:t>
            </a:r>
          </a:p>
        </p:txBody>
      </p:sp>
      <p:sp>
        <p:nvSpPr>
          <p:cNvPr id="8" name="Rectangle 7"/>
          <p:cNvSpPr/>
          <p:nvPr/>
        </p:nvSpPr>
        <p:spPr>
          <a:xfrm>
            <a:off x="914400" y="2743200"/>
            <a:ext cx="320040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80360"/>
            <a:ext cx="2926080" cy="914400"/>
          </a:xfrm>
          <a:prstGeom prst="rect">
            <a:avLst/>
          </a:prstGeom>
          <a:noFill/>
        </p:spPr>
        <p:txBody>
          <a:bodyPr wrap="square">
            <a:spAutoFit/>
          </a:bodyPr>
          <a:lstStyle/>
          <a:p>
            <a:pPr algn="ctr"/>
            <a:r>
              <a:rPr sz="4000" b="1" i="0">
                <a:solidFill>
                  <a:srgbClr val="2D4A7A"/>
                </a:solidFill>
              </a:rPr>
              <a:t>22</a:t>
            </a:r>
          </a:p>
        </p:txBody>
      </p:sp>
      <p:sp>
        <p:nvSpPr>
          <p:cNvPr id="10" name="TextBox 9"/>
          <p:cNvSpPr txBox="1"/>
          <p:nvPr/>
        </p:nvSpPr>
        <p:spPr>
          <a:xfrm>
            <a:off x="1051560" y="3749039"/>
            <a:ext cx="2926080" cy="411480"/>
          </a:xfrm>
          <a:prstGeom prst="rect">
            <a:avLst/>
          </a:prstGeom>
          <a:noFill/>
        </p:spPr>
        <p:txBody>
          <a:bodyPr wrap="square">
            <a:spAutoFit/>
          </a:bodyPr>
          <a:lstStyle/>
          <a:p>
            <a:pPr algn="ctr"/>
            <a:r>
              <a:rPr sz="1300" b="1" i="0">
                <a:solidFill>
                  <a:srgbClr val="1A1A2E"/>
                </a:solidFill>
              </a:rPr>
              <a:t>countries</a:t>
            </a:r>
          </a:p>
        </p:txBody>
      </p:sp>
      <p:sp>
        <p:nvSpPr>
          <p:cNvPr id="11" name="TextBox 10"/>
          <p:cNvSpPr txBox="1"/>
          <p:nvPr/>
        </p:nvSpPr>
        <p:spPr>
          <a:xfrm>
            <a:off x="1051560" y="4160520"/>
            <a:ext cx="2926080" cy="548640"/>
          </a:xfrm>
          <a:prstGeom prst="rect">
            <a:avLst/>
          </a:prstGeom>
          <a:noFill/>
        </p:spPr>
        <p:txBody>
          <a:bodyPr wrap="square">
            <a:spAutoFit/>
          </a:bodyPr>
          <a:lstStyle/>
          <a:p>
            <a:pPr algn="ctr"/>
            <a:r>
              <a:rPr sz="1000" b="0" i="0">
                <a:solidFill>
                  <a:srgbClr val="222A3A"/>
                </a:solidFill>
              </a:rPr>
              <a:t>Central Asia + ECA + anchors</a:t>
            </a:r>
          </a:p>
        </p:txBody>
      </p:sp>
      <p:sp>
        <p:nvSpPr>
          <p:cNvPr id="12" name="Rectangle 11"/>
          <p:cNvSpPr/>
          <p:nvPr/>
        </p:nvSpPr>
        <p:spPr>
          <a:xfrm>
            <a:off x="4389120" y="2743200"/>
            <a:ext cx="320040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880360"/>
            <a:ext cx="2926080" cy="914400"/>
          </a:xfrm>
          <a:prstGeom prst="rect">
            <a:avLst/>
          </a:prstGeom>
          <a:noFill/>
        </p:spPr>
        <p:txBody>
          <a:bodyPr wrap="square">
            <a:spAutoFit/>
          </a:bodyPr>
          <a:lstStyle/>
          <a:p>
            <a:pPr algn="ctr"/>
            <a:r>
              <a:rPr sz="4000" b="1" i="0">
                <a:solidFill>
                  <a:srgbClr val="2D4A7A"/>
                </a:solidFill>
              </a:rPr>
              <a:t>240</a:t>
            </a:r>
          </a:p>
        </p:txBody>
      </p:sp>
      <p:sp>
        <p:nvSpPr>
          <p:cNvPr id="14" name="TextBox 13"/>
          <p:cNvSpPr txBox="1"/>
          <p:nvPr/>
        </p:nvSpPr>
        <p:spPr>
          <a:xfrm>
            <a:off x="4526280" y="3749039"/>
            <a:ext cx="2926080" cy="411480"/>
          </a:xfrm>
          <a:prstGeom prst="rect">
            <a:avLst/>
          </a:prstGeom>
          <a:noFill/>
        </p:spPr>
        <p:txBody>
          <a:bodyPr wrap="square">
            <a:spAutoFit/>
          </a:bodyPr>
          <a:lstStyle/>
          <a:p>
            <a:pPr algn="ctr"/>
            <a:r>
              <a:rPr sz="1300" b="1" i="0">
                <a:solidFill>
                  <a:srgbClr val="1A1A2E"/>
                </a:solidFill>
              </a:rPr>
              <a:t>Article IV texts</a:t>
            </a:r>
          </a:p>
        </p:txBody>
      </p:sp>
      <p:sp>
        <p:nvSpPr>
          <p:cNvPr id="15" name="TextBox 14"/>
          <p:cNvSpPr txBox="1"/>
          <p:nvPr/>
        </p:nvSpPr>
        <p:spPr>
          <a:xfrm>
            <a:off x="4526280" y="4160520"/>
            <a:ext cx="2926080" cy="548640"/>
          </a:xfrm>
          <a:prstGeom prst="rect">
            <a:avLst/>
          </a:prstGeom>
          <a:noFill/>
        </p:spPr>
        <p:txBody>
          <a:bodyPr wrap="square">
            <a:spAutoFit/>
          </a:bodyPr>
          <a:lstStyle/>
          <a:p>
            <a:pPr algn="ctr"/>
            <a:r>
              <a:rPr sz="1000" b="0" i="0">
                <a:solidFill>
                  <a:srgbClr val="222A3A"/>
                </a:solidFill>
              </a:rPr>
              <a:t>57% coverage  ·  OpenAI embedded</a:t>
            </a:r>
          </a:p>
        </p:txBody>
      </p:sp>
      <p:sp>
        <p:nvSpPr>
          <p:cNvPr id="16" name="Rectangle 15"/>
          <p:cNvSpPr/>
          <p:nvPr/>
        </p:nvSpPr>
        <p:spPr>
          <a:xfrm>
            <a:off x="7863840" y="2743200"/>
            <a:ext cx="320040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2880360"/>
            <a:ext cx="2926080" cy="914400"/>
          </a:xfrm>
          <a:prstGeom prst="rect">
            <a:avLst/>
          </a:prstGeom>
          <a:noFill/>
        </p:spPr>
        <p:txBody>
          <a:bodyPr wrap="square">
            <a:spAutoFit/>
          </a:bodyPr>
          <a:lstStyle/>
          <a:p>
            <a:pPr algn="ctr"/>
            <a:r>
              <a:rPr sz="4000" b="1" i="0">
                <a:solidFill>
                  <a:srgbClr val="2D4A7A"/>
                </a:solidFill>
              </a:rPr>
              <a:t>98%</a:t>
            </a:r>
          </a:p>
        </p:txBody>
      </p:sp>
      <p:sp>
        <p:nvSpPr>
          <p:cNvPr id="18" name="TextBox 17"/>
          <p:cNvSpPr txBox="1"/>
          <p:nvPr/>
        </p:nvSpPr>
        <p:spPr>
          <a:xfrm>
            <a:off x="8001000" y="3749039"/>
            <a:ext cx="2926080" cy="411480"/>
          </a:xfrm>
          <a:prstGeom prst="rect">
            <a:avLst/>
          </a:prstGeom>
          <a:noFill/>
        </p:spPr>
        <p:txBody>
          <a:bodyPr wrap="square">
            <a:spAutoFit/>
          </a:bodyPr>
          <a:lstStyle/>
          <a:p>
            <a:pPr algn="ctr"/>
            <a:r>
              <a:rPr sz="1300" b="1" i="0">
                <a:solidFill>
                  <a:srgbClr val="1A1A2E"/>
                </a:solidFill>
              </a:rPr>
              <a:t>MSE reduction</a:t>
            </a:r>
          </a:p>
        </p:txBody>
      </p:sp>
      <p:sp>
        <p:nvSpPr>
          <p:cNvPr id="19" name="TextBox 18"/>
          <p:cNvSpPr txBox="1"/>
          <p:nvPr/>
        </p:nvSpPr>
        <p:spPr>
          <a:xfrm>
            <a:off x="8001000" y="4160520"/>
            <a:ext cx="2926080" cy="548640"/>
          </a:xfrm>
          <a:prstGeom prst="rect">
            <a:avLst/>
          </a:prstGeom>
          <a:noFill/>
        </p:spPr>
        <p:txBody>
          <a:bodyPr wrap="square">
            <a:spAutoFit/>
          </a:bodyPr>
          <a:lstStyle/>
          <a:p>
            <a:pPr algn="ctr"/>
            <a:r>
              <a:rPr sz="1000" b="0" i="0">
                <a:solidFill>
                  <a:srgbClr val="222A3A"/>
                </a:solidFill>
              </a:rPr>
              <a:t>GR-Add MMF vs persistence baseline</a:t>
            </a:r>
          </a:p>
        </p:txBody>
      </p:sp>
      <p:sp>
        <p:nvSpPr>
          <p:cNvPr id="20" name="TextBox 19"/>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Data Overview</a:t>
            </a:r>
          </a:p>
        </p:txBody>
      </p:sp>
      <p:sp>
        <p:nvSpPr>
          <p:cNvPr id="5" name="TextBox 4"/>
          <p:cNvSpPr txBox="1"/>
          <p:nvPr/>
        </p:nvSpPr>
        <p:spPr>
          <a:xfrm>
            <a:off x="365760" y="658368"/>
            <a:ext cx="11430000" cy="365760"/>
          </a:xfrm>
          <a:prstGeom prst="rect">
            <a:avLst/>
          </a:prstGeom>
          <a:noFill/>
        </p:spPr>
        <p:txBody>
          <a:bodyPr wrap="square">
            <a:spAutoFit/>
          </a:bodyPr>
          <a:lstStyle/>
          <a:p>
            <a:pPr algn="l"/>
            <a:r>
              <a:rPr sz="1000" b="0" i="0">
                <a:solidFill>
                  <a:srgbClr val="BBCCDD"/>
                </a:solidFill>
              </a:rPr>
              <a:t>World Bank WDI  +  IMF Article IV Staff Reports</a:t>
            </a:r>
          </a:p>
        </p:txBody>
      </p:sp>
      <p:sp>
        <p:nvSpPr>
          <p:cNvPr id="6" name="Rectangle 5"/>
          <p:cNvSpPr/>
          <p:nvPr/>
        </p:nvSpPr>
        <p:spPr>
          <a:xfrm>
            <a:off x="365760" y="1325880"/>
            <a:ext cx="5486400" cy="23774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548640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5349240" cy="256032"/>
          </a:xfrm>
          <a:prstGeom prst="rect">
            <a:avLst/>
          </a:prstGeom>
          <a:noFill/>
        </p:spPr>
        <p:txBody>
          <a:bodyPr wrap="square">
            <a:spAutoFit/>
          </a:bodyPr>
          <a:lstStyle/>
          <a:p>
            <a:pPr algn="l"/>
            <a:r>
              <a:rPr sz="1000" b="1" i="0">
                <a:solidFill>
                  <a:srgbClr val="FFFFFF"/>
                </a:solidFill>
              </a:rPr>
              <a:t>NUMERICAL STREAM — World Bank WDI</a:t>
            </a:r>
          </a:p>
        </p:txBody>
      </p:sp>
      <p:sp>
        <p:nvSpPr>
          <p:cNvPr id="9" name="TextBox 8"/>
          <p:cNvSpPr txBox="1"/>
          <p:nvPr/>
        </p:nvSpPr>
        <p:spPr>
          <a:xfrm>
            <a:off x="457200" y="1709928"/>
            <a:ext cx="5349240" cy="1938528"/>
          </a:xfrm>
          <a:prstGeom prst="rect">
            <a:avLst/>
          </a:prstGeom>
          <a:noFill/>
        </p:spPr>
        <p:txBody>
          <a:bodyPr wrap="square">
            <a:spAutoFit/>
          </a:bodyPr>
          <a:lstStyle/>
          <a:p>
            <a:pPr algn="l"/>
            <a:r>
              <a:rPr sz="1050">
                <a:solidFill>
                  <a:srgbClr val="222A3A"/>
                </a:solidFill>
              </a:rPr>
              <a:t>7 indicators per country per year (2005–2023):</a:t>
            </a:r>
          </a:p>
          <a:p>
            <a:pPr algn="l"/>
            <a:r>
              <a:rPr sz="1050">
                <a:solidFill>
                  <a:srgbClr val="222A3A"/>
                </a:solidFill>
              </a:rPr>
              <a:t>  · GDP growth rate          · CPI inflation</a:t>
            </a:r>
          </a:p>
          <a:p>
            <a:pPr algn="l"/>
            <a:r>
              <a:rPr sz="1050">
                <a:solidFill>
                  <a:srgbClr val="222A3A"/>
                </a:solidFill>
              </a:rPr>
              <a:t>  · Current account (% GDP)  · Fiscal balance (% GDP)</a:t>
            </a:r>
          </a:p>
          <a:p>
            <a:pPr algn="l"/>
            <a:r>
              <a:rPr sz="1050">
                <a:solidFill>
                  <a:srgbClr val="222A3A"/>
                </a:solidFill>
              </a:rPr>
              <a:t>  · Remittances (% GDP)      · Unemployment rate</a:t>
            </a:r>
          </a:p>
          <a:p>
            <a:pPr algn="l"/>
            <a:r>
              <a:rPr sz="1050">
                <a:solidFill>
                  <a:srgbClr val="222A3A"/>
                </a:solidFill>
              </a:rPr>
              <a:t>  · Government debt (% GDP)</a:t>
            </a:r>
          </a:p>
          <a:p>
            <a:pPr algn="l"/>
            <a:r>
              <a:rPr sz="1050">
                <a:solidFill>
                  <a:srgbClr val="222A3A"/>
                </a:solidFill>
              </a:rPr>
              <a:t/>
            </a:r>
          </a:p>
          <a:p>
            <a:pPr algn="l"/>
            <a:r>
              <a:rPr sz="1050">
                <a:solidFill>
                  <a:srgbClr val="222A3A"/>
                </a:solidFill>
              </a:rPr>
              <a:t>Missing values → zero-filled + binary mask (no imputation)</a:t>
            </a:r>
          </a:p>
          <a:p>
            <a:pPr algn="l"/>
            <a:r>
              <a:rPr sz="1050">
                <a:solidFill>
                  <a:srgbClr val="222A3A"/>
                </a:solidFill>
              </a:rPr>
              <a:t>Genuine gaps: govt debt (315 missing), fiscal balance (166 missing)</a:t>
            </a:r>
          </a:p>
        </p:txBody>
      </p:sp>
      <p:sp>
        <p:nvSpPr>
          <p:cNvPr id="10" name="Rectangle 9"/>
          <p:cNvSpPr/>
          <p:nvPr/>
        </p:nvSpPr>
        <p:spPr>
          <a:xfrm>
            <a:off x="6217920" y="1325880"/>
            <a:ext cx="5577840" cy="23774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325880"/>
            <a:ext cx="557784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371600"/>
            <a:ext cx="5440679" cy="256032"/>
          </a:xfrm>
          <a:prstGeom prst="rect">
            <a:avLst/>
          </a:prstGeom>
          <a:noFill/>
        </p:spPr>
        <p:txBody>
          <a:bodyPr wrap="square">
            <a:spAutoFit/>
          </a:bodyPr>
          <a:lstStyle/>
          <a:p>
            <a:pPr algn="l"/>
            <a:r>
              <a:rPr sz="1000" b="1" i="0">
                <a:solidFill>
                  <a:srgbClr val="FFFFFF"/>
                </a:solidFill>
              </a:rPr>
              <a:t>TEXT STREAM — IMF Article IV Reports</a:t>
            </a:r>
          </a:p>
        </p:txBody>
      </p:sp>
      <p:sp>
        <p:nvSpPr>
          <p:cNvPr id="13" name="TextBox 12"/>
          <p:cNvSpPr txBox="1"/>
          <p:nvPr/>
        </p:nvSpPr>
        <p:spPr>
          <a:xfrm>
            <a:off x="6309359" y="1709928"/>
            <a:ext cx="5440679" cy="1938528"/>
          </a:xfrm>
          <a:prstGeom prst="rect">
            <a:avLst/>
          </a:prstGeom>
          <a:noFill/>
        </p:spPr>
        <p:txBody>
          <a:bodyPr wrap="square">
            <a:spAutoFit/>
          </a:bodyPr>
          <a:lstStyle/>
          <a:p>
            <a:pPr algn="l"/>
            <a:r>
              <a:rPr sz="1050">
                <a:solidFill>
                  <a:srgbClr val="222A3A"/>
                </a:solidFill>
              </a:rPr>
              <a:t>240 real texts  ·  57% coverage (418 possible country-years)</a:t>
            </a:r>
          </a:p>
          <a:p>
            <a:pPr algn="l"/>
            <a:r>
              <a:rPr sz="1050">
                <a:solidFill>
                  <a:srgbClr val="222A3A"/>
                </a:solidFill>
              </a:rPr>
              <a:t/>
            </a:r>
          </a:p>
          <a:p>
            <a:pPr algn="l"/>
            <a:r>
              <a:rPr sz="1050">
                <a:solidFill>
                  <a:srgbClr val="222A3A"/>
                </a:solidFill>
              </a:rPr>
              <a:t>Gaps are genuine:</a:t>
            </a:r>
          </a:p>
          <a:p>
            <a:pPr algn="l"/>
            <a:r>
              <a:rPr sz="1050">
                <a:solidFill>
                  <a:srgbClr val="222A3A"/>
                </a:solidFill>
              </a:rPr>
              <a:t>  · Turkmenistan — never publishes publicly (0/19)</a:t>
            </a:r>
          </a:p>
          <a:p>
            <a:pPr algn="l"/>
            <a:r>
              <a:rPr sz="1050">
                <a:solidFill>
                  <a:srgbClr val="222A3A"/>
                </a:solidFill>
              </a:rPr>
              <a:t>  · Biennial IMF programs — ARM, MDA, GEO, KGZ, UZB, TJK</a:t>
            </a:r>
          </a:p>
          <a:p>
            <a:pPr algn="l"/>
            <a:r>
              <a:rPr sz="1050">
                <a:solidFill>
                  <a:srgbClr val="222A3A"/>
                </a:solidFill>
              </a:rPr>
              <a:t>  · Political: BLR &amp; UKR suspended in recent years</a:t>
            </a:r>
          </a:p>
          <a:p>
            <a:pPr algn="l"/>
            <a:r>
              <a:rPr sz="1050">
                <a:solidFill>
                  <a:srgbClr val="222A3A"/>
                </a:solidFill>
              </a:rPr>
              <a:t/>
            </a:r>
          </a:p>
          <a:p>
            <a:pPr algn="l"/>
            <a:r>
              <a:rPr sz="1050">
                <a:solidFill>
                  <a:srgbClr val="222A3A"/>
                </a:solidFill>
              </a:rPr>
              <a:t>Text: pages 1–6 extracted (Executive Summary + Staff Appraisal)</a:t>
            </a:r>
          </a:p>
        </p:txBody>
      </p:sp>
      <p:sp>
        <p:nvSpPr>
          <p:cNvPr id="14" name="Rectangle 13"/>
          <p:cNvSpPr/>
          <p:nvPr/>
        </p:nvSpPr>
        <p:spPr>
          <a:xfrm>
            <a:off x="365760" y="3886200"/>
            <a:ext cx="11430000" cy="16916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886200"/>
            <a:ext cx="1143000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931920"/>
            <a:ext cx="11292840" cy="256032"/>
          </a:xfrm>
          <a:prstGeom prst="rect">
            <a:avLst/>
          </a:prstGeom>
          <a:noFill/>
        </p:spPr>
        <p:txBody>
          <a:bodyPr wrap="square">
            <a:spAutoFit/>
          </a:bodyPr>
          <a:lstStyle/>
          <a:p>
            <a:pPr algn="l"/>
            <a:r>
              <a:rPr sz="1000" b="1" i="0">
                <a:solidFill>
                  <a:srgbClr val="FFFFFF"/>
                </a:solidFill>
              </a:rPr>
              <a:t>22 COUNTRIES</a:t>
            </a:r>
          </a:p>
        </p:txBody>
      </p:sp>
      <p:sp>
        <p:nvSpPr>
          <p:cNvPr id="17" name="TextBox 16"/>
          <p:cNvSpPr txBox="1"/>
          <p:nvPr/>
        </p:nvSpPr>
        <p:spPr>
          <a:xfrm>
            <a:off x="457200" y="4270248"/>
            <a:ext cx="11292840" cy="1252728"/>
          </a:xfrm>
          <a:prstGeom prst="rect">
            <a:avLst/>
          </a:prstGeom>
          <a:noFill/>
        </p:spPr>
        <p:txBody>
          <a:bodyPr wrap="square">
            <a:spAutoFit/>
          </a:bodyPr>
          <a:lstStyle/>
          <a:p>
            <a:pPr algn="l"/>
            <a:r>
              <a:rPr sz="1050">
                <a:solidFill>
                  <a:srgbClr val="222A3A"/>
                </a:solidFill>
              </a:rPr>
              <a:t>Central Asia:    KAZ  KGZ  TJK  TKM  UZB  AZE  ARM  GEO  MDA  BLR  UKR  MNG</a:t>
            </a:r>
          </a:p>
          <a:p>
            <a:pPr algn="l"/>
            <a:r>
              <a:rPr sz="1050">
                <a:solidFill>
                  <a:srgbClr val="222A3A"/>
                </a:solidFill>
              </a:rPr>
              <a:t>Eastern Europe:  ALB  BIH  MKD  SRB  TUR  ROU  BGR  HRV</a:t>
            </a:r>
          </a:p>
          <a:p>
            <a:pPr algn="l"/>
            <a:r>
              <a:rPr sz="1050">
                <a:solidFill>
                  <a:srgbClr val="222A3A"/>
                </a:solidFill>
              </a:rPr>
              <a:t>Anchors:         USA  JPN</a:t>
            </a:r>
          </a:p>
          <a:p>
            <a:pPr algn="l"/>
            <a:r>
              <a:rPr sz="1050">
                <a:solidFill>
                  <a:srgbClr val="222A3A"/>
                </a:solidFill>
              </a:rPr>
              <a:t/>
            </a:r>
          </a:p>
          <a:p>
            <a:pPr algn="l"/>
            <a:r>
              <a:rPr sz="1050">
                <a:solidFill>
                  <a:srgbClr val="222A3A"/>
                </a:solidFill>
              </a:rPr>
              <a:t>Train 2005–2019 (102 samples)  ·  Val 2020–2021 (40)  ·  Test 2022–2023 (40)</a:t>
            </a:r>
          </a:p>
        </p:txBody>
      </p:sp>
      <p:sp>
        <p:nvSpPr>
          <p:cNvPr id="18" name="TextBox 17"/>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Model Architecture &amp; Equations</a:t>
            </a:r>
          </a:p>
        </p:txBody>
      </p:sp>
      <p:sp>
        <p:nvSpPr>
          <p:cNvPr id="5" name="TextBox 4"/>
          <p:cNvSpPr txBox="1"/>
          <p:nvPr/>
        </p:nvSpPr>
        <p:spPr>
          <a:xfrm>
            <a:off x="365760" y="658368"/>
            <a:ext cx="11430000" cy="365760"/>
          </a:xfrm>
          <a:prstGeom prst="rect">
            <a:avLst/>
          </a:prstGeom>
          <a:noFill/>
        </p:spPr>
        <p:txBody>
          <a:bodyPr wrap="square">
            <a:spAutoFit/>
          </a:bodyPr>
          <a:lstStyle/>
          <a:p>
            <a:pPr algn="l"/>
            <a:r>
              <a:rPr sz="1000" b="0" i="0">
                <a:solidFill>
                  <a:srgbClr val="BBCCDD"/>
                </a:solidFill>
              </a:rPr>
              <a:t>DLinear  ·  NumericalGRU  ·  RecAvg TTF  ·  GR-Add MMF</a:t>
            </a:r>
          </a:p>
        </p:txBody>
      </p:sp>
      <p:sp>
        <p:nvSpPr>
          <p:cNvPr id="6" name="Rectangle 5"/>
          <p:cNvSpPr/>
          <p:nvPr/>
        </p:nvSpPr>
        <p:spPr>
          <a:xfrm>
            <a:off x="365760" y="1325880"/>
            <a:ext cx="5303520" cy="1508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530352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5166359" cy="256032"/>
          </a:xfrm>
          <a:prstGeom prst="rect">
            <a:avLst/>
          </a:prstGeom>
          <a:noFill/>
        </p:spPr>
        <p:txBody>
          <a:bodyPr wrap="square">
            <a:spAutoFit/>
          </a:bodyPr>
          <a:lstStyle/>
          <a:p>
            <a:pPr algn="l"/>
            <a:r>
              <a:rPr sz="1000" b="1" i="0">
                <a:solidFill>
                  <a:srgbClr val="FFFFFF"/>
                </a:solidFill>
              </a:rPr>
              <a:t>DLINEAR  (unimodal baseline)</a:t>
            </a:r>
          </a:p>
        </p:txBody>
      </p:sp>
      <p:sp>
        <p:nvSpPr>
          <p:cNvPr id="9" name="TextBox 8"/>
          <p:cNvSpPr txBox="1"/>
          <p:nvPr/>
        </p:nvSpPr>
        <p:spPr>
          <a:xfrm>
            <a:off x="457200" y="1709928"/>
            <a:ext cx="5166359" cy="1069848"/>
          </a:xfrm>
          <a:prstGeom prst="rect">
            <a:avLst/>
          </a:prstGeom>
          <a:noFill/>
        </p:spPr>
        <p:txBody>
          <a:bodyPr wrap="square">
            <a:spAutoFit/>
          </a:bodyPr>
          <a:lstStyle/>
          <a:p/>
        </p:txBody>
      </p:sp>
      <p:sp>
        <p:nvSpPr>
          <p:cNvPr id="10" name="TextBox 9"/>
          <p:cNvSpPr txBox="1"/>
          <p:nvPr/>
        </p:nvSpPr>
        <p:spPr>
          <a:xfrm>
            <a:off x="502920" y="1737360"/>
            <a:ext cx="5029200" cy="320040"/>
          </a:xfrm>
          <a:prstGeom prst="rect">
            <a:avLst/>
          </a:prstGeom>
          <a:noFill/>
        </p:spPr>
        <p:txBody>
          <a:bodyPr wrap="square">
            <a:spAutoFit/>
          </a:bodyPr>
          <a:lstStyle/>
          <a:p>
            <a:pPr algn="l"/>
            <a:r>
              <a:rPr sz="1100" b="0" i="0">
                <a:solidFill>
                  <a:srgbClr val="B88600"/>
                </a:solidFill>
              </a:rPr>
              <a:t>y_hat  =  W_trend * trend(X)  +  W_season * season(X)</a:t>
            </a:r>
          </a:p>
        </p:txBody>
      </p:sp>
      <p:sp>
        <p:nvSpPr>
          <p:cNvPr id="11" name="TextBox 10"/>
          <p:cNvSpPr txBox="1"/>
          <p:nvPr/>
        </p:nvSpPr>
        <p:spPr>
          <a:xfrm>
            <a:off x="502920" y="2084831"/>
            <a:ext cx="5029200" cy="640080"/>
          </a:xfrm>
          <a:prstGeom prst="rect">
            <a:avLst/>
          </a:prstGeom>
          <a:noFill/>
        </p:spPr>
        <p:txBody>
          <a:bodyPr wrap="square">
            <a:spAutoFit/>
          </a:bodyPr>
          <a:lstStyle/>
          <a:p>
            <a:pPr algn="l"/>
            <a:r>
              <a:rPr sz="1000">
                <a:solidFill>
                  <a:srgbClr val="222A3A"/>
                </a:solidFill>
              </a:rPr>
              <a:t>Decomposes series into trend + seasonal, linear layer on each.</a:t>
            </a:r>
          </a:p>
          <a:p>
            <a:pPr algn="l"/>
            <a:r>
              <a:rPr sz="1000">
                <a:solidFill>
                  <a:srgbClr val="222A3A"/>
                </a:solidFill>
              </a:rPr>
              <a:t>Unimodal — numerical only.  284 parameters.</a:t>
            </a:r>
          </a:p>
        </p:txBody>
      </p:sp>
      <p:sp>
        <p:nvSpPr>
          <p:cNvPr id="12" name="Rectangle 11"/>
          <p:cNvSpPr/>
          <p:nvPr/>
        </p:nvSpPr>
        <p:spPr>
          <a:xfrm>
            <a:off x="6035040" y="1325880"/>
            <a:ext cx="5760720" cy="15087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1325880"/>
            <a:ext cx="576072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1371600"/>
            <a:ext cx="5623559" cy="256032"/>
          </a:xfrm>
          <a:prstGeom prst="rect">
            <a:avLst/>
          </a:prstGeom>
          <a:noFill/>
        </p:spPr>
        <p:txBody>
          <a:bodyPr wrap="square">
            <a:spAutoFit/>
          </a:bodyPr>
          <a:lstStyle/>
          <a:p>
            <a:pPr algn="l"/>
            <a:r>
              <a:rPr sz="1000" b="1" i="0">
                <a:solidFill>
                  <a:srgbClr val="FFFFFF"/>
                </a:solidFill>
              </a:rPr>
              <a:t>NUMERICALGRU  (ablation)</a:t>
            </a:r>
          </a:p>
        </p:txBody>
      </p:sp>
      <p:sp>
        <p:nvSpPr>
          <p:cNvPr id="15" name="TextBox 14"/>
          <p:cNvSpPr txBox="1"/>
          <p:nvPr/>
        </p:nvSpPr>
        <p:spPr>
          <a:xfrm>
            <a:off x="6126479" y="1709928"/>
            <a:ext cx="5623559" cy="1069848"/>
          </a:xfrm>
          <a:prstGeom prst="rect">
            <a:avLst/>
          </a:prstGeom>
          <a:noFill/>
        </p:spPr>
        <p:txBody>
          <a:bodyPr wrap="square">
            <a:spAutoFit/>
          </a:bodyPr>
          <a:lstStyle/>
          <a:p/>
        </p:txBody>
      </p:sp>
      <p:sp>
        <p:nvSpPr>
          <p:cNvPr id="16" name="TextBox 15"/>
          <p:cNvSpPr txBox="1"/>
          <p:nvPr/>
        </p:nvSpPr>
        <p:spPr>
          <a:xfrm>
            <a:off x="6172200" y="1737360"/>
            <a:ext cx="5486400" cy="320040"/>
          </a:xfrm>
          <a:prstGeom prst="rect">
            <a:avLst/>
          </a:prstGeom>
          <a:noFill/>
        </p:spPr>
        <p:txBody>
          <a:bodyPr wrap="square">
            <a:spAutoFit/>
          </a:bodyPr>
          <a:lstStyle/>
          <a:p>
            <a:pPr algn="l"/>
            <a:r>
              <a:rPr sz="1100" b="0" i="0">
                <a:solidFill>
                  <a:srgbClr val="B88600"/>
                </a:solidFill>
              </a:rPr>
              <a:t>h_t = GRU([x_t ; m_t], h_{t-1})       y_hat = W * h_T</a:t>
            </a:r>
          </a:p>
        </p:txBody>
      </p:sp>
      <p:sp>
        <p:nvSpPr>
          <p:cNvPr id="17" name="TextBox 16"/>
          <p:cNvSpPr txBox="1"/>
          <p:nvPr/>
        </p:nvSpPr>
        <p:spPr>
          <a:xfrm>
            <a:off x="6172200" y="2084831"/>
            <a:ext cx="5486400" cy="640080"/>
          </a:xfrm>
          <a:prstGeom prst="rect">
            <a:avLst/>
          </a:prstGeom>
          <a:noFill/>
        </p:spPr>
        <p:txBody>
          <a:bodyPr wrap="square">
            <a:spAutoFit/>
          </a:bodyPr>
          <a:lstStyle/>
          <a:p>
            <a:pPr algn="l"/>
            <a:r>
              <a:rPr sz="1000">
                <a:solidFill>
                  <a:srgbClr val="222A3A"/>
                </a:solidFill>
              </a:rPr>
              <a:t>GRU over masked WDI series. Receives values + mask concatenated.</a:t>
            </a:r>
          </a:p>
          <a:p>
            <a:pPr algn="l"/>
            <a:r>
              <a:rPr sz="1000">
                <a:solidFill>
                  <a:srgbClr val="222A3A"/>
                </a:solidFill>
              </a:rPr>
              <a:t>Unimodal ablation.  15,490 parameters.</a:t>
            </a:r>
          </a:p>
        </p:txBody>
      </p:sp>
      <p:sp>
        <p:nvSpPr>
          <p:cNvPr id="18" name="Rectangle 17"/>
          <p:cNvSpPr/>
          <p:nvPr/>
        </p:nvSpPr>
        <p:spPr>
          <a:xfrm>
            <a:off x="365760" y="3017520"/>
            <a:ext cx="5303520" cy="21945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017520"/>
            <a:ext cx="530352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63239"/>
            <a:ext cx="5166359" cy="256032"/>
          </a:xfrm>
          <a:prstGeom prst="rect">
            <a:avLst/>
          </a:prstGeom>
          <a:noFill/>
        </p:spPr>
        <p:txBody>
          <a:bodyPr wrap="square">
            <a:spAutoFit/>
          </a:bodyPr>
          <a:lstStyle/>
          <a:p>
            <a:pPr algn="l"/>
            <a:r>
              <a:rPr sz="1000" b="1" i="0">
                <a:solidFill>
                  <a:srgbClr val="FFFFFF"/>
                </a:solidFill>
              </a:rPr>
              <a:t>RECAVG TTF  (text context module)</a:t>
            </a:r>
          </a:p>
        </p:txBody>
      </p:sp>
      <p:sp>
        <p:nvSpPr>
          <p:cNvPr id="21" name="TextBox 20"/>
          <p:cNvSpPr txBox="1"/>
          <p:nvPr/>
        </p:nvSpPr>
        <p:spPr>
          <a:xfrm>
            <a:off x="457200" y="3401568"/>
            <a:ext cx="5166359" cy="1755648"/>
          </a:xfrm>
          <a:prstGeom prst="rect">
            <a:avLst/>
          </a:prstGeom>
          <a:noFill/>
        </p:spPr>
        <p:txBody>
          <a:bodyPr wrap="square">
            <a:spAutoFit/>
          </a:bodyPr>
          <a:lstStyle/>
          <a:p/>
        </p:txBody>
      </p:sp>
      <p:sp>
        <p:nvSpPr>
          <p:cNvPr id="22" name="TextBox 21"/>
          <p:cNvSpPr txBox="1"/>
          <p:nvPr/>
        </p:nvSpPr>
        <p:spPr>
          <a:xfrm>
            <a:off x="502920" y="3429000"/>
            <a:ext cx="5029200" cy="822960"/>
          </a:xfrm>
          <a:prstGeom prst="rect">
            <a:avLst/>
          </a:prstGeom>
          <a:noFill/>
        </p:spPr>
        <p:txBody>
          <a:bodyPr wrap="square">
            <a:spAutoFit/>
          </a:bodyPr>
          <a:lstStyle/>
          <a:p>
            <a:pPr algn="l"/>
            <a:r>
              <a:rPr sz="1100" b="0" i="0">
                <a:solidFill>
                  <a:srgbClr val="B88600"/>
                </a:solidFill>
              </a:rPr>
              <a:t>c(t*)  =  Sum_i w_i * e_i  /  Sum_i w_i
w_i    =  exp( -(t* - t_i)^2 / 2*sigma^2 )     sigma = 1.0 year</a:t>
            </a:r>
          </a:p>
        </p:txBody>
      </p:sp>
      <p:sp>
        <p:nvSpPr>
          <p:cNvPr id="23" name="TextBox 22"/>
          <p:cNvSpPr txBox="1"/>
          <p:nvPr/>
        </p:nvSpPr>
        <p:spPr>
          <a:xfrm>
            <a:off x="502920" y="4297680"/>
            <a:ext cx="5029200" cy="777240"/>
          </a:xfrm>
          <a:prstGeom prst="rect">
            <a:avLst/>
          </a:prstGeom>
          <a:noFill/>
        </p:spPr>
        <p:txBody>
          <a:bodyPr wrap="square">
            <a:spAutoFit/>
          </a:bodyPr>
          <a:lstStyle/>
          <a:p>
            <a:pPr algn="l"/>
            <a:r>
              <a:rPr sz="1000">
                <a:solidFill>
                  <a:srgbClr val="222A3A"/>
                </a:solidFill>
              </a:rPr>
              <a:t>Gaussian-weighted average of past Article IV embeddings.</a:t>
            </a:r>
          </a:p>
          <a:p>
            <a:pPr algn="l"/>
            <a:r>
              <a:rPr sz="1000">
                <a:solidFill>
                  <a:srgbClr val="222A3A"/>
                </a:solidFill>
              </a:rPr>
              <a:t>Handles IMF publication lag naturally — delayed reports get less weight.</a:t>
            </a:r>
          </a:p>
          <a:p>
            <a:pPr algn="l"/>
            <a:r>
              <a:rPr sz="1000">
                <a:solidFill>
                  <a:srgbClr val="222A3A"/>
                </a:solidFill>
              </a:rPr>
              <a:t>If no text: c(t*) = 0  -&gt;  model falls back to numerical-only path.</a:t>
            </a:r>
          </a:p>
        </p:txBody>
      </p:sp>
      <p:sp>
        <p:nvSpPr>
          <p:cNvPr id="24" name="Rectangle 23"/>
          <p:cNvSpPr/>
          <p:nvPr/>
        </p:nvSpPr>
        <p:spPr>
          <a:xfrm>
            <a:off x="6035040" y="3017520"/>
            <a:ext cx="5760720" cy="21945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35040" y="3017520"/>
            <a:ext cx="576072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79" y="3063239"/>
            <a:ext cx="5623559" cy="256032"/>
          </a:xfrm>
          <a:prstGeom prst="rect">
            <a:avLst/>
          </a:prstGeom>
          <a:noFill/>
        </p:spPr>
        <p:txBody>
          <a:bodyPr wrap="square">
            <a:spAutoFit/>
          </a:bodyPr>
          <a:lstStyle/>
          <a:p>
            <a:pPr algn="l"/>
            <a:r>
              <a:rPr sz="1000" b="1" i="0">
                <a:solidFill>
                  <a:srgbClr val="FFFFFF"/>
                </a:solidFill>
              </a:rPr>
              <a:t>GR-ADD MMF  (full multimodal model)</a:t>
            </a:r>
          </a:p>
        </p:txBody>
      </p:sp>
      <p:sp>
        <p:nvSpPr>
          <p:cNvPr id="27" name="TextBox 26"/>
          <p:cNvSpPr txBox="1"/>
          <p:nvPr/>
        </p:nvSpPr>
        <p:spPr>
          <a:xfrm>
            <a:off x="6126479" y="3401568"/>
            <a:ext cx="5623559" cy="1755648"/>
          </a:xfrm>
          <a:prstGeom prst="rect">
            <a:avLst/>
          </a:prstGeom>
          <a:noFill/>
        </p:spPr>
        <p:txBody>
          <a:bodyPr wrap="square">
            <a:spAutoFit/>
          </a:bodyPr>
          <a:lstStyle/>
          <a:p/>
        </p:txBody>
      </p:sp>
      <p:sp>
        <p:nvSpPr>
          <p:cNvPr id="28" name="TextBox 27"/>
          <p:cNvSpPr txBox="1"/>
          <p:nvPr/>
        </p:nvSpPr>
        <p:spPr>
          <a:xfrm>
            <a:off x="6172200" y="3429000"/>
            <a:ext cx="5486400" cy="1051560"/>
          </a:xfrm>
          <a:prstGeom prst="rect">
            <a:avLst/>
          </a:prstGeom>
          <a:noFill/>
        </p:spPr>
        <p:txBody>
          <a:bodyPr wrap="square">
            <a:spAutoFit/>
          </a:bodyPr>
          <a:lstStyle/>
          <a:p>
            <a:pPr algn="l"/>
            <a:r>
              <a:rPr sz="1100" b="0" i="0">
                <a:solidFill>
                  <a:srgbClr val="B88600"/>
                </a:solidFill>
              </a:rPr>
              <a:t>g      =  sigmoid( W_g * [h_gru ; c] + b_g )
delta  =  tanh( W_d * [h_gru ; c] + b_d )
h_out  =  h_gru  +  g * delta</a:t>
            </a:r>
          </a:p>
        </p:txBody>
      </p:sp>
      <p:sp>
        <p:nvSpPr>
          <p:cNvPr id="29" name="TextBox 28"/>
          <p:cNvSpPr txBox="1"/>
          <p:nvPr/>
        </p:nvSpPr>
        <p:spPr>
          <a:xfrm>
            <a:off x="6172200" y="4526280"/>
            <a:ext cx="5486400" cy="548640"/>
          </a:xfrm>
          <a:prstGeom prst="rect">
            <a:avLst/>
          </a:prstGeom>
          <a:noFill/>
        </p:spPr>
        <p:txBody>
          <a:bodyPr wrap="square">
            <a:spAutoFit/>
          </a:bodyPr>
          <a:lstStyle/>
          <a:p>
            <a:pPr algn="l"/>
            <a:r>
              <a:rPr sz="1000">
                <a:solidFill>
                  <a:srgbClr val="222A3A"/>
                </a:solidFill>
              </a:rPr>
              <a:t>g (sigmoid) = gate: how much to trust the text signal.</a:t>
            </a:r>
          </a:p>
          <a:p>
            <a:pPr algn="l"/>
            <a:r>
              <a:rPr sz="1000">
                <a:solidFill>
                  <a:srgbClr val="222A3A"/>
                </a:solidFill>
              </a:rPr>
              <a:t>delta (tanh) = direction + size of text correction.  65,222 parameters.</a:t>
            </a:r>
          </a:p>
        </p:txBody>
      </p:sp>
      <p:sp>
        <p:nvSpPr>
          <p:cNvPr id="30" name="TextBox 29"/>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Text Embedding: BERT vs OpenAI</a:t>
            </a:r>
          </a:p>
        </p:txBody>
      </p:sp>
      <p:sp>
        <p:nvSpPr>
          <p:cNvPr id="5" name="TextBox 4"/>
          <p:cNvSpPr txBox="1"/>
          <p:nvPr/>
        </p:nvSpPr>
        <p:spPr>
          <a:xfrm>
            <a:off x="365760" y="658368"/>
            <a:ext cx="11430000" cy="365760"/>
          </a:xfrm>
          <a:prstGeom prst="rect">
            <a:avLst/>
          </a:prstGeom>
          <a:noFill/>
        </p:spPr>
        <p:txBody>
          <a:bodyPr wrap="square">
            <a:spAutoFit/>
          </a:bodyPr>
          <a:lstStyle/>
          <a:p>
            <a:pPr algn="l"/>
            <a:r>
              <a:rPr sz="1000" b="0" i="0">
                <a:solidFill>
                  <a:srgbClr val="BBCCDD"/>
                </a:solidFill>
              </a:rPr>
              <a:t>Why embedding quality is a first-order design choice</a:t>
            </a:r>
          </a:p>
        </p:txBody>
      </p:sp>
      <p:sp>
        <p:nvSpPr>
          <p:cNvPr id="6" name="Rectangle 5"/>
          <p:cNvSpPr/>
          <p:nvPr/>
        </p:nvSpPr>
        <p:spPr>
          <a:xfrm>
            <a:off x="365760" y="1325880"/>
            <a:ext cx="5394960" cy="3200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539496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5257800" cy="256032"/>
          </a:xfrm>
          <a:prstGeom prst="rect">
            <a:avLst/>
          </a:prstGeom>
          <a:noFill/>
        </p:spPr>
        <p:txBody>
          <a:bodyPr wrap="square">
            <a:spAutoFit/>
          </a:bodyPr>
          <a:lstStyle/>
          <a:p>
            <a:pPr algn="l"/>
            <a:r>
              <a:rPr sz="1000" b="1" i="0">
                <a:solidFill>
                  <a:srgbClr val="FFFFFF"/>
                </a:solidFill>
              </a:rPr>
              <a:t>BERT-base-uncased</a:t>
            </a:r>
          </a:p>
        </p:txBody>
      </p:sp>
      <p:sp>
        <p:nvSpPr>
          <p:cNvPr id="9" name="TextBox 8"/>
          <p:cNvSpPr txBox="1"/>
          <p:nvPr/>
        </p:nvSpPr>
        <p:spPr>
          <a:xfrm>
            <a:off x="457200" y="1709928"/>
            <a:ext cx="5257800" cy="2761488"/>
          </a:xfrm>
          <a:prstGeom prst="rect">
            <a:avLst/>
          </a:prstGeom>
          <a:noFill/>
        </p:spPr>
        <p:txBody>
          <a:bodyPr wrap="square">
            <a:spAutoFit/>
          </a:bodyPr>
          <a:lstStyle/>
          <a:p/>
        </p:txBody>
      </p:sp>
      <p:sp>
        <p:nvSpPr>
          <p:cNvPr id="10" name="TextBox 9"/>
          <p:cNvSpPr txBox="1"/>
          <p:nvPr/>
        </p:nvSpPr>
        <p:spPr>
          <a:xfrm>
            <a:off x="502920" y="1737360"/>
            <a:ext cx="5120640" cy="2743200"/>
          </a:xfrm>
          <a:prstGeom prst="rect">
            <a:avLst/>
          </a:prstGeom>
          <a:noFill/>
        </p:spPr>
        <p:txBody>
          <a:bodyPr wrap="square">
            <a:spAutoFit/>
          </a:bodyPr>
          <a:lstStyle/>
          <a:p>
            <a:pPr algn="l"/>
            <a:r>
              <a:rPr sz="1100">
                <a:solidFill>
                  <a:srgbClr val="222A3A"/>
                </a:solidFill>
              </a:rPr>
              <a:t>Max tokens:   512  (~380 words)</a:t>
            </a:r>
          </a:p>
          <a:p>
            <a:pPr algn="l"/>
            <a:r>
              <a:rPr sz="1100">
                <a:solidFill>
                  <a:srgbClr val="222A3A"/>
                </a:solidFill>
              </a:rPr>
              <a:t>Dimensions:   768</a:t>
            </a:r>
          </a:p>
          <a:p>
            <a:pPr algn="l"/>
            <a:r>
              <a:rPr sz="1100">
                <a:solidFill>
                  <a:srgbClr val="222A3A"/>
                </a:solidFill>
              </a:rPr>
              <a:t>Cost:         Free (local GPU)</a:t>
            </a:r>
          </a:p>
          <a:p>
            <a:pPr algn="l"/>
            <a:r>
              <a:rPr sz="1100">
                <a:solidFill>
                  <a:srgbClr val="222A3A"/>
                </a:solidFill>
              </a:rPr>
              <a:t/>
            </a:r>
          </a:p>
          <a:p>
            <a:pPr algn="l"/>
            <a:r>
              <a:rPr sz="1100">
                <a:solidFill>
                  <a:srgbClr val="222A3A"/>
                </a:solidFill>
              </a:rPr>
              <a:t>Problem: Article IV reports are 2,000-5,000 tokens.</a:t>
            </a:r>
          </a:p>
          <a:p>
            <a:pPr algn="l"/>
            <a:r>
              <a:rPr sz="1100">
                <a:solidFill>
                  <a:srgbClr val="222A3A"/>
                </a:solidFill>
              </a:rPr>
              <a:t>BERT truncates after ~380 words — the Staff Appraisal</a:t>
            </a:r>
          </a:p>
          <a:p>
            <a:pPr algn="l"/>
            <a:r>
              <a:rPr sz="1100">
                <a:solidFill>
                  <a:srgbClr val="222A3A"/>
                </a:solidFill>
              </a:rPr>
              <a:t>section (most forward-looking content) appears later</a:t>
            </a:r>
          </a:p>
          <a:p>
            <a:pPr algn="l"/>
            <a:r>
              <a:rPr sz="1100">
                <a:solidFill>
                  <a:srgbClr val="222A3A"/>
                </a:solidFill>
              </a:rPr>
              <a:t>in the document and is entirely discarded.</a:t>
            </a:r>
          </a:p>
          <a:p>
            <a:pPr algn="l"/>
            <a:r>
              <a:rPr sz="1100">
                <a:solidFill>
                  <a:srgbClr val="222A3A"/>
                </a:solidFill>
              </a:rPr>
              <a:t/>
            </a:r>
          </a:p>
          <a:p>
            <a:pPr algn="l"/>
            <a:r>
              <a:rPr sz="1100">
                <a:solidFill>
                  <a:srgbClr val="222A3A"/>
                </a:solidFill>
              </a:rPr>
              <a:t>Result: GR-Add slightly edges out NumericalGRU.</a:t>
            </a:r>
          </a:p>
          <a:p>
            <a:pPr algn="l"/>
            <a:r>
              <a:rPr sz="1100">
                <a:solidFill>
                  <a:srgbClr val="222A3A"/>
                </a:solidFill>
              </a:rPr>
              <a:t>Overall MSE = 2.872  (marginal improvement only)</a:t>
            </a:r>
          </a:p>
        </p:txBody>
      </p:sp>
      <p:sp>
        <p:nvSpPr>
          <p:cNvPr id="11" name="Rectangle 10"/>
          <p:cNvSpPr/>
          <p:nvPr/>
        </p:nvSpPr>
        <p:spPr>
          <a:xfrm>
            <a:off x="6217920" y="1325880"/>
            <a:ext cx="5577840" cy="3200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25880"/>
            <a:ext cx="557784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1371600"/>
            <a:ext cx="5440679" cy="256032"/>
          </a:xfrm>
          <a:prstGeom prst="rect">
            <a:avLst/>
          </a:prstGeom>
          <a:noFill/>
        </p:spPr>
        <p:txBody>
          <a:bodyPr wrap="square">
            <a:spAutoFit/>
          </a:bodyPr>
          <a:lstStyle/>
          <a:p>
            <a:pPr algn="l"/>
            <a:r>
              <a:rPr sz="1000" b="1" i="0">
                <a:solidFill>
                  <a:srgbClr val="FFFFFF"/>
                </a:solidFill>
              </a:rPr>
              <a:t>text-embedding-3-small  (OpenAI)</a:t>
            </a:r>
          </a:p>
        </p:txBody>
      </p:sp>
      <p:sp>
        <p:nvSpPr>
          <p:cNvPr id="14" name="TextBox 13"/>
          <p:cNvSpPr txBox="1"/>
          <p:nvPr/>
        </p:nvSpPr>
        <p:spPr>
          <a:xfrm>
            <a:off x="6309359" y="1709928"/>
            <a:ext cx="5440679" cy="2761488"/>
          </a:xfrm>
          <a:prstGeom prst="rect">
            <a:avLst/>
          </a:prstGeom>
          <a:noFill/>
        </p:spPr>
        <p:txBody>
          <a:bodyPr wrap="square">
            <a:spAutoFit/>
          </a:bodyPr>
          <a:lstStyle/>
          <a:p/>
        </p:txBody>
      </p:sp>
      <p:sp>
        <p:nvSpPr>
          <p:cNvPr id="15" name="TextBox 14"/>
          <p:cNvSpPr txBox="1"/>
          <p:nvPr/>
        </p:nvSpPr>
        <p:spPr>
          <a:xfrm>
            <a:off x="6355080" y="1737360"/>
            <a:ext cx="5303520" cy="2743200"/>
          </a:xfrm>
          <a:prstGeom prst="rect">
            <a:avLst/>
          </a:prstGeom>
          <a:noFill/>
        </p:spPr>
        <p:txBody>
          <a:bodyPr wrap="square">
            <a:spAutoFit/>
          </a:bodyPr>
          <a:lstStyle/>
          <a:p>
            <a:pPr algn="l"/>
            <a:r>
              <a:rPr sz="1100">
                <a:solidFill>
                  <a:srgbClr val="222A3A"/>
                </a:solidFill>
              </a:rPr>
              <a:t>Max tokens:   8,191  (~6,000 words)</a:t>
            </a:r>
          </a:p>
          <a:p>
            <a:pPr algn="l"/>
            <a:r>
              <a:rPr sz="1100">
                <a:solidFill>
                  <a:srgbClr val="222A3A"/>
                </a:solidFill>
              </a:rPr>
              <a:t>Dimensions:   768  (via API dimensions parameter)</a:t>
            </a:r>
          </a:p>
          <a:p>
            <a:pPr algn="l"/>
            <a:r>
              <a:rPr sz="1100">
                <a:solidFill>
                  <a:srgbClr val="222A3A"/>
                </a:solidFill>
              </a:rPr>
              <a:t>Cost:         ~$0.01 for all 240 texts</a:t>
            </a:r>
          </a:p>
          <a:p>
            <a:pPr algn="l"/>
            <a:r>
              <a:rPr sz="1100">
                <a:solidFill>
                  <a:srgbClr val="222A3A"/>
                </a:solidFill>
              </a:rPr>
              <a:t/>
            </a:r>
          </a:p>
          <a:p>
            <a:pPr algn="l"/>
            <a:r>
              <a:rPr sz="1100">
                <a:solidFill>
                  <a:srgbClr val="222A3A"/>
                </a:solidFill>
              </a:rPr>
              <a:t>Reads the full extracted text — both Executive</a:t>
            </a:r>
          </a:p>
          <a:p>
            <a:pPr algn="l"/>
            <a:r>
              <a:rPr sz="1100">
                <a:solidFill>
                  <a:srgbClr val="222A3A"/>
                </a:solidFill>
              </a:rPr>
              <a:t>Summary and Staff Appraisal sections captured.</a:t>
            </a:r>
          </a:p>
          <a:p>
            <a:pPr algn="l"/>
            <a:r>
              <a:rPr sz="1100">
                <a:solidFill>
                  <a:srgbClr val="222A3A"/>
                </a:solidFill>
              </a:rPr>
              <a:t>Real publication dates from Coveo API used</a:t>
            </a:r>
          </a:p>
          <a:p>
            <a:pPr algn="l"/>
            <a:r>
              <a:rPr sz="1100">
                <a:solidFill>
                  <a:srgbClr val="222A3A"/>
                </a:solidFill>
              </a:rPr>
              <a:t>for accurate temporal weighting (239/240 found).</a:t>
            </a:r>
          </a:p>
          <a:p>
            <a:pPr algn="l"/>
            <a:r>
              <a:rPr sz="1100">
                <a:solidFill>
                  <a:srgbClr val="222A3A"/>
                </a:solidFill>
              </a:rPr>
              <a:t/>
            </a:r>
          </a:p>
          <a:p>
            <a:pPr algn="l"/>
            <a:r>
              <a:rPr sz="1100">
                <a:solidFill>
                  <a:srgbClr val="222A3A"/>
                </a:solidFill>
              </a:rPr>
              <a:t>Result: GR-Add achieves best overall MSE.</a:t>
            </a:r>
          </a:p>
          <a:p>
            <a:pPr algn="l"/>
            <a:r>
              <a:rPr sz="1100">
                <a:solidFill>
                  <a:srgbClr val="222A3A"/>
                </a:solidFill>
              </a:rPr>
              <a:t>Overall MSE = 2.584  (clear winner)</a:t>
            </a:r>
          </a:p>
        </p:txBody>
      </p:sp>
      <p:sp>
        <p:nvSpPr>
          <p:cNvPr id="16" name="TextBox 15"/>
          <p:cNvSpPr txBox="1"/>
          <p:nvPr/>
        </p:nvSpPr>
        <p:spPr>
          <a:xfrm>
            <a:off x="5715000" y="2788920"/>
            <a:ext cx="548640" cy="548640"/>
          </a:xfrm>
          <a:prstGeom prst="rect">
            <a:avLst/>
          </a:prstGeom>
          <a:noFill/>
        </p:spPr>
        <p:txBody>
          <a:bodyPr wrap="square">
            <a:spAutoFit/>
          </a:bodyPr>
          <a:lstStyle/>
          <a:p>
            <a:pPr algn="ctr"/>
            <a:r>
              <a:rPr sz="2800" b="1" i="0">
                <a:solidFill>
                  <a:srgbClr val="B88600"/>
                </a:solidFill>
              </a:rPr>
              <a:t>-&gt;</a:t>
            </a:r>
          </a:p>
        </p:txBody>
      </p:sp>
      <p:sp>
        <p:nvSpPr>
          <p:cNvPr id="17" name="Rectangle 16"/>
          <p:cNvSpPr/>
          <p:nvPr/>
        </p:nvSpPr>
        <p:spPr>
          <a:xfrm>
            <a:off x="365760" y="4709160"/>
            <a:ext cx="11430000" cy="50292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73168"/>
            <a:ext cx="11155680" cy="365760"/>
          </a:xfrm>
          <a:prstGeom prst="rect">
            <a:avLst/>
          </a:prstGeom>
          <a:noFill/>
        </p:spPr>
        <p:txBody>
          <a:bodyPr wrap="square">
            <a:spAutoFit/>
          </a:bodyPr>
          <a:lstStyle/>
          <a:p>
            <a:pPr algn="l"/>
            <a:r>
              <a:rPr sz="1100" b="1" i="0">
                <a:solidFill>
                  <a:srgbClr val="FFFFFF"/>
                </a:solidFill>
              </a:rPr>
              <a:t>Switching to full-context embeddings improved GR-Add from 2.872 to 2.584 — a 11.3% MSE reduction.</a:t>
            </a:r>
          </a:p>
        </p:txBody>
      </p:sp>
      <p:sp>
        <p:nvSpPr>
          <p:cNvPr id="19" name="TextBox 18"/>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Primary Results — Test Set MSE (2022-2023)</a:t>
            </a:r>
          </a:p>
        </p:txBody>
      </p:sp>
      <p:sp>
        <p:nvSpPr>
          <p:cNvPr id="5" name="TextBox 4"/>
          <p:cNvSpPr txBox="1"/>
          <p:nvPr/>
        </p:nvSpPr>
        <p:spPr>
          <a:xfrm>
            <a:off x="365760" y="658368"/>
            <a:ext cx="11430000" cy="365760"/>
          </a:xfrm>
          <a:prstGeom prst="rect">
            <a:avLst/>
          </a:prstGeom>
          <a:noFill/>
        </p:spPr>
        <p:txBody>
          <a:bodyPr wrap="square">
            <a:spAutoFit/>
          </a:bodyPr>
          <a:lstStyle/>
          <a:p>
            <a:pPr algn="l"/>
            <a:r>
              <a:rPr sz="1000" b="0" i="0">
                <a:solidFill>
                  <a:srgbClr val="BBCCDD"/>
                </a:solidFill>
              </a:rPr>
              <a:t>Lower is better  ·  Targets: GDP growth + CPI inflation</a:t>
            </a:r>
          </a:p>
        </p:txBody>
      </p:sp>
      <p:sp>
        <p:nvSpPr>
          <p:cNvPr id="6" name="Rectangle 5"/>
          <p:cNvSpPr/>
          <p:nvPr/>
        </p:nvSpPr>
        <p:spPr>
          <a:xfrm>
            <a:off x="365760" y="1325880"/>
            <a:ext cx="539496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539496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5257800" cy="256032"/>
          </a:xfrm>
          <a:prstGeom prst="rect">
            <a:avLst/>
          </a:prstGeom>
          <a:noFill/>
        </p:spPr>
        <p:txBody>
          <a:bodyPr wrap="square">
            <a:spAutoFit/>
          </a:bodyPr>
          <a:lstStyle/>
          <a:p>
            <a:pPr algn="l"/>
            <a:r>
              <a:rPr sz="1000" b="1" i="0">
                <a:solidFill>
                  <a:srgbClr val="FFFFFF"/>
                </a:solidFill>
              </a:rPr>
              <a:t>BERT-base-uncased (512 tokens)</a:t>
            </a:r>
          </a:p>
        </p:txBody>
      </p:sp>
      <p:sp>
        <p:nvSpPr>
          <p:cNvPr id="9" name="TextBox 8"/>
          <p:cNvSpPr txBox="1"/>
          <p:nvPr/>
        </p:nvSpPr>
        <p:spPr>
          <a:xfrm>
            <a:off x="457200" y="1709928"/>
            <a:ext cx="5257800" cy="2121408"/>
          </a:xfrm>
          <a:prstGeom prst="rect">
            <a:avLst/>
          </a:prstGeom>
          <a:noFill/>
        </p:spPr>
        <p:txBody>
          <a:bodyPr wrap="square">
            <a:spAutoFit/>
          </a:bodyPr>
          <a:lstStyle/>
          <a:p/>
        </p:txBody>
      </p:sp>
      <p:sp>
        <p:nvSpPr>
          <p:cNvPr id="10" name="TextBox 9"/>
          <p:cNvSpPr txBox="1"/>
          <p:nvPr/>
        </p:nvSpPr>
        <p:spPr>
          <a:xfrm>
            <a:off x="502920" y="1737360"/>
            <a:ext cx="5120640" cy="292608"/>
          </a:xfrm>
          <a:prstGeom prst="rect">
            <a:avLst/>
          </a:prstGeom>
          <a:noFill/>
        </p:spPr>
        <p:txBody>
          <a:bodyPr wrap="square">
            <a:spAutoFit/>
          </a:bodyPr>
          <a:lstStyle/>
          <a:p>
            <a:pPr algn="l"/>
            <a:r>
              <a:rPr sz="1000">
                <a:solidFill>
                  <a:srgbClr val="555555"/>
                </a:solidFill>
              </a:rPr>
              <a:t>Model             GDP MSE   Inf MSE   Overall</a:t>
            </a:r>
          </a:p>
        </p:txBody>
      </p:sp>
      <p:sp>
        <p:nvSpPr>
          <p:cNvPr id="11" name="TextBox 10"/>
          <p:cNvSpPr txBox="1"/>
          <p:nvPr/>
        </p:nvSpPr>
        <p:spPr>
          <a:xfrm>
            <a:off x="502920" y="2029968"/>
            <a:ext cx="5120640" cy="256032"/>
          </a:xfrm>
          <a:prstGeom prst="rect">
            <a:avLst/>
          </a:prstGeom>
          <a:noFill/>
        </p:spPr>
        <p:txBody>
          <a:bodyPr wrap="square">
            <a:spAutoFit/>
          </a:bodyPr>
          <a:lstStyle/>
          <a:p>
            <a:pPr algn="l"/>
            <a:r>
              <a:rPr sz="1050">
                <a:solidFill>
                  <a:srgbClr val="222A3A"/>
                </a:solidFill>
              </a:rPr>
              <a:t>DLinear           1.797     4.234     3.015</a:t>
            </a:r>
          </a:p>
        </p:txBody>
      </p:sp>
      <p:sp>
        <p:nvSpPr>
          <p:cNvPr id="12" name="TextBox 11"/>
          <p:cNvSpPr txBox="1"/>
          <p:nvPr/>
        </p:nvSpPr>
        <p:spPr>
          <a:xfrm>
            <a:off x="502920" y="2331720"/>
            <a:ext cx="5120640" cy="256032"/>
          </a:xfrm>
          <a:prstGeom prst="rect">
            <a:avLst/>
          </a:prstGeom>
          <a:noFill/>
        </p:spPr>
        <p:txBody>
          <a:bodyPr wrap="square">
            <a:spAutoFit/>
          </a:bodyPr>
          <a:lstStyle/>
          <a:p>
            <a:pPr algn="l"/>
            <a:r>
              <a:rPr sz="1050">
                <a:solidFill>
                  <a:srgbClr val="222A3A"/>
                </a:solidFill>
              </a:rPr>
              <a:t>NumericalGRU      1.514     4.300     2.907</a:t>
            </a:r>
          </a:p>
        </p:txBody>
      </p:sp>
      <p:sp>
        <p:nvSpPr>
          <p:cNvPr id="13" name="TextBox 12"/>
          <p:cNvSpPr txBox="1"/>
          <p:nvPr/>
        </p:nvSpPr>
        <p:spPr>
          <a:xfrm>
            <a:off x="502920" y="2633472"/>
            <a:ext cx="5120640" cy="256032"/>
          </a:xfrm>
          <a:prstGeom prst="rect">
            <a:avLst/>
          </a:prstGeom>
          <a:noFill/>
        </p:spPr>
        <p:txBody>
          <a:bodyPr wrap="square">
            <a:spAutoFit/>
          </a:bodyPr>
          <a:lstStyle/>
          <a:p>
            <a:pPr algn="l"/>
            <a:r>
              <a:rPr sz="1050">
                <a:solidFill>
                  <a:srgbClr val="88FFAA"/>
                </a:solidFill>
              </a:rPr>
              <a:t>GR-Add MMF        1.495     4.250     2.872  &lt;-- best</a:t>
            </a:r>
          </a:p>
        </p:txBody>
      </p:sp>
      <p:sp>
        <p:nvSpPr>
          <p:cNvPr id="14" name="Rectangle 13"/>
          <p:cNvSpPr/>
          <p:nvPr/>
        </p:nvSpPr>
        <p:spPr>
          <a:xfrm>
            <a:off x="6217920" y="1325880"/>
            <a:ext cx="557784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325880"/>
            <a:ext cx="557784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59" y="1371600"/>
            <a:ext cx="5440679" cy="256032"/>
          </a:xfrm>
          <a:prstGeom prst="rect">
            <a:avLst/>
          </a:prstGeom>
          <a:noFill/>
        </p:spPr>
        <p:txBody>
          <a:bodyPr wrap="square">
            <a:spAutoFit/>
          </a:bodyPr>
          <a:lstStyle/>
          <a:p>
            <a:pPr algn="l"/>
            <a:r>
              <a:rPr sz="1000" b="1" i="0">
                <a:solidFill>
                  <a:srgbClr val="FFFFFF"/>
                </a:solidFill>
              </a:rPr>
              <a:t>OpenAI text-embedding-3-small  +  real pub dates</a:t>
            </a:r>
          </a:p>
        </p:txBody>
      </p:sp>
      <p:sp>
        <p:nvSpPr>
          <p:cNvPr id="17" name="TextBox 16"/>
          <p:cNvSpPr txBox="1"/>
          <p:nvPr/>
        </p:nvSpPr>
        <p:spPr>
          <a:xfrm>
            <a:off x="6309359" y="1709928"/>
            <a:ext cx="5440679" cy="2121408"/>
          </a:xfrm>
          <a:prstGeom prst="rect">
            <a:avLst/>
          </a:prstGeom>
          <a:noFill/>
        </p:spPr>
        <p:txBody>
          <a:bodyPr wrap="square">
            <a:spAutoFit/>
          </a:bodyPr>
          <a:lstStyle/>
          <a:p/>
        </p:txBody>
      </p:sp>
      <p:sp>
        <p:nvSpPr>
          <p:cNvPr id="18" name="TextBox 17"/>
          <p:cNvSpPr txBox="1"/>
          <p:nvPr/>
        </p:nvSpPr>
        <p:spPr>
          <a:xfrm>
            <a:off x="6355080" y="1737360"/>
            <a:ext cx="5303520" cy="292608"/>
          </a:xfrm>
          <a:prstGeom prst="rect">
            <a:avLst/>
          </a:prstGeom>
          <a:noFill/>
        </p:spPr>
        <p:txBody>
          <a:bodyPr wrap="square">
            <a:spAutoFit/>
          </a:bodyPr>
          <a:lstStyle/>
          <a:p>
            <a:pPr algn="l"/>
            <a:r>
              <a:rPr sz="1000">
                <a:solidFill>
                  <a:srgbClr val="555555"/>
                </a:solidFill>
              </a:rPr>
              <a:t>Model             GDP MSE   Inf MSE   Overall</a:t>
            </a:r>
          </a:p>
        </p:txBody>
      </p:sp>
      <p:sp>
        <p:nvSpPr>
          <p:cNvPr id="19" name="TextBox 18"/>
          <p:cNvSpPr txBox="1"/>
          <p:nvPr/>
        </p:nvSpPr>
        <p:spPr>
          <a:xfrm>
            <a:off x="6355080" y="2029968"/>
            <a:ext cx="5303520" cy="256032"/>
          </a:xfrm>
          <a:prstGeom prst="rect">
            <a:avLst/>
          </a:prstGeom>
          <a:noFill/>
        </p:spPr>
        <p:txBody>
          <a:bodyPr wrap="square">
            <a:spAutoFit/>
          </a:bodyPr>
          <a:lstStyle/>
          <a:p>
            <a:pPr algn="l"/>
            <a:r>
              <a:rPr sz="1050">
                <a:solidFill>
                  <a:srgbClr val="222A3A"/>
                </a:solidFill>
              </a:rPr>
              <a:t>DLinear           1.568     4.667     3.118</a:t>
            </a:r>
          </a:p>
        </p:txBody>
      </p:sp>
      <p:sp>
        <p:nvSpPr>
          <p:cNvPr id="20" name="TextBox 19"/>
          <p:cNvSpPr txBox="1"/>
          <p:nvPr/>
        </p:nvSpPr>
        <p:spPr>
          <a:xfrm>
            <a:off x="6355080" y="2331720"/>
            <a:ext cx="5303520" cy="256032"/>
          </a:xfrm>
          <a:prstGeom prst="rect">
            <a:avLst/>
          </a:prstGeom>
          <a:noFill/>
        </p:spPr>
        <p:txBody>
          <a:bodyPr wrap="square">
            <a:spAutoFit/>
          </a:bodyPr>
          <a:lstStyle/>
          <a:p>
            <a:pPr algn="l"/>
            <a:r>
              <a:rPr sz="1050">
                <a:solidFill>
                  <a:srgbClr val="222A3A"/>
                </a:solidFill>
              </a:rPr>
              <a:t>NumericalGRU      1.466     4.228     2.847</a:t>
            </a:r>
          </a:p>
        </p:txBody>
      </p:sp>
      <p:sp>
        <p:nvSpPr>
          <p:cNvPr id="21" name="TextBox 20"/>
          <p:cNvSpPr txBox="1"/>
          <p:nvPr/>
        </p:nvSpPr>
        <p:spPr>
          <a:xfrm>
            <a:off x="6355080" y="2633472"/>
            <a:ext cx="5303520" cy="256032"/>
          </a:xfrm>
          <a:prstGeom prst="rect">
            <a:avLst/>
          </a:prstGeom>
          <a:noFill/>
        </p:spPr>
        <p:txBody>
          <a:bodyPr wrap="square">
            <a:spAutoFit/>
          </a:bodyPr>
          <a:lstStyle/>
          <a:p>
            <a:pPr algn="l"/>
            <a:r>
              <a:rPr sz="1050">
                <a:solidFill>
                  <a:srgbClr val="88FFAA"/>
                </a:solidFill>
              </a:rPr>
              <a:t>GR-Add MMF        1.484     3.684     2.584  &lt;-- best</a:t>
            </a:r>
          </a:p>
        </p:txBody>
      </p:sp>
      <p:sp>
        <p:nvSpPr>
          <p:cNvPr id="22" name="Rectangle 21"/>
          <p:cNvSpPr/>
          <p:nvPr/>
        </p:nvSpPr>
        <p:spPr>
          <a:xfrm>
            <a:off x="365760" y="4069080"/>
            <a:ext cx="11430000" cy="50292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133087"/>
            <a:ext cx="11155680" cy="365760"/>
          </a:xfrm>
          <a:prstGeom prst="rect">
            <a:avLst/>
          </a:prstGeom>
          <a:noFill/>
        </p:spPr>
        <p:txBody>
          <a:bodyPr wrap="square">
            <a:spAutoFit/>
          </a:bodyPr>
          <a:lstStyle/>
          <a:p>
            <a:pPr algn="l"/>
            <a:r>
              <a:rPr sz="1100" b="1" i="0">
                <a:solidFill>
                  <a:srgbClr val="FFFFFF"/>
                </a:solidFill>
              </a:rPr>
              <a:t>GR-Add advantage is concentrated in inflation:  MSE 3.684 vs 4.228 (NumericalGRU) — 12.9% reduction.</a:t>
            </a:r>
          </a:p>
        </p:txBody>
      </p:sp>
      <p:sp>
        <p:nvSpPr>
          <p:cNvPr id="24" name="Rectangle 23"/>
          <p:cNvSpPr/>
          <p:nvPr/>
        </p:nvSpPr>
        <p:spPr>
          <a:xfrm>
            <a:off x="365760" y="4736592"/>
            <a:ext cx="11430000" cy="914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46320"/>
            <a:ext cx="11155680" cy="731520"/>
          </a:xfrm>
          <a:prstGeom prst="rect">
            <a:avLst/>
          </a:prstGeom>
          <a:noFill/>
        </p:spPr>
        <p:txBody>
          <a:bodyPr wrap="square">
            <a:spAutoFit/>
          </a:bodyPr>
          <a:lstStyle/>
          <a:p>
            <a:pPr algn="l"/>
            <a:r>
              <a:rPr sz="1100">
                <a:solidFill>
                  <a:srgbClr val="1A1A2E"/>
                </a:solidFill>
              </a:rPr>
              <a:t>GR-Add MMF wins with full-context OpenAI embeddings. GDP gain is modest (1.484 vs 1.466)</a:t>
            </a:r>
          </a:p>
          <a:p>
            <a:pPr algn="l"/>
            <a:r>
              <a:rPr sz="1100">
                <a:solidFill>
                  <a:srgbClr val="1A1A2E"/>
                </a:solidFill>
              </a:rPr>
              <a:t>but inflation gain is clear (3.684 vs 4.228). IMF text captures inflation dynamics</a:t>
            </a:r>
          </a:p>
          <a:p>
            <a:pPr algn="l"/>
            <a:r>
              <a:rPr sz="1100">
                <a:solidFill>
                  <a:srgbClr val="1A1A2E"/>
                </a:solidFill>
              </a:rPr>
              <a:t>— exchange rate outlooks, price pressure commentary — that the numerical series misses.</a:t>
            </a:r>
          </a:p>
        </p:txBody>
      </p:sp>
      <p:sp>
        <p:nvSpPr>
          <p:cNvPr id="26" name="TextBox 25"/>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Benchmark Comparison — vs Persistence Baseline</a:t>
            </a:r>
          </a:p>
        </p:txBody>
      </p:sp>
      <p:sp>
        <p:nvSpPr>
          <p:cNvPr id="5" name="TextBox 4"/>
          <p:cNvSpPr txBox="1"/>
          <p:nvPr/>
        </p:nvSpPr>
        <p:spPr>
          <a:xfrm>
            <a:off x="365760" y="658368"/>
            <a:ext cx="11430000" cy="365760"/>
          </a:xfrm>
          <a:prstGeom prst="rect">
            <a:avLst/>
          </a:prstGeom>
          <a:noFill/>
        </p:spPr>
        <p:txBody>
          <a:bodyPr wrap="square">
            <a:spAutoFit/>
          </a:bodyPr>
          <a:lstStyle/>
          <a:p>
            <a:pPr algn="l"/>
            <a:r>
              <a:rPr sz="1000" b="0" i="0">
                <a:solidFill>
                  <a:srgbClr val="BBCCDD"/>
                </a:solidFill>
              </a:rPr>
              <a:t>Persistence: forecast(t) = actual(t-1)  ·  Standard random-walk benchmark in forecasting</a:t>
            </a:r>
          </a:p>
        </p:txBody>
      </p:sp>
      <p:pic>
        <p:nvPicPr>
          <p:cNvPr id="6" name="Picture 5" descr="benchmark_comparison.png"/>
          <p:cNvPicPr>
            <a:picLocks noChangeAspect="1"/>
          </p:cNvPicPr>
          <p:nvPr/>
        </p:nvPicPr>
        <p:blipFill>
          <a:blip r:embed="rId2"/>
          <a:stretch>
            <a:fillRect/>
          </a:stretch>
        </p:blipFill>
        <p:spPr>
          <a:xfrm>
            <a:off x="365760" y="1188720"/>
            <a:ext cx="7132320" cy="4389120"/>
          </a:xfrm>
          <a:prstGeom prst="rect">
            <a:avLst/>
          </a:prstGeom>
        </p:spPr>
      </p:pic>
      <p:sp>
        <p:nvSpPr>
          <p:cNvPr id="7" name="Rectangle 6"/>
          <p:cNvSpPr/>
          <p:nvPr/>
        </p:nvSpPr>
        <p:spPr>
          <a:xfrm>
            <a:off x="7818120" y="1188720"/>
            <a:ext cx="3977639" cy="43891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18120" y="1188720"/>
            <a:ext cx="3977639"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234440"/>
            <a:ext cx="3840479" cy="256032"/>
          </a:xfrm>
          <a:prstGeom prst="rect">
            <a:avLst/>
          </a:prstGeom>
          <a:noFill/>
        </p:spPr>
        <p:txBody>
          <a:bodyPr wrap="square">
            <a:spAutoFit/>
          </a:bodyPr>
          <a:lstStyle/>
          <a:p>
            <a:pPr algn="l"/>
            <a:r>
              <a:rPr sz="1000" b="1" i="0">
                <a:solidFill>
                  <a:srgbClr val="FFFFFF"/>
                </a:solidFill>
              </a:rPr>
              <a:t>TEST MSE SUMMARY</a:t>
            </a:r>
          </a:p>
        </p:txBody>
      </p:sp>
      <p:sp>
        <p:nvSpPr>
          <p:cNvPr id="10" name="TextBox 9"/>
          <p:cNvSpPr txBox="1"/>
          <p:nvPr/>
        </p:nvSpPr>
        <p:spPr>
          <a:xfrm>
            <a:off x="7909560" y="1572768"/>
            <a:ext cx="3840479" cy="3950208"/>
          </a:xfrm>
          <a:prstGeom prst="rect">
            <a:avLst/>
          </a:prstGeom>
          <a:noFill/>
        </p:spPr>
        <p:txBody>
          <a:bodyPr wrap="square">
            <a:spAutoFit/>
          </a:bodyPr>
          <a:lstStyle/>
          <a:p/>
        </p:txBody>
      </p:sp>
      <p:sp>
        <p:nvSpPr>
          <p:cNvPr id="11" name="TextBox 10"/>
          <p:cNvSpPr txBox="1"/>
          <p:nvPr/>
        </p:nvSpPr>
        <p:spPr>
          <a:xfrm>
            <a:off x="7909560" y="1609344"/>
            <a:ext cx="3794760" cy="292608"/>
          </a:xfrm>
          <a:prstGeom prst="rect">
            <a:avLst/>
          </a:prstGeom>
          <a:noFill/>
        </p:spPr>
        <p:txBody>
          <a:bodyPr wrap="square">
            <a:spAutoFit/>
          </a:bodyPr>
          <a:lstStyle/>
          <a:p>
            <a:pPr algn="l"/>
            <a:r>
              <a:rPr sz="950">
                <a:solidFill>
                  <a:srgbClr val="555555"/>
                </a:solidFill>
              </a:rPr>
              <a:t>Model                Overall MSE</a:t>
            </a:r>
          </a:p>
        </p:txBody>
      </p:sp>
      <p:sp>
        <p:nvSpPr>
          <p:cNvPr id="12" name="TextBox 11"/>
          <p:cNvSpPr txBox="1"/>
          <p:nvPr/>
        </p:nvSpPr>
        <p:spPr>
          <a:xfrm>
            <a:off x="7909560" y="1901952"/>
            <a:ext cx="3794760" cy="365760"/>
          </a:xfrm>
          <a:prstGeom prst="rect">
            <a:avLst/>
          </a:prstGeom>
          <a:noFill/>
        </p:spPr>
        <p:txBody>
          <a:bodyPr wrap="square">
            <a:spAutoFit/>
          </a:bodyPr>
          <a:lstStyle/>
          <a:p>
            <a:pPr algn="l"/>
            <a:r>
              <a:rPr sz="1050">
                <a:solidFill>
                  <a:srgbClr val="8B0000"/>
                </a:solidFill>
              </a:rPr>
              <a:t>Persistence      105.44</a:t>
            </a:r>
          </a:p>
        </p:txBody>
      </p:sp>
      <p:sp>
        <p:nvSpPr>
          <p:cNvPr id="13" name="TextBox 12"/>
          <p:cNvSpPr txBox="1"/>
          <p:nvPr/>
        </p:nvSpPr>
        <p:spPr>
          <a:xfrm>
            <a:off x="7909560" y="2340864"/>
            <a:ext cx="3794760" cy="365760"/>
          </a:xfrm>
          <a:prstGeom prst="rect">
            <a:avLst/>
          </a:prstGeom>
          <a:noFill/>
        </p:spPr>
        <p:txBody>
          <a:bodyPr wrap="square">
            <a:spAutoFit/>
          </a:bodyPr>
          <a:lstStyle/>
          <a:p>
            <a:pPr algn="l"/>
            <a:r>
              <a:rPr sz="1050">
                <a:solidFill>
                  <a:srgbClr val="222A3A"/>
                </a:solidFill>
              </a:rPr>
              <a:t>DLinear          3.12</a:t>
            </a:r>
          </a:p>
        </p:txBody>
      </p:sp>
      <p:sp>
        <p:nvSpPr>
          <p:cNvPr id="14" name="TextBox 13"/>
          <p:cNvSpPr txBox="1"/>
          <p:nvPr/>
        </p:nvSpPr>
        <p:spPr>
          <a:xfrm>
            <a:off x="7909560" y="2779776"/>
            <a:ext cx="3794760" cy="365760"/>
          </a:xfrm>
          <a:prstGeom prst="rect">
            <a:avLst/>
          </a:prstGeom>
          <a:noFill/>
        </p:spPr>
        <p:txBody>
          <a:bodyPr wrap="square">
            <a:spAutoFit/>
          </a:bodyPr>
          <a:lstStyle/>
          <a:p>
            <a:pPr algn="l"/>
            <a:r>
              <a:rPr sz="1050">
                <a:solidFill>
                  <a:srgbClr val="222A3A"/>
                </a:solidFill>
              </a:rPr>
              <a:t>NumericalGRU     2.85</a:t>
            </a:r>
          </a:p>
        </p:txBody>
      </p:sp>
      <p:sp>
        <p:nvSpPr>
          <p:cNvPr id="15" name="TextBox 14"/>
          <p:cNvSpPr txBox="1"/>
          <p:nvPr/>
        </p:nvSpPr>
        <p:spPr>
          <a:xfrm>
            <a:off x="7909560" y="3218688"/>
            <a:ext cx="3794760" cy="365760"/>
          </a:xfrm>
          <a:prstGeom prst="rect">
            <a:avLst/>
          </a:prstGeom>
          <a:noFill/>
        </p:spPr>
        <p:txBody>
          <a:bodyPr wrap="square">
            <a:spAutoFit/>
          </a:bodyPr>
          <a:lstStyle/>
          <a:p>
            <a:pPr algn="l"/>
            <a:r>
              <a:rPr sz="1050">
                <a:solidFill>
                  <a:srgbClr val="88FFAA"/>
                </a:solidFill>
              </a:rPr>
              <a:t>GR-Add MMF       2.58</a:t>
            </a:r>
          </a:p>
        </p:txBody>
      </p:sp>
      <p:sp>
        <p:nvSpPr>
          <p:cNvPr id="16" name="Rectangle 15"/>
          <p:cNvSpPr/>
          <p:nvPr/>
        </p:nvSpPr>
        <p:spPr>
          <a:xfrm>
            <a:off x="7818120" y="3611880"/>
            <a:ext cx="3977639" cy="6858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3675887"/>
            <a:ext cx="3794760" cy="548640"/>
          </a:xfrm>
          <a:prstGeom prst="rect">
            <a:avLst/>
          </a:prstGeom>
          <a:noFill/>
        </p:spPr>
        <p:txBody>
          <a:bodyPr wrap="square">
            <a:spAutoFit/>
          </a:bodyPr>
          <a:lstStyle/>
          <a:p>
            <a:pPr algn="l"/>
            <a:r>
              <a:rPr sz="1100">
                <a:solidFill>
                  <a:srgbClr val="FFFFFF"/>
                </a:solidFill>
              </a:rPr>
              <a:t>GR-Add reduction:</a:t>
            </a:r>
          </a:p>
          <a:p>
            <a:pPr algn="l"/>
            <a:r>
              <a:rPr sz="1100">
                <a:solidFill>
                  <a:srgbClr val="FFFFFF"/>
                </a:solidFill>
              </a:rPr>
              <a:t>97.6% vs persistence</a:t>
            </a:r>
          </a:p>
        </p:txBody>
      </p:sp>
      <p:sp>
        <p:nvSpPr>
          <p:cNvPr id="18" name="Rectangle 17"/>
          <p:cNvSpPr/>
          <p:nvPr/>
        </p:nvSpPr>
        <p:spPr>
          <a:xfrm>
            <a:off x="365760" y="5742432"/>
            <a:ext cx="11430000" cy="7132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833872"/>
            <a:ext cx="11155680" cy="530352"/>
          </a:xfrm>
          <a:prstGeom prst="rect">
            <a:avLst/>
          </a:prstGeom>
          <a:noFill/>
        </p:spPr>
        <p:txBody>
          <a:bodyPr wrap="square">
            <a:spAutoFit/>
          </a:bodyPr>
          <a:lstStyle/>
          <a:p>
            <a:pPr algn="l"/>
            <a:r>
              <a:rPr sz="1050">
                <a:solidFill>
                  <a:srgbClr val="1A1A2E"/>
                </a:solidFill>
              </a:rPr>
              <a:t>Persistence predicts year t from year t-1 observed value — the naive "random walk" benchmark used in macroeconomics.</a:t>
            </a:r>
          </a:p>
          <a:p>
            <a:pPr algn="l"/>
            <a:r>
              <a:rPr sz="1050">
                <a:solidFill>
                  <a:srgbClr val="1A1A2E"/>
                </a:solidFill>
              </a:rPr>
              <a:t>GR-Add MMF (2.584) beats persistence (105.44) by 97.6% — a strong result given only 102 training samples.</a:t>
            </a:r>
          </a:p>
        </p:txBody>
      </p:sp>
      <p:sp>
        <p:nvSpPr>
          <p:cNvPr id="20" name="TextBox 19"/>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Secondary Analysis — Do Gappier Countries Benefit More?</a:t>
            </a:r>
          </a:p>
        </p:txBody>
      </p:sp>
      <p:sp>
        <p:nvSpPr>
          <p:cNvPr id="5" name="TextBox 4"/>
          <p:cNvSpPr txBox="1"/>
          <p:nvPr/>
        </p:nvSpPr>
        <p:spPr>
          <a:xfrm>
            <a:off x="365760" y="658368"/>
            <a:ext cx="11430000" cy="365760"/>
          </a:xfrm>
          <a:prstGeom prst="rect">
            <a:avLst/>
          </a:prstGeom>
          <a:noFill/>
        </p:spPr>
        <p:txBody>
          <a:bodyPr wrap="square">
            <a:spAutoFit/>
          </a:bodyPr>
          <a:lstStyle/>
          <a:p>
            <a:pPr algn="l"/>
            <a:r>
              <a:rPr sz="1000" b="0" i="0">
                <a:solidFill>
                  <a:srgbClr val="BBCCDD"/>
                </a:solidFill>
              </a:rPr>
              <a:t>Text missingness = % of years with no Article IV report  ·  GR-Add MMF vs NumericalGRU  ·  OpenAI embeddings</a:t>
            </a:r>
          </a:p>
        </p:txBody>
      </p:sp>
      <p:sp>
        <p:nvSpPr>
          <p:cNvPr id="6" name="Rectangle 5"/>
          <p:cNvSpPr/>
          <p:nvPr/>
        </p:nvSpPr>
        <p:spPr>
          <a:xfrm>
            <a:off x="365760" y="1325880"/>
            <a:ext cx="11430000" cy="4572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89888"/>
            <a:ext cx="11155680" cy="347472"/>
          </a:xfrm>
          <a:prstGeom prst="rect">
            <a:avLst/>
          </a:prstGeom>
          <a:noFill/>
        </p:spPr>
        <p:txBody>
          <a:bodyPr wrap="square">
            <a:spAutoFit/>
          </a:bodyPr>
          <a:lstStyle/>
          <a:p>
            <a:pPr algn="l"/>
            <a:r>
              <a:rPr sz="1100" b="0" i="1">
                <a:solidFill>
                  <a:srgbClr val="FFFFFF"/>
                </a:solidFill>
              </a:rPr>
              <a:t>Hypothesis: countries with fewer Article IV texts benefit more from the text fusion signal.</a:t>
            </a:r>
          </a:p>
        </p:txBody>
      </p:sp>
      <p:sp>
        <p:nvSpPr>
          <p:cNvPr id="8" name="Rectangle 7"/>
          <p:cNvSpPr/>
          <p:nvPr/>
        </p:nvSpPr>
        <p:spPr>
          <a:xfrm>
            <a:off x="365760" y="1965960"/>
            <a:ext cx="5394960" cy="3108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965960"/>
            <a:ext cx="539496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11679"/>
            <a:ext cx="5257800" cy="256032"/>
          </a:xfrm>
          <a:prstGeom prst="rect">
            <a:avLst/>
          </a:prstGeom>
          <a:noFill/>
        </p:spPr>
        <p:txBody>
          <a:bodyPr wrap="square">
            <a:spAutoFit/>
          </a:bodyPr>
          <a:lstStyle/>
          <a:p>
            <a:pPr algn="l"/>
            <a:r>
              <a:rPr sz="1000" b="1" i="0">
                <a:solidFill>
                  <a:srgbClr val="FFFFFF"/>
                </a:solidFill>
              </a:rPr>
              <a:t>LOW MISSINGNESS  (&lt;=37% of years have no Article IV report)</a:t>
            </a:r>
          </a:p>
        </p:txBody>
      </p:sp>
      <p:sp>
        <p:nvSpPr>
          <p:cNvPr id="11" name="TextBox 10"/>
          <p:cNvSpPr txBox="1"/>
          <p:nvPr/>
        </p:nvSpPr>
        <p:spPr>
          <a:xfrm>
            <a:off x="457200" y="2350008"/>
            <a:ext cx="5257800" cy="2670048"/>
          </a:xfrm>
          <a:prstGeom prst="rect">
            <a:avLst/>
          </a:prstGeom>
          <a:noFill/>
        </p:spPr>
        <p:txBody>
          <a:bodyPr wrap="square">
            <a:spAutoFit/>
          </a:bodyPr>
          <a:lstStyle/>
          <a:p/>
        </p:txBody>
      </p:sp>
      <p:sp>
        <p:nvSpPr>
          <p:cNvPr id="12" name="TextBox 11"/>
          <p:cNvSpPr txBox="1"/>
          <p:nvPr/>
        </p:nvSpPr>
        <p:spPr>
          <a:xfrm>
            <a:off x="502920" y="2377440"/>
            <a:ext cx="5120640" cy="256032"/>
          </a:xfrm>
          <a:prstGeom prst="rect">
            <a:avLst/>
          </a:prstGeom>
          <a:noFill/>
        </p:spPr>
        <p:txBody>
          <a:bodyPr wrap="square">
            <a:spAutoFit/>
          </a:bodyPr>
          <a:lstStyle/>
          <a:p>
            <a:pPr algn="l"/>
            <a:r>
              <a:rPr sz="950">
                <a:solidFill>
                  <a:srgbClr val="555555"/>
                </a:solidFill>
              </a:rPr>
              <a:t>Country   Miss%  Texts  GRU MSE  MMF MSE  Gain%</a:t>
            </a:r>
          </a:p>
        </p:txBody>
      </p:sp>
      <p:sp>
        <p:nvSpPr>
          <p:cNvPr id="13" name="TextBox 12"/>
          <p:cNvSpPr txBox="1"/>
          <p:nvPr/>
        </p:nvSpPr>
        <p:spPr>
          <a:xfrm>
            <a:off x="502920" y="2670048"/>
            <a:ext cx="5120640" cy="274320"/>
          </a:xfrm>
          <a:prstGeom prst="rect">
            <a:avLst/>
          </a:prstGeom>
          <a:noFill/>
        </p:spPr>
        <p:txBody>
          <a:bodyPr wrap="square">
            <a:spAutoFit/>
          </a:bodyPr>
          <a:lstStyle/>
          <a:p>
            <a:pPr algn="l"/>
            <a:r>
              <a:rPr sz="950">
                <a:solidFill>
                  <a:srgbClr val="88FFAA"/>
                </a:solidFill>
              </a:rPr>
              <a:t>JPN       16%     16    0.123    0.006   +94.9%</a:t>
            </a:r>
          </a:p>
        </p:txBody>
      </p:sp>
      <p:sp>
        <p:nvSpPr>
          <p:cNvPr id="14" name="TextBox 13"/>
          <p:cNvSpPr txBox="1"/>
          <p:nvPr/>
        </p:nvSpPr>
        <p:spPr>
          <a:xfrm>
            <a:off x="502920" y="3008376"/>
            <a:ext cx="5120640" cy="274320"/>
          </a:xfrm>
          <a:prstGeom prst="rect">
            <a:avLst/>
          </a:prstGeom>
          <a:noFill/>
        </p:spPr>
        <p:txBody>
          <a:bodyPr wrap="square">
            <a:spAutoFit/>
          </a:bodyPr>
          <a:lstStyle/>
          <a:p>
            <a:pPr algn="l"/>
            <a:r>
              <a:rPr sz="950">
                <a:solidFill>
                  <a:srgbClr val="88FFAA"/>
                </a:solidFill>
              </a:rPr>
              <a:t>KAZ       11%     17    0.650    0.426   +34.4%</a:t>
            </a:r>
          </a:p>
        </p:txBody>
      </p:sp>
      <p:sp>
        <p:nvSpPr>
          <p:cNvPr id="15" name="TextBox 14"/>
          <p:cNvSpPr txBox="1"/>
          <p:nvPr/>
        </p:nvSpPr>
        <p:spPr>
          <a:xfrm>
            <a:off x="502920" y="3346704"/>
            <a:ext cx="5120640" cy="274320"/>
          </a:xfrm>
          <a:prstGeom prst="rect">
            <a:avLst/>
          </a:prstGeom>
          <a:noFill/>
        </p:spPr>
        <p:txBody>
          <a:bodyPr wrap="square">
            <a:spAutoFit/>
          </a:bodyPr>
          <a:lstStyle/>
          <a:p>
            <a:pPr algn="l"/>
            <a:r>
              <a:rPr sz="950">
                <a:solidFill>
                  <a:srgbClr val="222A3A"/>
                </a:solidFill>
              </a:rPr>
              <a:t>HRV       26%     14    0.408    0.643   -57.7%</a:t>
            </a:r>
          </a:p>
        </p:txBody>
      </p:sp>
      <p:sp>
        <p:nvSpPr>
          <p:cNvPr id="16" name="TextBox 15"/>
          <p:cNvSpPr txBox="1"/>
          <p:nvPr/>
        </p:nvSpPr>
        <p:spPr>
          <a:xfrm>
            <a:off x="502920" y="3685031"/>
            <a:ext cx="5120640" cy="274320"/>
          </a:xfrm>
          <a:prstGeom prst="rect">
            <a:avLst/>
          </a:prstGeom>
          <a:noFill/>
        </p:spPr>
        <p:txBody>
          <a:bodyPr wrap="square">
            <a:spAutoFit/>
          </a:bodyPr>
          <a:lstStyle/>
          <a:p>
            <a:pPr algn="l"/>
            <a:r>
              <a:rPr sz="950">
                <a:solidFill>
                  <a:srgbClr val="222A3A"/>
                </a:solidFill>
              </a:rPr>
              <a:t>MKD       26%     14    0.776    1.092   -40.7%</a:t>
            </a:r>
          </a:p>
        </p:txBody>
      </p:sp>
      <p:sp>
        <p:nvSpPr>
          <p:cNvPr id="17" name="TextBox 16"/>
          <p:cNvSpPr txBox="1"/>
          <p:nvPr/>
        </p:nvSpPr>
        <p:spPr>
          <a:xfrm>
            <a:off x="502920" y="4023360"/>
            <a:ext cx="5120640" cy="274320"/>
          </a:xfrm>
          <a:prstGeom prst="rect">
            <a:avLst/>
          </a:prstGeom>
          <a:noFill/>
        </p:spPr>
        <p:txBody>
          <a:bodyPr wrap="square">
            <a:spAutoFit/>
          </a:bodyPr>
          <a:lstStyle/>
          <a:p>
            <a:pPr algn="l"/>
            <a:r>
              <a:rPr sz="950">
                <a:solidFill>
                  <a:srgbClr val="222A3A"/>
                </a:solidFill>
              </a:rPr>
              <a:t>BGR       32%     13    0.562    0.848   -51.1%</a:t>
            </a:r>
          </a:p>
        </p:txBody>
      </p:sp>
      <p:sp>
        <p:nvSpPr>
          <p:cNvPr id="18" name="TextBox 17"/>
          <p:cNvSpPr txBox="1"/>
          <p:nvPr/>
        </p:nvSpPr>
        <p:spPr>
          <a:xfrm>
            <a:off x="502920" y="4361688"/>
            <a:ext cx="5120640" cy="274320"/>
          </a:xfrm>
          <a:prstGeom prst="rect">
            <a:avLst/>
          </a:prstGeom>
          <a:noFill/>
        </p:spPr>
        <p:txBody>
          <a:bodyPr wrap="square">
            <a:spAutoFit/>
          </a:bodyPr>
          <a:lstStyle/>
          <a:p>
            <a:pPr algn="l"/>
            <a:r>
              <a:rPr sz="950">
                <a:solidFill>
                  <a:srgbClr val="222A3A"/>
                </a:solidFill>
              </a:rPr>
              <a:t>USA        0%     19    0.065    0.216  -231.4%</a:t>
            </a:r>
          </a:p>
        </p:txBody>
      </p:sp>
      <p:sp>
        <p:nvSpPr>
          <p:cNvPr id="19" name="Rectangle 18"/>
          <p:cNvSpPr/>
          <p:nvPr/>
        </p:nvSpPr>
        <p:spPr>
          <a:xfrm>
            <a:off x="6217920" y="1965960"/>
            <a:ext cx="5577840" cy="3108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965960"/>
            <a:ext cx="5577840" cy="329184"/>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2011679"/>
            <a:ext cx="5440679" cy="256032"/>
          </a:xfrm>
          <a:prstGeom prst="rect">
            <a:avLst/>
          </a:prstGeom>
          <a:noFill/>
        </p:spPr>
        <p:txBody>
          <a:bodyPr wrap="square">
            <a:spAutoFit/>
          </a:bodyPr>
          <a:lstStyle/>
          <a:p>
            <a:pPr algn="l"/>
            <a:r>
              <a:rPr sz="1000" b="1" i="0">
                <a:solidFill>
                  <a:srgbClr val="FFFFFF"/>
                </a:solidFill>
              </a:rPr>
              <a:t>HIGH MISSINGNESS  (&gt;37% of years have no Article IV report)</a:t>
            </a:r>
          </a:p>
        </p:txBody>
      </p:sp>
      <p:sp>
        <p:nvSpPr>
          <p:cNvPr id="22" name="TextBox 21"/>
          <p:cNvSpPr txBox="1"/>
          <p:nvPr/>
        </p:nvSpPr>
        <p:spPr>
          <a:xfrm>
            <a:off x="6309359" y="2350008"/>
            <a:ext cx="5440679" cy="2670048"/>
          </a:xfrm>
          <a:prstGeom prst="rect">
            <a:avLst/>
          </a:prstGeom>
          <a:noFill/>
        </p:spPr>
        <p:txBody>
          <a:bodyPr wrap="square">
            <a:spAutoFit/>
          </a:bodyPr>
          <a:lstStyle/>
          <a:p/>
        </p:txBody>
      </p:sp>
      <p:sp>
        <p:nvSpPr>
          <p:cNvPr id="23" name="TextBox 22"/>
          <p:cNvSpPr txBox="1"/>
          <p:nvPr/>
        </p:nvSpPr>
        <p:spPr>
          <a:xfrm>
            <a:off x="6355080" y="2377440"/>
            <a:ext cx="5303520" cy="256032"/>
          </a:xfrm>
          <a:prstGeom prst="rect">
            <a:avLst/>
          </a:prstGeom>
          <a:noFill/>
        </p:spPr>
        <p:txBody>
          <a:bodyPr wrap="square">
            <a:spAutoFit/>
          </a:bodyPr>
          <a:lstStyle/>
          <a:p>
            <a:pPr algn="l"/>
            <a:r>
              <a:rPr sz="950">
                <a:solidFill>
                  <a:srgbClr val="555555"/>
                </a:solidFill>
              </a:rPr>
              <a:t>Country   Miss%  Texts  GRU MSE  MMF MSE  Gain%</a:t>
            </a:r>
          </a:p>
        </p:txBody>
      </p:sp>
      <p:sp>
        <p:nvSpPr>
          <p:cNvPr id="24" name="TextBox 23"/>
          <p:cNvSpPr txBox="1"/>
          <p:nvPr/>
        </p:nvSpPr>
        <p:spPr>
          <a:xfrm>
            <a:off x="6355080" y="2670048"/>
            <a:ext cx="5303520" cy="274320"/>
          </a:xfrm>
          <a:prstGeom prst="rect">
            <a:avLst/>
          </a:prstGeom>
          <a:noFill/>
        </p:spPr>
        <p:txBody>
          <a:bodyPr wrap="square">
            <a:spAutoFit/>
          </a:bodyPr>
          <a:lstStyle/>
          <a:p>
            <a:pPr algn="l"/>
            <a:r>
              <a:rPr sz="950">
                <a:solidFill>
                  <a:srgbClr val="88FFAA"/>
                </a:solidFill>
              </a:rPr>
              <a:t>UZB       63%      7    0.310    0.153   +50.4%</a:t>
            </a:r>
          </a:p>
        </p:txBody>
      </p:sp>
      <p:sp>
        <p:nvSpPr>
          <p:cNvPr id="25" name="TextBox 24"/>
          <p:cNvSpPr txBox="1"/>
          <p:nvPr/>
        </p:nvSpPr>
        <p:spPr>
          <a:xfrm>
            <a:off x="6355080" y="3008376"/>
            <a:ext cx="5303520" cy="274320"/>
          </a:xfrm>
          <a:prstGeom prst="rect">
            <a:avLst/>
          </a:prstGeom>
          <a:noFill/>
        </p:spPr>
        <p:txBody>
          <a:bodyPr wrap="square">
            <a:spAutoFit/>
          </a:bodyPr>
          <a:lstStyle/>
          <a:p>
            <a:pPr algn="l"/>
            <a:r>
              <a:rPr sz="950">
                <a:solidFill>
                  <a:srgbClr val="88FFAA"/>
                </a:solidFill>
              </a:rPr>
              <a:t>KGZ       53%      9    1.168    0.881   +24.6%</a:t>
            </a:r>
          </a:p>
        </p:txBody>
      </p:sp>
      <p:sp>
        <p:nvSpPr>
          <p:cNvPr id="26" name="TextBox 25"/>
          <p:cNvSpPr txBox="1"/>
          <p:nvPr/>
        </p:nvSpPr>
        <p:spPr>
          <a:xfrm>
            <a:off x="6355080" y="3346704"/>
            <a:ext cx="5303520" cy="274320"/>
          </a:xfrm>
          <a:prstGeom prst="rect">
            <a:avLst/>
          </a:prstGeom>
          <a:noFill/>
        </p:spPr>
        <p:txBody>
          <a:bodyPr wrap="square">
            <a:spAutoFit/>
          </a:bodyPr>
          <a:lstStyle/>
          <a:p>
            <a:pPr algn="l"/>
            <a:r>
              <a:rPr sz="950">
                <a:solidFill>
                  <a:srgbClr val="88FFAA"/>
                </a:solidFill>
              </a:rPr>
              <a:t>ARM       53%      9    1.297    1.232    +5.0%</a:t>
            </a:r>
          </a:p>
        </p:txBody>
      </p:sp>
      <p:sp>
        <p:nvSpPr>
          <p:cNvPr id="27" name="TextBox 26"/>
          <p:cNvSpPr txBox="1"/>
          <p:nvPr/>
        </p:nvSpPr>
        <p:spPr>
          <a:xfrm>
            <a:off x="6355080" y="3685031"/>
            <a:ext cx="5303520" cy="274320"/>
          </a:xfrm>
          <a:prstGeom prst="rect">
            <a:avLst/>
          </a:prstGeom>
          <a:noFill/>
        </p:spPr>
        <p:txBody>
          <a:bodyPr wrap="square">
            <a:spAutoFit/>
          </a:bodyPr>
          <a:lstStyle/>
          <a:p>
            <a:pPr algn="l"/>
            <a:r>
              <a:rPr sz="950">
                <a:solidFill>
                  <a:srgbClr val="88FFAA"/>
                </a:solidFill>
              </a:rPr>
              <a:t>GEO       68%      6    1.054    0.956    +9.2%</a:t>
            </a:r>
          </a:p>
        </p:txBody>
      </p:sp>
      <p:sp>
        <p:nvSpPr>
          <p:cNvPr id="28" name="TextBox 27"/>
          <p:cNvSpPr txBox="1"/>
          <p:nvPr/>
        </p:nvSpPr>
        <p:spPr>
          <a:xfrm>
            <a:off x="6355080" y="4023360"/>
            <a:ext cx="5303520" cy="274320"/>
          </a:xfrm>
          <a:prstGeom prst="rect">
            <a:avLst/>
          </a:prstGeom>
          <a:noFill/>
        </p:spPr>
        <p:txBody>
          <a:bodyPr wrap="square">
            <a:spAutoFit/>
          </a:bodyPr>
          <a:lstStyle/>
          <a:p>
            <a:pPr algn="l"/>
            <a:r>
              <a:rPr sz="950">
                <a:solidFill>
                  <a:srgbClr val="88FFAA"/>
                </a:solidFill>
              </a:rPr>
              <a:t>UKR       63%      7   11.359   11.163    +1.7%</a:t>
            </a:r>
          </a:p>
        </p:txBody>
      </p:sp>
      <p:sp>
        <p:nvSpPr>
          <p:cNvPr id="29" name="TextBox 28"/>
          <p:cNvSpPr txBox="1"/>
          <p:nvPr/>
        </p:nvSpPr>
        <p:spPr>
          <a:xfrm>
            <a:off x="6355080" y="4361688"/>
            <a:ext cx="5303520" cy="274320"/>
          </a:xfrm>
          <a:prstGeom prst="rect">
            <a:avLst/>
          </a:prstGeom>
          <a:noFill/>
        </p:spPr>
        <p:txBody>
          <a:bodyPr wrap="square">
            <a:spAutoFit/>
          </a:bodyPr>
          <a:lstStyle/>
          <a:p>
            <a:pPr algn="l"/>
            <a:r>
              <a:rPr sz="950">
                <a:solidFill>
                  <a:srgbClr val="222A3A"/>
                </a:solidFill>
              </a:rPr>
              <a:t>SRB       47%     10    0.595    0.904   -52.0%</a:t>
            </a:r>
          </a:p>
        </p:txBody>
      </p:sp>
      <p:sp>
        <p:nvSpPr>
          <p:cNvPr id="30" name="Rectangle 29"/>
          <p:cNvSpPr/>
          <p:nvPr/>
        </p:nvSpPr>
        <p:spPr>
          <a:xfrm>
            <a:off x="365760" y="5257800"/>
            <a:ext cx="11430000" cy="8229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349240"/>
            <a:ext cx="11155680" cy="640080"/>
          </a:xfrm>
          <a:prstGeom prst="rect">
            <a:avLst/>
          </a:prstGeom>
          <a:noFill/>
        </p:spPr>
        <p:txBody>
          <a:bodyPr wrap="square">
            <a:spAutoFit/>
          </a:bodyPr>
          <a:lstStyle/>
          <a:p>
            <a:pPr algn="l"/>
            <a:r>
              <a:rPr sz="1100">
                <a:solidFill>
                  <a:srgbClr val="1A1A2E"/>
                </a:solidFill>
              </a:rPr>
              <a:t>Result: HIGH-miss countries show consistent gains (5 of 6 positive) vs mixed results for LOW-miss.</a:t>
            </a:r>
          </a:p>
          <a:p>
            <a:pPr algn="l"/>
            <a:r>
              <a:rPr sz="1100">
                <a:solidFill>
                  <a:srgbClr val="1A1A2E"/>
                </a:solidFill>
              </a:rPr>
              <a:t>Hypothesis confirmed with OpenAI embeddings. With BERT the pattern was absent.</a:t>
            </a:r>
          </a:p>
        </p:txBody>
      </p:sp>
      <p:sp>
        <p:nvSpPr>
          <p:cNvPr id="32" name="TextBox 31"/>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548640"/>
          </a:xfrm>
          <a:prstGeom prst="rect">
            <a:avLst/>
          </a:prstGeom>
          <a:noFill/>
        </p:spPr>
        <p:txBody>
          <a:bodyPr wrap="square">
            <a:spAutoFit/>
          </a:bodyPr>
          <a:lstStyle/>
          <a:p>
            <a:pPr algn="l"/>
            <a:r>
              <a:rPr sz="2600" b="1" i="0">
                <a:solidFill>
                  <a:srgbClr val="FFFFFF"/>
                </a:solidFill>
              </a:rPr>
              <a:t>Conclusions</a:t>
            </a:r>
          </a:p>
        </p:txBody>
      </p:sp>
      <p:sp>
        <p:nvSpPr>
          <p:cNvPr id="5" name="Rectangle 4"/>
          <p:cNvSpPr/>
          <p:nvPr/>
        </p:nvSpPr>
        <p:spPr>
          <a:xfrm>
            <a:off x="365760" y="1325880"/>
            <a:ext cx="11430000" cy="11155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99032"/>
            <a:ext cx="10972800" cy="347472"/>
          </a:xfrm>
          <a:prstGeom prst="rect">
            <a:avLst/>
          </a:prstGeom>
          <a:noFill/>
        </p:spPr>
        <p:txBody>
          <a:bodyPr wrap="square">
            <a:spAutoFit/>
          </a:bodyPr>
          <a:lstStyle/>
          <a:p>
            <a:pPr algn="l"/>
            <a:r>
              <a:rPr sz="1200" b="1" i="0">
                <a:solidFill>
                  <a:srgbClr val="0A6A2E"/>
                </a:solidFill>
              </a:rPr>
              <a:t>1.  Text improves forecasts — with the right embeddings</a:t>
            </a:r>
          </a:p>
        </p:txBody>
      </p:sp>
      <p:sp>
        <p:nvSpPr>
          <p:cNvPr id="7" name="TextBox 6"/>
          <p:cNvSpPr txBox="1"/>
          <p:nvPr/>
        </p:nvSpPr>
        <p:spPr>
          <a:xfrm>
            <a:off x="502920" y="1746504"/>
            <a:ext cx="10972800" cy="640080"/>
          </a:xfrm>
          <a:prstGeom prst="rect">
            <a:avLst/>
          </a:prstGeom>
          <a:noFill/>
        </p:spPr>
        <p:txBody>
          <a:bodyPr wrap="square">
            <a:spAutoFit/>
          </a:bodyPr>
          <a:lstStyle/>
          <a:p>
            <a:pPr algn="l"/>
            <a:r>
              <a:rPr sz="1050" b="0" i="0">
                <a:solidFill>
                  <a:srgbClr val="222A3A"/>
                </a:solidFill>
              </a:rPr>
              <a:t>GR-Add MMF (OpenAI) achieves the best overall MSE (2.584), beating NumericalGRU (2.847) and DLinear (3.118). Main gain is in inflation (3.684 vs 4.228). BERT truncation limited text signal — OpenAI full-context embeddings are necessary.</a:t>
            </a:r>
          </a:p>
        </p:txBody>
      </p:sp>
      <p:sp>
        <p:nvSpPr>
          <p:cNvPr id="8" name="Rectangle 7"/>
          <p:cNvSpPr/>
          <p:nvPr/>
        </p:nvSpPr>
        <p:spPr>
          <a:xfrm>
            <a:off x="365760" y="2606039"/>
            <a:ext cx="11430000" cy="11155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679191"/>
            <a:ext cx="10972800" cy="347472"/>
          </a:xfrm>
          <a:prstGeom prst="rect">
            <a:avLst/>
          </a:prstGeom>
          <a:noFill/>
        </p:spPr>
        <p:txBody>
          <a:bodyPr wrap="square">
            <a:spAutoFit/>
          </a:bodyPr>
          <a:lstStyle/>
          <a:p>
            <a:pPr algn="l"/>
            <a:r>
              <a:rPr sz="1200" b="1" i="0">
                <a:solidFill>
                  <a:srgbClr val="0A6A2E"/>
                </a:solidFill>
              </a:rPr>
              <a:t>2.  All models beat the persistence baseline by ~98%</a:t>
            </a:r>
          </a:p>
        </p:txBody>
      </p:sp>
      <p:sp>
        <p:nvSpPr>
          <p:cNvPr id="10" name="TextBox 9"/>
          <p:cNvSpPr txBox="1"/>
          <p:nvPr/>
        </p:nvSpPr>
        <p:spPr>
          <a:xfrm>
            <a:off x="502920" y="3026663"/>
            <a:ext cx="10972800" cy="640080"/>
          </a:xfrm>
          <a:prstGeom prst="rect">
            <a:avLst/>
          </a:prstGeom>
          <a:noFill/>
        </p:spPr>
        <p:txBody>
          <a:bodyPr wrap="square">
            <a:spAutoFit/>
          </a:bodyPr>
          <a:lstStyle/>
          <a:p>
            <a:pPr algn="l"/>
            <a:r>
              <a:rPr sz="1050" b="0" i="0">
                <a:solidFill>
                  <a:srgbClr val="222A3A"/>
                </a:solidFill>
              </a:rPr>
              <a:t>Persistence (random walk) MSE = 105.44. GR-Add MSE = 2.584. This 97.6% reduction shows the WDI numerical panel is highly informative. Text adds an additional 9.2% reduction in inflation MSE on top of the numerical-only GRU.</a:t>
            </a:r>
          </a:p>
        </p:txBody>
      </p:sp>
      <p:sp>
        <p:nvSpPr>
          <p:cNvPr id="11" name="Rectangle 10"/>
          <p:cNvSpPr/>
          <p:nvPr/>
        </p:nvSpPr>
        <p:spPr>
          <a:xfrm>
            <a:off x="365760" y="3886200"/>
            <a:ext cx="11430000" cy="11155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959352"/>
            <a:ext cx="10972800" cy="347472"/>
          </a:xfrm>
          <a:prstGeom prst="rect">
            <a:avLst/>
          </a:prstGeom>
          <a:noFill/>
        </p:spPr>
        <p:txBody>
          <a:bodyPr wrap="square">
            <a:spAutoFit/>
          </a:bodyPr>
          <a:lstStyle/>
          <a:p>
            <a:pPr algn="l"/>
            <a:r>
              <a:rPr sz="1200" b="1" i="0">
                <a:solidFill>
                  <a:srgbClr val="0A6A2E"/>
                </a:solidFill>
              </a:rPr>
              <a:t>3.  Gappier countries benefit more from text</a:t>
            </a:r>
          </a:p>
        </p:txBody>
      </p:sp>
      <p:sp>
        <p:nvSpPr>
          <p:cNvPr id="13" name="TextBox 12"/>
          <p:cNvSpPr txBox="1"/>
          <p:nvPr/>
        </p:nvSpPr>
        <p:spPr>
          <a:xfrm>
            <a:off x="502920" y="4306824"/>
            <a:ext cx="10972800" cy="640080"/>
          </a:xfrm>
          <a:prstGeom prst="rect">
            <a:avLst/>
          </a:prstGeom>
          <a:noFill/>
        </p:spPr>
        <p:txBody>
          <a:bodyPr wrap="square">
            <a:spAutoFit/>
          </a:bodyPr>
          <a:lstStyle/>
          <a:p>
            <a:pPr algn="l"/>
            <a:r>
              <a:rPr sz="1050" b="0" i="0">
                <a:solidFill>
                  <a:srgbClr val="222A3A"/>
                </a:solidFill>
              </a:rPr>
              <a:t>Countries with &gt;37% missing Article IV texts (UZB, KGZ, ARM, GEO) show consistent GR-Add gains (5/6 positive). Low-missingness countries are mixed — when numerical data is dense, text provides diminishing returns.</a:t>
            </a:r>
          </a:p>
        </p:txBody>
      </p:sp>
      <p:sp>
        <p:nvSpPr>
          <p:cNvPr id="14" name="Rectangle 13"/>
          <p:cNvSpPr/>
          <p:nvPr/>
        </p:nvSpPr>
        <p:spPr>
          <a:xfrm>
            <a:off x="365760" y="5166359"/>
            <a:ext cx="11430000" cy="11155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239512"/>
            <a:ext cx="10972800" cy="347472"/>
          </a:xfrm>
          <a:prstGeom prst="rect">
            <a:avLst/>
          </a:prstGeom>
          <a:noFill/>
        </p:spPr>
        <p:txBody>
          <a:bodyPr wrap="square">
            <a:spAutoFit/>
          </a:bodyPr>
          <a:lstStyle/>
          <a:p>
            <a:pPr algn="l"/>
            <a:r>
              <a:rPr sz="1200" b="1" i="0">
                <a:solidFill>
                  <a:srgbClr val="FFCC44"/>
                </a:solidFill>
              </a:rPr>
              <a:t>4.  Dataset scale limits conclusiveness</a:t>
            </a:r>
          </a:p>
        </p:txBody>
      </p:sp>
      <p:sp>
        <p:nvSpPr>
          <p:cNvPr id="16" name="TextBox 15"/>
          <p:cNvSpPr txBox="1"/>
          <p:nvPr/>
        </p:nvSpPr>
        <p:spPr>
          <a:xfrm>
            <a:off x="502920" y="5586983"/>
            <a:ext cx="10972800" cy="640080"/>
          </a:xfrm>
          <a:prstGeom prst="rect">
            <a:avLst/>
          </a:prstGeom>
          <a:noFill/>
        </p:spPr>
        <p:txBody>
          <a:bodyPr wrap="square">
            <a:spAutoFit/>
          </a:bodyPr>
          <a:lstStyle/>
          <a:p>
            <a:pPr algn="l"/>
            <a:r>
              <a:rPr sz="1050" b="0" i="0">
                <a:solidFill>
                  <a:srgbClr val="222A3A"/>
                </a:solidFill>
              </a:rPr>
              <a:t>102 training samples, 40 test samples, 2 per country. Results are directionally meaningful but variance is high. Future work: larger coverage, domain-adapted embeddings, longer evaluation windows.</a:t>
            </a:r>
          </a:p>
        </p:txBody>
      </p:sp>
      <p:sp>
        <p:nvSpPr>
          <p:cNvPr id="17" name="TextBox 16"/>
          <p:cNvSpPr txBox="1"/>
          <p:nvPr/>
        </p:nvSpPr>
        <p:spPr>
          <a:xfrm>
            <a:off x="365760" y="6492240"/>
            <a:ext cx="11430000" cy="256032"/>
          </a:xfrm>
          <a:prstGeom prst="rect">
            <a:avLst/>
          </a:prstGeom>
          <a:noFill/>
        </p:spPr>
        <p:txBody>
          <a:bodyPr wrap="square">
            <a:spAutoFit/>
          </a:bodyPr>
          <a:lstStyle/>
          <a:p>
            <a:pPr algn="ctr"/>
            <a:r>
              <a:rPr sz="800" b="0" i="0">
                <a:solidFill>
                  <a:srgbClr val="555555"/>
                </a:solidFill>
              </a:rPr>
              <a:t>STAT 8240 Data Mining II  ·  Kennesaw State University  ·  April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