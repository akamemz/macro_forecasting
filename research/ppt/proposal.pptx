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37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01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Forecasting with IMF Text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408234"/>
            <a:ext cx="8412480" cy="987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Multimodal Time Series Forecasting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World Bank Indicators + IMF Article IV Assessments</a:t>
            </a:r>
          </a:p>
          <a:p>
            <a:pPr marL="0" indent="0" algn="l">
              <a:buNone/>
            </a:pPr>
            <a:endParaRPr lang="en-US" sz="1500" dirty="0">
              <a:solidFill>
                <a:srgbClr val="9DB4CC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5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Timur, Irfan, Nong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95728"/>
            <a:ext cx="8412480" cy="0"/>
          </a:xfrm>
          <a:prstGeom prst="line">
            <a:avLst/>
          </a:prstGeom>
          <a:noFill/>
          <a:ln w="1905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546" y="2571768"/>
            <a:ext cx="2724840" cy="2193515"/>
          </a:xfrm>
          <a:prstGeom prst="rect">
            <a:avLst/>
          </a:prstGeom>
          <a:solidFill>
            <a:srgbClr val="1E2E4A"/>
          </a:solidFill>
          <a:ln w="12700">
            <a:solidFill>
              <a:srgbClr val="1A7A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92546" y="2571768"/>
            <a:ext cx="2724840" cy="50233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4072" y="2681496"/>
            <a:ext cx="2466153" cy="318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4072" y="3047256"/>
            <a:ext cx="2466153" cy="1674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time series from developing economies are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irregularly sampled — annual GDP, quarterly inflation,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semi-annual fiscal balance — misaligned in 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riddled with reporting gaps.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7498" y="2571768"/>
            <a:ext cx="2724840" cy="2193515"/>
          </a:xfrm>
          <a:prstGeom prst="rect">
            <a:avLst/>
          </a:prstGeom>
          <a:solidFill>
            <a:srgbClr val="1E2E4A"/>
          </a:solidFill>
          <a:ln w="12700">
            <a:solidFill>
              <a:srgbClr val="1A7A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37498" y="2571768"/>
            <a:ext cx="2724840" cy="50233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9024" y="2681496"/>
            <a:ext cx="2466153" cy="318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Insight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9024" y="3047256"/>
            <a:ext cx="2466153" cy="1674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Article IV Consultations are published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asynchronously (3–8 months after reference year),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natural multimodal irregularity between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data and expert text assessments.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594" y="2571768"/>
            <a:ext cx="2724840" cy="2193515"/>
          </a:xfrm>
          <a:prstGeom prst="rect">
            <a:avLst/>
          </a:prstGeom>
          <a:solidFill>
            <a:srgbClr val="1E2E4A"/>
          </a:solidFill>
          <a:ln w="12700">
            <a:solidFill>
              <a:srgbClr val="1A7A6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91594" y="2571768"/>
            <a:ext cx="2724840" cy="50233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13120" y="2681496"/>
            <a:ext cx="2466153" cy="318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9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Question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13120" y="3047256"/>
            <a:ext cx="2466153" cy="16744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incorporating IMF assessment text improve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of GDP growth and inflation beyond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numerical macro indicators alone can achieve?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8961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— WB Macro Indicators + IMF Article IV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4251960" cy="310896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" y="1188720"/>
            <a:ext cx="42519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" y="1188720"/>
            <a:ext cx="64008" cy="13898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" y="121615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— World Bank WDI API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1752" y="1499616"/>
            <a:ext cx="4069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countries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(Central Asia, ECA, comparators)  ·  2005–2023
7 indicators: GDP growth, inflation, fiscal balance,
current account, remittances, unemployment, debt/GDP
Mixed frequency: annual / quarterly / semi-annual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" y="2651760"/>
            <a:ext cx="425196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4592" y="2651760"/>
            <a:ext cx="64008" cy="1444752"/>
          </a:xfrm>
          <a:prstGeom prst="rect">
            <a:avLst/>
          </a:prstGeom>
          <a:solidFill>
            <a:srgbClr val="C9952B"/>
          </a:solidFill>
          <a:ln w="12700">
            <a:solidFill>
              <a:srgbClr val="C995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1752" y="26791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— IMF Article IV Consultations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1752" y="2962656"/>
            <a:ext cx="4069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~250–300 PDFs  (1 report/country/year, public access)
Extract: Executive Summary + Staff Appraisal sections
Summarize: GPT-4o-mini → 5-sentence country assessment
Timestamp: IMF publication date (genuinely async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numerical data by 3–8 months)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804672"/>
            <a:ext cx="4251960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804672"/>
            <a:ext cx="4251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353312"/>
            <a:ext cx="384048" cy="384048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21808" y="1280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Pre-alignment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1808" y="1536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Mixed-frequency panel → fixed-length tensor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(timestamps + missingness mask preserved)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14884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2313432"/>
            <a:ext cx="384048" cy="384048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Encoding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21808" y="24963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BERT / GPT-2 → 768-dim embeddings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Article IV summary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273552"/>
            <a:ext cx="384048" cy="384048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21808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 Module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21808" y="34564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Recency-Weighted Averaging: Gaussian decay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recent Article IV entries more heavily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06908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846320" y="4233672"/>
            <a:ext cx="384048" cy="384048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21808" y="4160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 Module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21808" y="44165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GRU-Gated Residual Fusion (GR-Add)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text context with numerical forecast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DLinear · TimeLLM · tPatchGNN (unimodal) vs. Full Multimodal Pipeline  ·  Metric: MSE on 2022–2023 holdout  ·  Track B Application of IMM-TSF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319</Words>
  <Application>Microsoft Macintosh PowerPoint</Application>
  <PresentationFormat>On-screen Show (16:9)</PresentationFormat>
  <Paragraphs>47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Timur Abdygulov</cp:lastModifiedBy>
  <cp:revision>2</cp:revision>
  <dcterms:created xsi:type="dcterms:W3CDTF">2026-04-02T13:57:45Z</dcterms:created>
  <dcterms:modified xsi:type="dcterms:W3CDTF">2026-04-02T18:18:51Z</dcterms:modified>
</cp:coreProperties>
</file>